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4"/>
  </p:sldMasterIdLst>
  <p:notesMasterIdLst>
    <p:notesMasterId r:id="rId20"/>
  </p:notesMasterIdLst>
  <p:sldIdLst>
    <p:sldId id="2147483601" r:id="rId5"/>
    <p:sldId id="256" r:id="rId6"/>
    <p:sldId id="2147483605" r:id="rId7"/>
    <p:sldId id="2147483619" r:id="rId8"/>
    <p:sldId id="2147483628" r:id="rId9"/>
    <p:sldId id="2147483626" r:id="rId10"/>
    <p:sldId id="2147483627" r:id="rId11"/>
    <p:sldId id="2147483624" r:id="rId12"/>
    <p:sldId id="2147483607" r:id="rId13"/>
    <p:sldId id="2147483608" r:id="rId14"/>
    <p:sldId id="2147483617" r:id="rId15"/>
    <p:sldId id="2147483618" r:id="rId16"/>
    <p:sldId id="2147483609" r:id="rId17"/>
    <p:sldId id="2147483610" r:id="rId18"/>
    <p:sldId id="2147483611" r:id="rId19"/>
  </p:sldIdLst>
  <p:sldSz cx="12192000" cy="6858000"/>
  <p:notesSz cx="6858000" cy="9144000"/>
  <p:custDataLst>
    <p:tags r:id="rId2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9BA3"/>
    <a:srgbClr val="6A3BBF"/>
    <a:srgbClr val="DD3142"/>
    <a:srgbClr val="FBBB8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625" autoAdjust="0"/>
    <p:restoredTop sz="94660"/>
  </p:normalViewPr>
  <p:slideViewPr>
    <p:cSldViewPr snapToGrid="0">
      <p:cViewPr varScale="1">
        <p:scale>
          <a:sx n="152" d="100"/>
          <a:sy n="152" d="100"/>
        </p:scale>
        <p:origin x="1140" y="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tags" Target="tags/tag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20F9D4-439E-4BEF-A8BD-E2B86C94AA0D}" type="datetimeFigureOut">
              <a:rPr lang="en-US" smtClean="0"/>
              <a:t>7/24/2025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A4FCDF-CEF5-4AEE-B008-16A22A44BD66}" type="slidenum">
              <a:rPr lang="en-US" smtClean="0"/>
              <a:t>‹#›</a:t>
            </a:fld>
            <a:endParaRPr lang="en-US"/>
          </a:p>
        </p:txBody>
      </p:sp>
    </p:spTree>
    <p:extLst>
      <p:ext uri="{BB962C8B-B14F-4D97-AF65-F5344CB8AC3E}">
        <p14:creationId xmlns:p14="http://schemas.microsoft.com/office/powerpoint/2010/main" val="1716736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A4FCDF-CEF5-4AEE-B008-16A22A44BD6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587736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5EA4FCDF-CEF5-4AEE-B008-16A22A44BD66}" type="slidenum">
              <a:rPr lang="en-US" smtClean="0"/>
              <a:t>1</a:t>
            </a:fld>
            <a:endParaRPr lang="en-US"/>
          </a:p>
        </p:txBody>
      </p:sp>
    </p:spTree>
    <p:extLst>
      <p:ext uri="{BB962C8B-B14F-4D97-AF65-F5344CB8AC3E}">
        <p14:creationId xmlns:p14="http://schemas.microsoft.com/office/powerpoint/2010/main" val="33976691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5EA4FCDF-CEF5-4AEE-B008-16A22A44BD66}" type="slidenum">
              <a:rPr lang="en-US" smtClean="0"/>
              <a:t>4</a:t>
            </a:fld>
            <a:endParaRPr lang="en-US"/>
          </a:p>
        </p:txBody>
      </p:sp>
    </p:spTree>
    <p:extLst>
      <p:ext uri="{BB962C8B-B14F-4D97-AF65-F5344CB8AC3E}">
        <p14:creationId xmlns:p14="http://schemas.microsoft.com/office/powerpoint/2010/main" val="8092134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5EA4FCDF-CEF5-4AEE-B008-16A22A44BD66}" type="slidenum">
              <a:rPr lang="en-US" smtClean="0"/>
              <a:t>7</a:t>
            </a:fld>
            <a:endParaRPr lang="en-US"/>
          </a:p>
        </p:txBody>
      </p:sp>
    </p:spTree>
    <p:extLst>
      <p:ext uri="{BB962C8B-B14F-4D97-AF65-F5344CB8AC3E}">
        <p14:creationId xmlns:p14="http://schemas.microsoft.com/office/powerpoint/2010/main" val="42163720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A94B8-12AE-645A-89FA-E0263CEDC7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5EA7670-1D4D-F06A-AD68-5028519DE0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C4AEB8D-4EB2-0755-138D-BB823ABF553F}"/>
              </a:ext>
            </a:extLst>
          </p:cNvPr>
          <p:cNvSpPr>
            <a:spLocks noGrp="1"/>
          </p:cNvSpPr>
          <p:nvPr>
            <p:ph type="dt" sz="half" idx="10"/>
          </p:nvPr>
        </p:nvSpPr>
        <p:spPr/>
        <p:txBody>
          <a:bodyPr/>
          <a:lstStyle/>
          <a:p>
            <a:fld id="{2A1BCA95-A725-45A3-8A59-C5EB2ACE4190}" type="datetime1">
              <a:rPr lang="en-US" smtClean="0"/>
              <a:t>7/24/2025</a:t>
            </a:fld>
            <a:endParaRPr lang="en-US"/>
          </a:p>
        </p:txBody>
      </p:sp>
      <p:sp>
        <p:nvSpPr>
          <p:cNvPr id="5" name="Footer Placeholder 4">
            <a:extLst>
              <a:ext uri="{FF2B5EF4-FFF2-40B4-BE49-F238E27FC236}">
                <a16:creationId xmlns:a16="http://schemas.microsoft.com/office/drawing/2014/main" id="{C5C6997E-082F-48AA-30AA-5D4C7B28AB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C0E069-339B-FD81-B64D-80DE7274DEC2}"/>
              </a:ext>
            </a:extLst>
          </p:cNvPr>
          <p:cNvSpPr>
            <a:spLocks noGrp="1"/>
          </p:cNvSpPr>
          <p:nvPr>
            <p:ph type="sldNum" sz="quarter" idx="12"/>
          </p:nvPr>
        </p:nvSpPr>
        <p:spPr/>
        <p:txBody>
          <a:bodyPr/>
          <a:lstStyle/>
          <a:p>
            <a:fld id="{77C61476-8A35-4B46-AE1F-AEB8558ADE59}" type="slidenum">
              <a:rPr lang="en-US" smtClean="0"/>
              <a:t>‹#›</a:t>
            </a:fld>
            <a:endParaRPr lang="en-US"/>
          </a:p>
        </p:txBody>
      </p:sp>
      <p:sp>
        <p:nvSpPr>
          <p:cNvPr id="7" name="Slide Number Placeholder 5">
            <a:extLst>
              <a:ext uri="{FF2B5EF4-FFF2-40B4-BE49-F238E27FC236}">
                <a16:creationId xmlns:a16="http://schemas.microsoft.com/office/drawing/2014/main" id="{4EA30820-A9C0-539D-6DD0-5E2F3CAB196F}"/>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7C61476-8A35-4B46-AE1F-AEB8558ADE59}" type="slidenum">
              <a:rPr lang="en-US" smtClean="0"/>
              <a:pPr/>
              <a:t>‹#›</a:t>
            </a:fld>
            <a:endParaRPr lang="en-US" dirty="0"/>
          </a:p>
        </p:txBody>
      </p:sp>
    </p:spTree>
    <p:extLst>
      <p:ext uri="{BB962C8B-B14F-4D97-AF65-F5344CB8AC3E}">
        <p14:creationId xmlns:p14="http://schemas.microsoft.com/office/powerpoint/2010/main" val="2319186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399AC-9BF4-764F-C239-C5ED8801B7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1C9D32-7D0F-473F-9C76-B45DE3AA191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1D1A05-9D69-4B39-6476-6AE3A5B66CE3}"/>
              </a:ext>
            </a:extLst>
          </p:cNvPr>
          <p:cNvSpPr>
            <a:spLocks noGrp="1"/>
          </p:cNvSpPr>
          <p:nvPr>
            <p:ph type="dt" sz="half" idx="10"/>
          </p:nvPr>
        </p:nvSpPr>
        <p:spPr/>
        <p:txBody>
          <a:bodyPr/>
          <a:lstStyle/>
          <a:p>
            <a:fld id="{5C2A350D-882E-42CD-85A9-AD24AEACB7C8}" type="datetime1">
              <a:rPr lang="en-US" smtClean="0"/>
              <a:t>7/24/2025</a:t>
            </a:fld>
            <a:endParaRPr lang="en-US"/>
          </a:p>
        </p:txBody>
      </p:sp>
      <p:sp>
        <p:nvSpPr>
          <p:cNvPr id="5" name="Footer Placeholder 4">
            <a:extLst>
              <a:ext uri="{FF2B5EF4-FFF2-40B4-BE49-F238E27FC236}">
                <a16:creationId xmlns:a16="http://schemas.microsoft.com/office/drawing/2014/main" id="{DCA8A02F-2395-D1AF-53DE-C34BA06573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272AB5-5193-C25A-5BCD-085AD0153847}"/>
              </a:ext>
            </a:extLst>
          </p:cNvPr>
          <p:cNvSpPr>
            <a:spLocks noGrp="1"/>
          </p:cNvSpPr>
          <p:nvPr>
            <p:ph type="sldNum" sz="quarter" idx="12"/>
          </p:nvPr>
        </p:nvSpPr>
        <p:spPr/>
        <p:txBody>
          <a:bodyPr/>
          <a:lstStyle/>
          <a:p>
            <a:fld id="{77C61476-8A35-4B46-AE1F-AEB8558ADE59}" type="slidenum">
              <a:rPr lang="en-US" smtClean="0"/>
              <a:t>‹#›</a:t>
            </a:fld>
            <a:endParaRPr lang="en-US"/>
          </a:p>
        </p:txBody>
      </p:sp>
    </p:spTree>
    <p:extLst>
      <p:ext uri="{BB962C8B-B14F-4D97-AF65-F5344CB8AC3E}">
        <p14:creationId xmlns:p14="http://schemas.microsoft.com/office/powerpoint/2010/main" val="21088797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2597C-8568-FC84-4683-98B63C78BAD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A9F7D3-D0CA-C6D3-0480-B2ABD91770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9CA969B-3E38-15FA-ACB6-053A7F988547}"/>
              </a:ext>
            </a:extLst>
          </p:cNvPr>
          <p:cNvSpPr>
            <a:spLocks noGrp="1"/>
          </p:cNvSpPr>
          <p:nvPr>
            <p:ph type="dt" sz="half" idx="10"/>
          </p:nvPr>
        </p:nvSpPr>
        <p:spPr/>
        <p:txBody>
          <a:bodyPr/>
          <a:lstStyle/>
          <a:p>
            <a:fld id="{1B78BFAE-1A2F-47D9-9C17-87FD50B5056F}" type="datetime1">
              <a:rPr lang="en-US" smtClean="0"/>
              <a:t>7/24/2025</a:t>
            </a:fld>
            <a:endParaRPr lang="en-US"/>
          </a:p>
        </p:txBody>
      </p:sp>
      <p:sp>
        <p:nvSpPr>
          <p:cNvPr id="5" name="Footer Placeholder 4">
            <a:extLst>
              <a:ext uri="{FF2B5EF4-FFF2-40B4-BE49-F238E27FC236}">
                <a16:creationId xmlns:a16="http://schemas.microsoft.com/office/drawing/2014/main" id="{3176E31D-376E-CB8C-459D-ED534852D0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725F67-5E4D-4C68-533C-DEA7E4887E0C}"/>
              </a:ext>
            </a:extLst>
          </p:cNvPr>
          <p:cNvSpPr>
            <a:spLocks noGrp="1"/>
          </p:cNvSpPr>
          <p:nvPr>
            <p:ph type="sldNum" sz="quarter" idx="12"/>
          </p:nvPr>
        </p:nvSpPr>
        <p:spPr/>
        <p:txBody>
          <a:bodyPr/>
          <a:lstStyle/>
          <a:p>
            <a:fld id="{77C61476-8A35-4B46-AE1F-AEB8558ADE59}" type="slidenum">
              <a:rPr lang="en-US" smtClean="0"/>
              <a:t>‹#›</a:t>
            </a:fld>
            <a:endParaRPr lang="en-US"/>
          </a:p>
        </p:txBody>
      </p:sp>
    </p:spTree>
    <p:extLst>
      <p:ext uri="{BB962C8B-B14F-4D97-AF65-F5344CB8AC3E}">
        <p14:creationId xmlns:p14="http://schemas.microsoft.com/office/powerpoint/2010/main" val="3183742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8651A-80D0-354C-5361-19FC507425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CB517A1-5B9B-2B17-6039-1E3B4B8EB2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27FE9E3-284D-1E27-616C-119B22FF4D2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A82014-8D75-A12D-AC12-3D61D8E8389D}"/>
              </a:ext>
            </a:extLst>
          </p:cNvPr>
          <p:cNvSpPr>
            <a:spLocks noGrp="1"/>
          </p:cNvSpPr>
          <p:nvPr>
            <p:ph type="dt" sz="half" idx="10"/>
          </p:nvPr>
        </p:nvSpPr>
        <p:spPr/>
        <p:txBody>
          <a:bodyPr/>
          <a:lstStyle/>
          <a:p>
            <a:fld id="{9E9E0D48-E706-419A-A519-7924B16C9238}" type="datetime1">
              <a:rPr lang="en-US" smtClean="0"/>
              <a:t>7/24/2025</a:t>
            </a:fld>
            <a:endParaRPr lang="en-US"/>
          </a:p>
        </p:txBody>
      </p:sp>
      <p:sp>
        <p:nvSpPr>
          <p:cNvPr id="6" name="Footer Placeholder 5">
            <a:extLst>
              <a:ext uri="{FF2B5EF4-FFF2-40B4-BE49-F238E27FC236}">
                <a16:creationId xmlns:a16="http://schemas.microsoft.com/office/drawing/2014/main" id="{D1CE4E3A-BCF3-ECB2-379D-570719E8AD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1343FC-AD45-DE8C-0343-4F23D7A3C430}"/>
              </a:ext>
            </a:extLst>
          </p:cNvPr>
          <p:cNvSpPr>
            <a:spLocks noGrp="1"/>
          </p:cNvSpPr>
          <p:nvPr>
            <p:ph type="sldNum" sz="quarter" idx="12"/>
          </p:nvPr>
        </p:nvSpPr>
        <p:spPr/>
        <p:txBody>
          <a:bodyPr/>
          <a:lstStyle/>
          <a:p>
            <a:fld id="{77C61476-8A35-4B46-AE1F-AEB8558ADE59}" type="slidenum">
              <a:rPr lang="en-US" smtClean="0"/>
              <a:t>‹#›</a:t>
            </a:fld>
            <a:endParaRPr lang="en-US"/>
          </a:p>
        </p:txBody>
      </p:sp>
    </p:spTree>
    <p:extLst>
      <p:ext uri="{BB962C8B-B14F-4D97-AF65-F5344CB8AC3E}">
        <p14:creationId xmlns:p14="http://schemas.microsoft.com/office/powerpoint/2010/main" val="9234984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7B9F6-FBA1-DBEF-3728-095B53F47BB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1A1A37E-D98A-EA7C-44B1-91AD0CB850E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D6E8FA-E13E-C47C-0EEA-1785CAEB5C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8643617-048E-B50F-79A6-9023997629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76F200-AF6A-A773-53D3-B8F56D278BF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2BFBB50-7152-0EB5-1614-86D61F9B0473}"/>
              </a:ext>
            </a:extLst>
          </p:cNvPr>
          <p:cNvSpPr>
            <a:spLocks noGrp="1"/>
          </p:cNvSpPr>
          <p:nvPr>
            <p:ph type="dt" sz="half" idx="10"/>
          </p:nvPr>
        </p:nvSpPr>
        <p:spPr/>
        <p:txBody>
          <a:bodyPr/>
          <a:lstStyle/>
          <a:p>
            <a:fld id="{DC099D67-BB9C-4333-8B6A-BDE876090073}" type="datetime1">
              <a:rPr lang="en-US" smtClean="0"/>
              <a:t>7/24/2025</a:t>
            </a:fld>
            <a:endParaRPr lang="en-US"/>
          </a:p>
        </p:txBody>
      </p:sp>
      <p:sp>
        <p:nvSpPr>
          <p:cNvPr id="8" name="Footer Placeholder 7">
            <a:extLst>
              <a:ext uri="{FF2B5EF4-FFF2-40B4-BE49-F238E27FC236}">
                <a16:creationId xmlns:a16="http://schemas.microsoft.com/office/drawing/2014/main" id="{6E85EA43-EC78-F07C-BC70-B32527238F7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BF6885F-BD48-9AB4-256E-EA8E3A59888B}"/>
              </a:ext>
            </a:extLst>
          </p:cNvPr>
          <p:cNvSpPr>
            <a:spLocks noGrp="1"/>
          </p:cNvSpPr>
          <p:nvPr>
            <p:ph type="sldNum" sz="quarter" idx="12"/>
          </p:nvPr>
        </p:nvSpPr>
        <p:spPr/>
        <p:txBody>
          <a:bodyPr/>
          <a:lstStyle/>
          <a:p>
            <a:fld id="{77C61476-8A35-4B46-AE1F-AEB8558ADE59}" type="slidenum">
              <a:rPr lang="en-US" smtClean="0"/>
              <a:t>‹#›</a:t>
            </a:fld>
            <a:endParaRPr lang="en-US"/>
          </a:p>
        </p:txBody>
      </p:sp>
    </p:spTree>
    <p:extLst>
      <p:ext uri="{BB962C8B-B14F-4D97-AF65-F5344CB8AC3E}">
        <p14:creationId xmlns:p14="http://schemas.microsoft.com/office/powerpoint/2010/main" val="2421810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05C0F-727D-81A1-8AFB-B0C38B44768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D26C14B-8CD7-A0D4-52F2-82CEB289F2BD}"/>
              </a:ext>
            </a:extLst>
          </p:cNvPr>
          <p:cNvSpPr>
            <a:spLocks noGrp="1"/>
          </p:cNvSpPr>
          <p:nvPr>
            <p:ph type="dt" sz="half" idx="10"/>
          </p:nvPr>
        </p:nvSpPr>
        <p:spPr/>
        <p:txBody>
          <a:bodyPr/>
          <a:lstStyle/>
          <a:p>
            <a:fld id="{07F2FE8D-8061-4EE5-A268-02A5F62427C6}" type="datetime1">
              <a:rPr lang="en-US" smtClean="0"/>
              <a:t>7/24/2025</a:t>
            </a:fld>
            <a:endParaRPr lang="en-US"/>
          </a:p>
        </p:txBody>
      </p:sp>
      <p:sp>
        <p:nvSpPr>
          <p:cNvPr id="4" name="Footer Placeholder 3">
            <a:extLst>
              <a:ext uri="{FF2B5EF4-FFF2-40B4-BE49-F238E27FC236}">
                <a16:creationId xmlns:a16="http://schemas.microsoft.com/office/drawing/2014/main" id="{0285AFA7-1B97-E96C-2C20-500BCA79616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4FF574D-F568-102B-80C1-09505E6FAE62}"/>
              </a:ext>
            </a:extLst>
          </p:cNvPr>
          <p:cNvSpPr>
            <a:spLocks noGrp="1"/>
          </p:cNvSpPr>
          <p:nvPr>
            <p:ph type="sldNum" sz="quarter" idx="12"/>
          </p:nvPr>
        </p:nvSpPr>
        <p:spPr/>
        <p:txBody>
          <a:bodyPr/>
          <a:lstStyle/>
          <a:p>
            <a:fld id="{77C61476-8A35-4B46-AE1F-AEB8558ADE59}" type="slidenum">
              <a:rPr lang="en-US" smtClean="0"/>
              <a:t>‹#›</a:t>
            </a:fld>
            <a:endParaRPr lang="en-US"/>
          </a:p>
        </p:txBody>
      </p:sp>
      <p:sp>
        <p:nvSpPr>
          <p:cNvPr id="6" name="Slide Number Placeholder 5">
            <a:extLst>
              <a:ext uri="{FF2B5EF4-FFF2-40B4-BE49-F238E27FC236}">
                <a16:creationId xmlns:a16="http://schemas.microsoft.com/office/drawing/2014/main" id="{041B7DD8-4078-83DE-8166-643540C22036}"/>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7C61476-8A35-4B46-AE1F-AEB8558ADE59}" type="slidenum">
              <a:rPr lang="en-US" smtClean="0"/>
              <a:pPr/>
              <a:t>‹#›</a:t>
            </a:fld>
            <a:endParaRPr lang="en-US"/>
          </a:p>
        </p:txBody>
      </p:sp>
    </p:spTree>
    <p:extLst>
      <p:ext uri="{BB962C8B-B14F-4D97-AF65-F5344CB8AC3E}">
        <p14:creationId xmlns:p14="http://schemas.microsoft.com/office/powerpoint/2010/main" val="1565143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462CC2-85FD-C2D2-A95A-863BA34125CF}"/>
              </a:ext>
            </a:extLst>
          </p:cNvPr>
          <p:cNvSpPr>
            <a:spLocks noGrp="1"/>
          </p:cNvSpPr>
          <p:nvPr>
            <p:ph type="dt" sz="half" idx="10"/>
          </p:nvPr>
        </p:nvSpPr>
        <p:spPr/>
        <p:txBody>
          <a:bodyPr/>
          <a:lstStyle/>
          <a:p>
            <a:fld id="{F6982632-FF31-401F-94FA-5D79BCDF4A57}" type="datetime1">
              <a:rPr lang="en-US" smtClean="0"/>
              <a:t>7/24/2025</a:t>
            </a:fld>
            <a:endParaRPr lang="en-US"/>
          </a:p>
        </p:txBody>
      </p:sp>
      <p:sp>
        <p:nvSpPr>
          <p:cNvPr id="3" name="Footer Placeholder 2">
            <a:extLst>
              <a:ext uri="{FF2B5EF4-FFF2-40B4-BE49-F238E27FC236}">
                <a16:creationId xmlns:a16="http://schemas.microsoft.com/office/drawing/2014/main" id="{A322D0CC-BA75-B511-A3ED-73FBC14F2F1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85C718D-CFAC-2938-5A7E-4022F412E199}"/>
              </a:ext>
            </a:extLst>
          </p:cNvPr>
          <p:cNvSpPr>
            <a:spLocks noGrp="1"/>
          </p:cNvSpPr>
          <p:nvPr>
            <p:ph type="sldNum" sz="quarter" idx="12"/>
          </p:nvPr>
        </p:nvSpPr>
        <p:spPr/>
        <p:txBody>
          <a:bodyPr/>
          <a:lstStyle/>
          <a:p>
            <a:fld id="{77C61476-8A35-4B46-AE1F-AEB8558ADE59}" type="slidenum">
              <a:rPr lang="en-US" smtClean="0"/>
              <a:t>‹#›</a:t>
            </a:fld>
            <a:endParaRPr lang="en-US"/>
          </a:p>
        </p:txBody>
      </p:sp>
    </p:spTree>
    <p:extLst>
      <p:ext uri="{BB962C8B-B14F-4D97-AF65-F5344CB8AC3E}">
        <p14:creationId xmlns:p14="http://schemas.microsoft.com/office/powerpoint/2010/main" val="1152848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3C644-8B6A-6D11-6356-4409A54209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597C4D7-48AC-9CE2-AF88-31745BF34F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C3AE2F4-E74B-84A5-9DBC-11AA7E73CA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903E91-09BB-DAA2-CF82-20C4005F9BF2}"/>
              </a:ext>
            </a:extLst>
          </p:cNvPr>
          <p:cNvSpPr>
            <a:spLocks noGrp="1"/>
          </p:cNvSpPr>
          <p:nvPr>
            <p:ph type="dt" sz="half" idx="10"/>
          </p:nvPr>
        </p:nvSpPr>
        <p:spPr/>
        <p:txBody>
          <a:bodyPr/>
          <a:lstStyle/>
          <a:p>
            <a:fld id="{4FA441B7-E7A2-4892-A292-DE1A9C44F178}" type="datetime1">
              <a:rPr lang="en-US" smtClean="0"/>
              <a:t>7/24/2025</a:t>
            </a:fld>
            <a:endParaRPr lang="en-US"/>
          </a:p>
        </p:txBody>
      </p:sp>
      <p:sp>
        <p:nvSpPr>
          <p:cNvPr id="6" name="Footer Placeholder 5">
            <a:extLst>
              <a:ext uri="{FF2B5EF4-FFF2-40B4-BE49-F238E27FC236}">
                <a16:creationId xmlns:a16="http://schemas.microsoft.com/office/drawing/2014/main" id="{F66BB749-E236-4C76-1590-9918317C9D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6A1ACA-3040-71D7-F69E-453FD5B11176}"/>
              </a:ext>
            </a:extLst>
          </p:cNvPr>
          <p:cNvSpPr>
            <a:spLocks noGrp="1"/>
          </p:cNvSpPr>
          <p:nvPr>
            <p:ph type="sldNum" sz="quarter" idx="12"/>
          </p:nvPr>
        </p:nvSpPr>
        <p:spPr/>
        <p:txBody>
          <a:bodyPr/>
          <a:lstStyle/>
          <a:p>
            <a:fld id="{77C61476-8A35-4B46-AE1F-AEB8558ADE59}" type="slidenum">
              <a:rPr lang="en-US" smtClean="0"/>
              <a:t>‹#›</a:t>
            </a:fld>
            <a:endParaRPr lang="en-US"/>
          </a:p>
        </p:txBody>
      </p:sp>
    </p:spTree>
    <p:extLst>
      <p:ext uri="{BB962C8B-B14F-4D97-AF65-F5344CB8AC3E}">
        <p14:creationId xmlns:p14="http://schemas.microsoft.com/office/powerpoint/2010/main" val="2595632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F9492-15B5-9EAA-B8BC-91F88E8213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D23D829-C291-3088-DA60-EA5DCEF689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C52CE6F-C40A-6F3C-80C3-1FB56F3DCC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989A48-1FB6-A0BE-E496-4A7C27978D62}"/>
              </a:ext>
            </a:extLst>
          </p:cNvPr>
          <p:cNvSpPr>
            <a:spLocks noGrp="1"/>
          </p:cNvSpPr>
          <p:nvPr>
            <p:ph type="dt" sz="half" idx="10"/>
          </p:nvPr>
        </p:nvSpPr>
        <p:spPr/>
        <p:txBody>
          <a:bodyPr/>
          <a:lstStyle/>
          <a:p>
            <a:fld id="{83A90DBA-C13B-4AEC-9BB6-9CD4D1665ED9}" type="datetime1">
              <a:rPr lang="en-US" smtClean="0"/>
              <a:t>7/24/2025</a:t>
            </a:fld>
            <a:endParaRPr lang="en-US"/>
          </a:p>
        </p:txBody>
      </p:sp>
      <p:sp>
        <p:nvSpPr>
          <p:cNvPr id="6" name="Footer Placeholder 5">
            <a:extLst>
              <a:ext uri="{FF2B5EF4-FFF2-40B4-BE49-F238E27FC236}">
                <a16:creationId xmlns:a16="http://schemas.microsoft.com/office/drawing/2014/main" id="{CE5148DC-923E-290C-433D-292F8AA4F8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AE92D2-2848-D269-37A5-04881FFC4CAA}"/>
              </a:ext>
            </a:extLst>
          </p:cNvPr>
          <p:cNvSpPr>
            <a:spLocks noGrp="1"/>
          </p:cNvSpPr>
          <p:nvPr>
            <p:ph type="sldNum" sz="quarter" idx="12"/>
          </p:nvPr>
        </p:nvSpPr>
        <p:spPr/>
        <p:txBody>
          <a:bodyPr/>
          <a:lstStyle/>
          <a:p>
            <a:fld id="{77C61476-8A35-4B46-AE1F-AEB8558ADE59}" type="slidenum">
              <a:rPr lang="en-US" smtClean="0"/>
              <a:t>‹#›</a:t>
            </a:fld>
            <a:endParaRPr lang="en-US"/>
          </a:p>
        </p:txBody>
      </p:sp>
    </p:spTree>
    <p:extLst>
      <p:ext uri="{BB962C8B-B14F-4D97-AF65-F5344CB8AC3E}">
        <p14:creationId xmlns:p14="http://schemas.microsoft.com/office/powerpoint/2010/main" val="22126373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38D0F-0ECC-8869-EF72-D88C2A00FFA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004568A-7ED1-8930-73BE-A67E4B8E271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A172D5-52C0-54CF-2430-E1AA1878D701}"/>
              </a:ext>
            </a:extLst>
          </p:cNvPr>
          <p:cNvSpPr>
            <a:spLocks noGrp="1"/>
          </p:cNvSpPr>
          <p:nvPr>
            <p:ph type="dt" sz="half" idx="10"/>
          </p:nvPr>
        </p:nvSpPr>
        <p:spPr/>
        <p:txBody>
          <a:bodyPr/>
          <a:lstStyle/>
          <a:p>
            <a:fld id="{88210D2C-780D-4661-B5F6-7E20BD6F252D}" type="datetime1">
              <a:rPr lang="en-US" smtClean="0"/>
              <a:t>7/24/2025</a:t>
            </a:fld>
            <a:endParaRPr lang="en-US"/>
          </a:p>
        </p:txBody>
      </p:sp>
      <p:sp>
        <p:nvSpPr>
          <p:cNvPr id="5" name="Footer Placeholder 4">
            <a:extLst>
              <a:ext uri="{FF2B5EF4-FFF2-40B4-BE49-F238E27FC236}">
                <a16:creationId xmlns:a16="http://schemas.microsoft.com/office/drawing/2014/main" id="{CEFCDEB7-8EC8-1E34-42AA-63FCD6B81F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4F0EEF-114F-C8CD-09DB-BCDFDBD04656}"/>
              </a:ext>
            </a:extLst>
          </p:cNvPr>
          <p:cNvSpPr>
            <a:spLocks noGrp="1"/>
          </p:cNvSpPr>
          <p:nvPr>
            <p:ph type="sldNum" sz="quarter" idx="12"/>
          </p:nvPr>
        </p:nvSpPr>
        <p:spPr/>
        <p:txBody>
          <a:bodyPr/>
          <a:lstStyle/>
          <a:p>
            <a:fld id="{77C61476-8A35-4B46-AE1F-AEB8558ADE59}" type="slidenum">
              <a:rPr lang="en-US" smtClean="0"/>
              <a:t>‹#›</a:t>
            </a:fld>
            <a:endParaRPr lang="en-US"/>
          </a:p>
        </p:txBody>
      </p:sp>
    </p:spTree>
    <p:extLst>
      <p:ext uri="{BB962C8B-B14F-4D97-AF65-F5344CB8AC3E}">
        <p14:creationId xmlns:p14="http://schemas.microsoft.com/office/powerpoint/2010/main" val="14795452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32AC91-0B27-97AC-97C3-A8E2B07D9E4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693D8EE-8479-DC9A-5B04-D878A0DEC4A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59435B-AED9-0EDC-F455-FF43282248AA}"/>
              </a:ext>
            </a:extLst>
          </p:cNvPr>
          <p:cNvSpPr>
            <a:spLocks noGrp="1"/>
          </p:cNvSpPr>
          <p:nvPr>
            <p:ph type="dt" sz="half" idx="10"/>
          </p:nvPr>
        </p:nvSpPr>
        <p:spPr/>
        <p:txBody>
          <a:bodyPr/>
          <a:lstStyle/>
          <a:p>
            <a:fld id="{F71AA684-D3F7-474C-88B9-884ABA63826F}" type="datetime1">
              <a:rPr lang="en-US" smtClean="0"/>
              <a:t>7/24/2025</a:t>
            </a:fld>
            <a:endParaRPr lang="en-US"/>
          </a:p>
        </p:txBody>
      </p:sp>
      <p:sp>
        <p:nvSpPr>
          <p:cNvPr id="5" name="Footer Placeholder 4">
            <a:extLst>
              <a:ext uri="{FF2B5EF4-FFF2-40B4-BE49-F238E27FC236}">
                <a16:creationId xmlns:a16="http://schemas.microsoft.com/office/drawing/2014/main" id="{F57E13DA-AF12-B4AF-49EB-DFF4A1BD8E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A6A0DF-96FB-377D-5095-D7725B5FAE30}"/>
              </a:ext>
            </a:extLst>
          </p:cNvPr>
          <p:cNvSpPr>
            <a:spLocks noGrp="1"/>
          </p:cNvSpPr>
          <p:nvPr>
            <p:ph type="sldNum" sz="quarter" idx="12"/>
          </p:nvPr>
        </p:nvSpPr>
        <p:spPr/>
        <p:txBody>
          <a:bodyPr/>
          <a:lstStyle/>
          <a:p>
            <a:fld id="{77C61476-8A35-4B46-AE1F-AEB8558ADE59}" type="slidenum">
              <a:rPr lang="en-US" smtClean="0"/>
              <a:t>‹#›</a:t>
            </a:fld>
            <a:endParaRPr lang="en-US"/>
          </a:p>
        </p:txBody>
      </p:sp>
    </p:spTree>
    <p:extLst>
      <p:ext uri="{BB962C8B-B14F-4D97-AF65-F5344CB8AC3E}">
        <p14:creationId xmlns:p14="http://schemas.microsoft.com/office/powerpoint/2010/main" val="42382669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61BE13FE-9677-53AB-3CAA-CD48B9FC1B43}"/>
              </a:ext>
            </a:extLst>
          </p:cNvPr>
          <p:cNvGraphicFramePr>
            <a:graphicFrameLocks noChangeAspect="1"/>
          </p:cNvGraphicFramePr>
          <p:nvPr userDrawn="1">
            <p:custDataLst>
              <p:tags r:id="rId13"/>
            </p:custDataLst>
            <p:extLst>
              <p:ext uri="{D42A27DB-BD31-4B8C-83A1-F6EECF244321}">
                <p14:modId xmlns:p14="http://schemas.microsoft.com/office/powerpoint/2010/main" val="39169902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14" imgW="406" imgH="403" progId="TCLayout.ActiveDocument.1">
                  <p:embed/>
                </p:oleObj>
              </mc:Choice>
              <mc:Fallback>
                <p:oleObj name="think-cellスライド" r:id="rId14" imgW="406" imgH="403" progId="TCLayout.ActiveDocument.1">
                  <p:embed/>
                  <p:pic>
                    <p:nvPicPr>
                      <p:cNvPr id="8" name="think-cell data - do not delete" hidden="1">
                        <a:extLst>
                          <a:ext uri="{FF2B5EF4-FFF2-40B4-BE49-F238E27FC236}">
                            <a16:creationId xmlns:a16="http://schemas.microsoft.com/office/drawing/2014/main" id="{61BE13FE-9677-53AB-3CAA-CD48B9FC1B43}"/>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77A71918-325D-B5C5-FA85-0B291ADA5C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8408347-A029-9842-5974-18ADCB37C5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6B3801-A60C-9793-9C96-B6D89A42FA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ABF66C0-D93D-4971-86EB-C898814296BC}" type="datetime1">
              <a:rPr lang="en-US" smtClean="0"/>
              <a:t>7/24/2025</a:t>
            </a:fld>
            <a:endParaRPr lang="en-US"/>
          </a:p>
        </p:txBody>
      </p:sp>
      <p:sp>
        <p:nvSpPr>
          <p:cNvPr id="5" name="Footer Placeholder 4">
            <a:extLst>
              <a:ext uri="{FF2B5EF4-FFF2-40B4-BE49-F238E27FC236}">
                <a16:creationId xmlns:a16="http://schemas.microsoft.com/office/drawing/2014/main" id="{38972559-03DD-E02B-AE63-09CF4A4DBE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0644CE5-6F7E-2C58-89C7-E6B94BA859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7C61476-8A35-4B46-AE1F-AEB8558ADE59}" type="slidenum">
              <a:rPr lang="en-US" smtClean="0"/>
              <a:t>‹#›</a:t>
            </a:fld>
            <a:endParaRPr lang="en-US"/>
          </a:p>
        </p:txBody>
      </p:sp>
    </p:spTree>
    <p:extLst>
      <p:ext uri="{BB962C8B-B14F-4D97-AF65-F5344CB8AC3E}">
        <p14:creationId xmlns:p14="http://schemas.microsoft.com/office/powerpoint/2010/main" val="6904289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3.xml"/><Relationship Id="rId5" Type="http://schemas.openxmlformats.org/officeDocument/2006/relationships/image" Target="../media/image2.emf"/><Relationship Id="rId4" Type="http://schemas.openxmlformats.org/officeDocument/2006/relationships/oleObject" Target="../embeddings/oleObject2.bin"/></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6.xml"/><Relationship Id="rId1" Type="http://schemas.openxmlformats.org/officeDocument/2006/relationships/tags" Target="../tags/tag4.xml"/><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6.xml"/><Relationship Id="rId1" Type="http://schemas.openxmlformats.org/officeDocument/2006/relationships/tags" Target="../tags/tag5.xml"/><Relationship Id="rId4" Type="http://schemas.openxmlformats.org/officeDocument/2006/relationships/image" Target="../media/image2.emf"/></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6.xml"/><Relationship Id="rId1" Type="http://schemas.openxmlformats.org/officeDocument/2006/relationships/tags" Target="../tags/tag6.xml"/><Relationship Id="rId4" Type="http://schemas.openxmlformats.org/officeDocument/2006/relationships/image" Target="../media/image2.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6.xml"/><Relationship Id="rId1" Type="http://schemas.openxmlformats.org/officeDocument/2006/relationships/tags" Target="../tags/tag7.xml"/><Relationship Id="rId4" Type="http://schemas.openxmlformats.org/officeDocument/2006/relationships/image" Target="../media/image2.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6.xml"/><Relationship Id="rId1" Type="http://schemas.openxmlformats.org/officeDocument/2006/relationships/tags" Target="../tags/tag8.xml"/><Relationship Id="rId4" Type="http://schemas.openxmlformats.org/officeDocument/2006/relationships/image" Target="../media/image2.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6.xml"/><Relationship Id="rId1" Type="http://schemas.openxmlformats.org/officeDocument/2006/relationships/tags" Target="../tags/tag9.xml"/><Relationship Id="rId4" Type="http://schemas.openxmlformats.org/officeDocument/2006/relationships/image" Target="../media/image2.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6.xml"/><Relationship Id="rId1" Type="http://schemas.openxmlformats.org/officeDocument/2006/relationships/tags" Target="../tags/tag10.xml"/><Relationship Id="rId4" Type="http://schemas.openxmlformats.org/officeDocument/2006/relationships/image" Target="../media/image2.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6.xml"/><Relationship Id="rId1" Type="http://schemas.openxmlformats.org/officeDocument/2006/relationships/tags" Target="../tags/tag11.xml"/><Relationship Id="rId4" Type="http://schemas.openxmlformats.org/officeDocument/2006/relationships/image" Target="../media/image2.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6.xml"/><Relationship Id="rId1" Type="http://schemas.openxmlformats.org/officeDocument/2006/relationships/tags" Target="../tags/tag12.xml"/><Relationship Id="rId4" Type="http://schemas.openxmlformats.org/officeDocument/2006/relationships/image" Target="../media/image2.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C37C6F31-A8D5-C81E-A0FD-761BA2D82BD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404" imgH="405" progId="TCLayout.ActiveDocument.1">
                  <p:embed/>
                </p:oleObj>
              </mc:Choice>
              <mc:Fallback>
                <p:oleObj name="think-cellスライド" r:id="rId4" imgW="404" imgH="405" progId="TCLayout.ActiveDocument.1">
                  <p:embed/>
                  <p:pic>
                    <p:nvPicPr>
                      <p:cNvPr id="7" name="think-cell data - do not delete" hidden="1">
                        <a:extLst>
                          <a:ext uri="{FF2B5EF4-FFF2-40B4-BE49-F238E27FC236}">
                            <a16:creationId xmlns:a16="http://schemas.microsoft.com/office/drawing/2014/main" id="{C37C6F31-A8D5-C81E-A0FD-761BA2D82BD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タイトル 2">
            <a:extLst>
              <a:ext uri="{FF2B5EF4-FFF2-40B4-BE49-F238E27FC236}">
                <a16:creationId xmlns:a16="http://schemas.microsoft.com/office/drawing/2014/main" id="{06F90E71-A26C-BDBD-7A57-3357162A4FE0}"/>
              </a:ext>
            </a:extLst>
          </p:cNvPr>
          <p:cNvSpPr>
            <a:spLocks noGrp="1"/>
          </p:cNvSpPr>
          <p:nvPr>
            <p:ph type="ctrTitle"/>
          </p:nvPr>
        </p:nvSpPr>
        <p:spPr>
          <a:xfrm>
            <a:off x="1524000" y="0"/>
            <a:ext cx="9144000" cy="2114986"/>
          </a:xfrm>
        </p:spPr>
        <p:txBody>
          <a:bodyPr vert="horz"/>
          <a:lstStyle/>
          <a:p>
            <a:r>
              <a:rPr lang="en-US" altLang="ja-JP" dirty="0">
                <a:latin typeface="Trebuchet MS" panose="020B0603020202020204" pitchFamily="34" charset="0"/>
                <a:ea typeface="Meiryo UI" panose="020B0604030504040204" pitchFamily="50" charset="-128"/>
              </a:rPr>
              <a:t>NEDO</a:t>
            </a:r>
            <a:r>
              <a:rPr lang="ja-JP" altLang="en-US" dirty="0">
                <a:latin typeface="Trebuchet MS" panose="020B0603020202020204" pitchFamily="34" charset="0"/>
                <a:ea typeface="Meiryo UI" panose="020B0604030504040204" pitchFamily="50" charset="-128"/>
              </a:rPr>
              <a:t>懸賞金活用型</a:t>
            </a:r>
            <a:br>
              <a:rPr lang="en-US" altLang="ja-JP" dirty="0">
                <a:latin typeface="Trebuchet MS" panose="020B0603020202020204" pitchFamily="34" charset="0"/>
                <a:ea typeface="Meiryo UI" panose="020B0604030504040204" pitchFamily="50" charset="-128"/>
              </a:rPr>
            </a:br>
            <a:r>
              <a:rPr lang="ja-JP" altLang="en-US" dirty="0">
                <a:latin typeface="Trebuchet MS" panose="020B0603020202020204" pitchFamily="34" charset="0"/>
                <a:ea typeface="Meiryo UI" panose="020B0604030504040204" pitchFamily="50" charset="-128"/>
              </a:rPr>
              <a:t>プログラム</a:t>
            </a:r>
            <a:r>
              <a:rPr lang="en-US" altLang="ja-JP" dirty="0">
                <a:latin typeface="Trebuchet MS" panose="020B0603020202020204" pitchFamily="34" charset="0"/>
                <a:ea typeface="Meiryo UI" panose="020B0604030504040204" pitchFamily="50" charset="-128"/>
              </a:rPr>
              <a:t>/GENIAC-PRIZE</a:t>
            </a:r>
            <a:endParaRPr lang="en-US" dirty="0">
              <a:latin typeface="Trebuchet MS" panose="020B0603020202020204" pitchFamily="34" charset="0"/>
              <a:ea typeface="Meiryo UI" panose="020B0604030504040204" pitchFamily="50" charset="-128"/>
            </a:endParaRPr>
          </a:p>
        </p:txBody>
      </p:sp>
      <p:sp>
        <p:nvSpPr>
          <p:cNvPr id="4" name="字幕 3">
            <a:extLst>
              <a:ext uri="{FF2B5EF4-FFF2-40B4-BE49-F238E27FC236}">
                <a16:creationId xmlns:a16="http://schemas.microsoft.com/office/drawing/2014/main" id="{6CCEED2D-2BB7-F179-92EA-2E6767E5C59E}"/>
              </a:ext>
            </a:extLst>
          </p:cNvPr>
          <p:cNvSpPr>
            <a:spLocks noGrp="1"/>
          </p:cNvSpPr>
          <p:nvPr>
            <p:ph type="subTitle" idx="1"/>
          </p:nvPr>
        </p:nvSpPr>
        <p:spPr>
          <a:xfrm>
            <a:off x="1524000" y="2175287"/>
            <a:ext cx="9144000" cy="1041400"/>
          </a:xfrm>
        </p:spPr>
        <p:txBody>
          <a:bodyPr>
            <a:normAutofit/>
          </a:bodyPr>
          <a:lstStyle/>
          <a:p>
            <a:r>
              <a:rPr lang="ja-JP" altLang="en-US" sz="3200" dirty="0">
                <a:latin typeface="Trebuchet MS" panose="020B0603020202020204" pitchFamily="34" charset="0"/>
                <a:ea typeface="Meiryo UI" panose="020B0604030504040204" pitchFamily="50" charset="-128"/>
              </a:rPr>
              <a:t>生成</a:t>
            </a:r>
            <a:r>
              <a:rPr lang="en-US" altLang="ja-JP" sz="3200" dirty="0">
                <a:latin typeface="Trebuchet MS" panose="020B0603020202020204" pitchFamily="34" charset="0"/>
                <a:ea typeface="Meiryo UI" panose="020B0604030504040204" pitchFamily="50" charset="-128"/>
              </a:rPr>
              <a:t>AI</a:t>
            </a:r>
            <a:r>
              <a:rPr lang="ja-JP" altLang="en-US" sz="3200" dirty="0">
                <a:latin typeface="Trebuchet MS" panose="020B0603020202020204" pitchFamily="34" charset="0"/>
                <a:ea typeface="Meiryo UI" panose="020B0604030504040204" pitchFamily="50" charset="-128"/>
              </a:rPr>
              <a:t>の安全性確保に向けたリスク探索</a:t>
            </a:r>
            <a:br>
              <a:rPr lang="en-US" altLang="ja-JP" sz="3200" dirty="0">
                <a:latin typeface="Trebuchet MS" panose="020B0603020202020204" pitchFamily="34" charset="0"/>
                <a:ea typeface="Meiryo UI" panose="020B0604030504040204" pitchFamily="50" charset="-128"/>
              </a:rPr>
            </a:br>
            <a:r>
              <a:rPr lang="ja-JP" altLang="en-US" sz="3200" dirty="0">
                <a:latin typeface="Trebuchet MS" panose="020B0603020202020204" pitchFamily="34" charset="0"/>
                <a:ea typeface="Meiryo UI" panose="020B0604030504040204" pitchFamily="50" charset="-128"/>
              </a:rPr>
              <a:t>及びリスク低減技術の開発</a:t>
            </a:r>
            <a:endParaRPr lang="en-US" sz="3200" dirty="0">
              <a:latin typeface="Trebuchet MS" panose="020B0603020202020204" pitchFamily="34" charset="0"/>
              <a:ea typeface="Meiryo UI" panose="020B0604030504040204" pitchFamily="50" charset="-128"/>
            </a:endParaRPr>
          </a:p>
        </p:txBody>
      </p:sp>
      <p:sp>
        <p:nvSpPr>
          <p:cNvPr id="5" name="テキスト プレースホルダー 4">
            <a:extLst>
              <a:ext uri="{FF2B5EF4-FFF2-40B4-BE49-F238E27FC236}">
                <a16:creationId xmlns:a16="http://schemas.microsoft.com/office/drawing/2014/main" id="{AC80F0D9-DA09-E661-360A-19E05FA62F59}"/>
              </a:ext>
            </a:extLst>
          </p:cNvPr>
          <p:cNvSpPr>
            <a:spLocks noGrp="1"/>
          </p:cNvSpPr>
          <p:nvPr>
            <p:ph type="body" sz="quarter" idx="4294967295"/>
          </p:nvPr>
        </p:nvSpPr>
        <p:spPr>
          <a:xfrm>
            <a:off x="1524000" y="5952482"/>
            <a:ext cx="6869113" cy="328613"/>
          </a:xfrm>
        </p:spPr>
        <p:txBody>
          <a:bodyPr anchor="ctr">
            <a:normAutofit fontScale="62500" lnSpcReduction="20000"/>
          </a:bodyPr>
          <a:lstStyle/>
          <a:p>
            <a:pPr marL="0" indent="0">
              <a:lnSpc>
                <a:spcPct val="100000"/>
              </a:lnSpc>
              <a:spcBef>
                <a:spcPts val="0"/>
              </a:spcBef>
              <a:buFont typeface="Trebuchet MS" panose="020B0603020202020204" pitchFamily="34" charset="0"/>
              <a:buChar char="​"/>
            </a:pPr>
            <a:r>
              <a:rPr lang="ja-JP" altLang="en-US" dirty="0">
                <a:latin typeface="Trebuchet MS" panose="020B0603020202020204" pitchFamily="34" charset="0"/>
                <a:ea typeface="Meiryo UI" panose="020B0604030504040204" pitchFamily="50" charset="-128"/>
              </a:rPr>
              <a:t>提出日</a:t>
            </a:r>
            <a:r>
              <a:rPr lang="en-US" altLang="ja-JP" dirty="0">
                <a:latin typeface="Trebuchet MS" panose="020B0603020202020204" pitchFamily="34" charset="0"/>
                <a:ea typeface="Meiryo UI" panose="020B0604030504040204" pitchFamily="50" charset="-128"/>
              </a:rPr>
              <a:t>7/25_</a:t>
            </a:r>
            <a:r>
              <a:rPr lang="ja-JP" altLang="en-US" dirty="0">
                <a:latin typeface="Trebuchet MS" panose="020B0603020202020204" pitchFamily="34" charset="0"/>
                <a:ea typeface="Meiryo UI" panose="020B0604030504040204" pitchFamily="50" charset="-128"/>
              </a:rPr>
              <a:t>組織名　東京大学医学部附属病院　循環器内科</a:t>
            </a:r>
            <a:endParaRPr lang="en-US" dirty="0">
              <a:latin typeface="Trebuchet MS" panose="020B0603020202020204" pitchFamily="34" charset="0"/>
              <a:ea typeface="Meiryo UI" panose="020B0604030504040204" pitchFamily="50" charset="-128"/>
            </a:endParaRPr>
          </a:p>
        </p:txBody>
      </p:sp>
      <p:sp>
        <p:nvSpPr>
          <p:cNvPr id="2" name="タイトル 2">
            <a:extLst>
              <a:ext uri="{FF2B5EF4-FFF2-40B4-BE49-F238E27FC236}">
                <a16:creationId xmlns:a16="http://schemas.microsoft.com/office/drawing/2014/main" id="{BC6204E2-4D04-775F-97EA-BB5054F7DE29}"/>
              </a:ext>
            </a:extLst>
          </p:cNvPr>
          <p:cNvSpPr txBox="1">
            <a:spLocks/>
          </p:cNvSpPr>
          <p:nvPr/>
        </p:nvSpPr>
        <p:spPr>
          <a:xfrm>
            <a:off x="607273" y="3216687"/>
            <a:ext cx="10937900" cy="23876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ja-JP" altLang="en-US" sz="5400" dirty="0">
                <a:latin typeface="メイリオ" panose="020B0604030504040204" pitchFamily="50" charset="-128"/>
                <a:ea typeface="メイリオ" panose="020B0604030504040204" pitchFamily="50" charset="-128"/>
              </a:rPr>
              <a:t>生成</a:t>
            </a:r>
            <a:r>
              <a:rPr lang="en-US" altLang="ja-JP" sz="5400" dirty="0">
                <a:latin typeface="メイリオ" panose="020B0604030504040204" pitchFamily="50" charset="-128"/>
                <a:ea typeface="メイリオ" panose="020B0604030504040204" pitchFamily="50" charset="-128"/>
              </a:rPr>
              <a:t>AI</a:t>
            </a:r>
            <a:r>
              <a:rPr lang="ja-JP" altLang="en-US" sz="5400" dirty="0">
                <a:latin typeface="メイリオ" panose="020B0604030504040204" pitchFamily="50" charset="-128"/>
                <a:ea typeface="メイリオ" panose="020B0604030504040204" pitchFamily="50" charset="-128"/>
              </a:rPr>
              <a:t>時代の安全性確保に向けた</a:t>
            </a:r>
            <a:endParaRPr lang="en-US" altLang="ja-JP" sz="5400" dirty="0">
              <a:latin typeface="メイリオ" panose="020B0604030504040204" pitchFamily="50" charset="-128"/>
              <a:ea typeface="メイリオ" panose="020B0604030504040204" pitchFamily="50" charset="-128"/>
            </a:endParaRPr>
          </a:p>
          <a:p>
            <a:r>
              <a:rPr lang="ja-JP" altLang="en-US" sz="5400" dirty="0">
                <a:latin typeface="メイリオ" panose="020B0604030504040204" pitchFamily="50" charset="-128"/>
                <a:ea typeface="メイリオ" panose="020B0604030504040204" pitchFamily="50" charset="-128"/>
              </a:rPr>
              <a:t>次世代電子カルテ構想</a:t>
            </a:r>
            <a:endParaRPr lang="en-US" sz="5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365608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658059" y="592334"/>
            <a:ext cx="4378122" cy="523220"/>
          </a:xfrm>
          <a:prstGeom prst="rect">
            <a:avLst/>
          </a:prstGeom>
          <a:noFill/>
        </p:spPr>
        <p:txBody>
          <a:bodyPr wrap="none">
            <a:spAutoFit/>
          </a:bodyPr>
          <a:lstStyle/>
          <a:p>
            <a:pPr algn="ctr">
              <a:defRPr sz="2000" b="1">
                <a:solidFill>
                  <a:srgbClr val="DC2626"/>
                </a:solidFill>
              </a:defRPr>
            </a:pPr>
            <a:r>
              <a:rPr sz="2800" dirty="0">
                <a:latin typeface="メイリオ" panose="020B0604030504040204" pitchFamily="50" charset="-128"/>
                <a:ea typeface="メイリオ" panose="020B0604030504040204" pitchFamily="50" charset="-128"/>
              </a:rPr>
              <a:t>特定した3つの重大リスク</a:t>
            </a:r>
          </a:p>
        </p:txBody>
      </p:sp>
      <p:sp>
        <p:nvSpPr>
          <p:cNvPr id="5" name="Rounded Rectangle 4"/>
          <p:cNvSpPr/>
          <p:nvPr/>
        </p:nvSpPr>
        <p:spPr>
          <a:xfrm>
            <a:off x="707760" y="1113225"/>
            <a:ext cx="3474720" cy="1287039"/>
          </a:xfrm>
          <a:prstGeom prst="roundRect">
            <a:avLst/>
          </a:prstGeom>
          <a:solidFill>
            <a:srgbClr val="FEE2E2"/>
          </a:solidFill>
          <a:ln w="381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12291" y="1204667"/>
            <a:ext cx="2865656" cy="1138773"/>
          </a:xfrm>
          <a:prstGeom prst="rect">
            <a:avLst/>
          </a:prstGeom>
          <a:noFill/>
        </p:spPr>
        <p:txBody>
          <a:bodyPr wrap="none">
            <a:spAutoFit/>
          </a:bodyPr>
          <a:lstStyle/>
          <a:p>
            <a:pPr algn="ctr">
              <a:defRPr sz="1600" b="1">
                <a:solidFill>
                  <a:srgbClr val="DC2626"/>
                </a:solidFill>
              </a:defRPr>
            </a:pPr>
            <a:r>
              <a:rPr sz="2000" dirty="0">
                <a:latin typeface="メイリオ" panose="020B0604030504040204" pitchFamily="50" charset="-128"/>
                <a:ea typeface="メイリオ" panose="020B0604030504040204" pitchFamily="50" charset="-128"/>
              </a:rPr>
              <a:t>1. </a:t>
            </a:r>
            <a:r>
              <a:rPr sz="2000" dirty="0" err="1">
                <a:latin typeface="メイリオ" panose="020B0604030504040204" pitchFamily="50" charset="-128"/>
                <a:ea typeface="メイリオ" panose="020B0604030504040204" pitchFamily="50" charset="-128"/>
              </a:rPr>
              <a:t>誤診誘導</a:t>
            </a:r>
            <a:endParaRPr sz="2000" dirty="0">
              <a:latin typeface="メイリオ" panose="020B0604030504040204" pitchFamily="50" charset="-128"/>
              <a:ea typeface="メイリオ" panose="020B0604030504040204" pitchFamily="50" charset="-128"/>
            </a:endParaRPr>
          </a:p>
          <a:p>
            <a:pPr algn="ctr">
              <a:defRPr sz="1200">
                <a:solidFill>
                  <a:srgbClr val="DC2626"/>
                </a:solidFill>
              </a:defRPr>
            </a:pPr>
            <a:r>
              <a:rPr sz="1600" dirty="0">
                <a:latin typeface="メイリオ" panose="020B0604030504040204" pitchFamily="50" charset="-128"/>
                <a:ea typeface="メイリオ" panose="020B0604030504040204" pitchFamily="50" charset="-128"/>
              </a:rPr>
              <a:t>（</a:t>
            </a:r>
            <a:r>
              <a:rPr sz="1600" dirty="0" err="1">
                <a:latin typeface="メイリオ" panose="020B0604030504040204" pitchFamily="50" charset="-128"/>
                <a:ea typeface="メイリオ" panose="020B0604030504040204" pitchFamily="50" charset="-128"/>
              </a:rPr>
              <a:t>致死的ハルシネーション</a:t>
            </a:r>
            <a:r>
              <a:rPr sz="1600" dirty="0">
                <a:latin typeface="メイリオ" panose="020B0604030504040204" pitchFamily="50" charset="-128"/>
                <a:ea typeface="メイリオ" panose="020B0604030504040204" pitchFamily="50" charset="-128"/>
              </a:rPr>
              <a:t>）</a:t>
            </a:r>
          </a:p>
          <a:p>
            <a:pPr>
              <a:defRPr sz="1000">
                <a:solidFill>
                  <a:srgbClr val="333333"/>
                </a:solidFill>
              </a:defRPr>
            </a:pPr>
            <a:r>
              <a:rPr sz="1600" dirty="0">
                <a:latin typeface="メイリオ" panose="020B0604030504040204" pitchFamily="50" charset="-128"/>
                <a:ea typeface="メイリオ" panose="020B0604030504040204" pitchFamily="50" charset="-128"/>
              </a:rPr>
              <a:t>• </a:t>
            </a:r>
            <a:r>
              <a:rPr sz="1600" dirty="0" err="1">
                <a:latin typeface="メイリオ" panose="020B0604030504040204" pitchFamily="50" charset="-128"/>
                <a:ea typeface="メイリオ" panose="020B0604030504040204" pitchFamily="50" charset="-128"/>
              </a:rPr>
              <a:t>不正確な内容出力</a:t>
            </a:r>
            <a:endParaRPr sz="1600" dirty="0">
              <a:latin typeface="メイリオ" panose="020B0604030504040204" pitchFamily="50" charset="-128"/>
              <a:ea typeface="メイリオ" panose="020B0604030504040204" pitchFamily="50" charset="-128"/>
            </a:endParaRPr>
          </a:p>
          <a:p>
            <a:pPr>
              <a:defRPr sz="1000">
                <a:solidFill>
                  <a:srgbClr val="333333"/>
                </a:solidFill>
              </a:defRPr>
            </a:pPr>
            <a:r>
              <a:rPr sz="1600" dirty="0">
                <a:latin typeface="メイリオ" panose="020B0604030504040204" pitchFamily="50" charset="-128"/>
                <a:ea typeface="メイリオ" panose="020B0604030504040204" pitchFamily="50" charset="-128"/>
              </a:rPr>
              <a:t>• </a:t>
            </a:r>
            <a:r>
              <a:rPr sz="1600" dirty="0" err="1">
                <a:latin typeface="メイリオ" panose="020B0604030504040204" pitchFamily="50" charset="-128"/>
                <a:ea typeface="メイリオ" panose="020B0604030504040204" pitchFamily="50" charset="-128"/>
              </a:rPr>
              <a:t>心筋梗塞の見落とし等</a:t>
            </a:r>
            <a:endParaRPr sz="1600" dirty="0">
              <a:latin typeface="メイリオ" panose="020B0604030504040204" pitchFamily="50" charset="-128"/>
              <a:ea typeface="メイリオ" panose="020B0604030504040204" pitchFamily="50" charset="-128"/>
            </a:endParaRPr>
          </a:p>
        </p:txBody>
      </p:sp>
      <p:sp>
        <p:nvSpPr>
          <p:cNvPr id="7" name="Rounded Rectangle 6"/>
          <p:cNvSpPr/>
          <p:nvPr/>
        </p:nvSpPr>
        <p:spPr>
          <a:xfrm>
            <a:off x="4365360" y="1113226"/>
            <a:ext cx="3474720" cy="1287038"/>
          </a:xfrm>
          <a:prstGeom prst="roundRect">
            <a:avLst/>
          </a:prstGeom>
          <a:solidFill>
            <a:srgbClr val="FEE2E2"/>
          </a:solidFill>
          <a:ln w="381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880685" y="1204667"/>
            <a:ext cx="2444067" cy="1138773"/>
          </a:xfrm>
          <a:prstGeom prst="rect">
            <a:avLst/>
          </a:prstGeom>
          <a:noFill/>
        </p:spPr>
        <p:txBody>
          <a:bodyPr wrap="none">
            <a:spAutoFit/>
          </a:bodyPr>
          <a:lstStyle/>
          <a:p>
            <a:pPr algn="ctr">
              <a:defRPr sz="1600" b="1">
                <a:solidFill>
                  <a:srgbClr val="DC2626"/>
                </a:solidFill>
              </a:defRPr>
            </a:pPr>
            <a:r>
              <a:rPr sz="2000" dirty="0">
                <a:latin typeface="メイリオ" panose="020B0604030504040204" pitchFamily="50" charset="-128"/>
                <a:ea typeface="メイリオ" panose="020B0604030504040204" pitchFamily="50" charset="-128"/>
              </a:rPr>
              <a:t>2. </a:t>
            </a:r>
            <a:r>
              <a:rPr sz="2000" dirty="0" err="1">
                <a:latin typeface="メイリオ" panose="020B0604030504040204" pitchFamily="50" charset="-128"/>
                <a:ea typeface="メイリオ" panose="020B0604030504040204" pitchFamily="50" charset="-128"/>
              </a:rPr>
              <a:t>個人情報流出</a:t>
            </a:r>
            <a:endParaRPr sz="2000" dirty="0">
              <a:latin typeface="メイリオ" panose="020B0604030504040204" pitchFamily="50" charset="-128"/>
              <a:ea typeface="メイリオ" panose="020B0604030504040204" pitchFamily="50" charset="-128"/>
            </a:endParaRPr>
          </a:p>
          <a:p>
            <a:pPr algn="ctr">
              <a:defRPr sz="1200">
                <a:solidFill>
                  <a:srgbClr val="DC2626"/>
                </a:solidFill>
              </a:defRPr>
            </a:pPr>
            <a:r>
              <a:rPr sz="1600" dirty="0">
                <a:latin typeface="メイリオ" panose="020B0604030504040204" pitchFamily="50" charset="-128"/>
                <a:ea typeface="メイリオ" panose="020B0604030504040204" pitchFamily="50" charset="-128"/>
              </a:rPr>
              <a:t>（</a:t>
            </a:r>
            <a:r>
              <a:rPr sz="1600" dirty="0" err="1">
                <a:latin typeface="メイリオ" panose="020B0604030504040204" pitchFamily="50" charset="-128"/>
                <a:ea typeface="メイリオ" panose="020B0604030504040204" pitchFamily="50" charset="-128"/>
              </a:rPr>
              <a:t>クラウドLLM送信</a:t>
            </a:r>
            <a:r>
              <a:rPr sz="1600" dirty="0">
                <a:latin typeface="メイリオ" panose="020B0604030504040204" pitchFamily="50" charset="-128"/>
                <a:ea typeface="メイリオ" panose="020B0604030504040204" pitchFamily="50" charset="-128"/>
              </a:rPr>
              <a:t>）</a:t>
            </a:r>
          </a:p>
          <a:p>
            <a:pPr>
              <a:defRPr sz="1000">
                <a:solidFill>
                  <a:srgbClr val="333333"/>
                </a:solidFill>
              </a:defRPr>
            </a:pPr>
            <a:r>
              <a:rPr sz="1600" dirty="0">
                <a:latin typeface="メイリオ" panose="020B0604030504040204" pitchFamily="50" charset="-128"/>
                <a:ea typeface="メイリオ" panose="020B0604030504040204" pitchFamily="50" charset="-128"/>
              </a:rPr>
              <a:t>• </a:t>
            </a:r>
            <a:r>
              <a:rPr lang="ja-JP" altLang="en-US" sz="1600" dirty="0">
                <a:latin typeface="メイリオ" panose="020B0604030504040204" pitchFamily="50" charset="-128"/>
                <a:ea typeface="メイリオ" panose="020B0604030504040204" pitchFamily="50" charset="-128"/>
              </a:rPr>
              <a:t>個人情報の</a:t>
            </a:r>
            <a:r>
              <a:rPr sz="1600" dirty="0" err="1">
                <a:latin typeface="メイリオ" panose="020B0604030504040204" pitchFamily="50" charset="-128"/>
                <a:ea typeface="メイリオ" panose="020B0604030504040204" pitchFamily="50" charset="-128"/>
              </a:rPr>
              <a:t>送信リスク</a:t>
            </a:r>
            <a:endParaRPr sz="1600" dirty="0">
              <a:latin typeface="メイリオ" panose="020B0604030504040204" pitchFamily="50" charset="-128"/>
              <a:ea typeface="メイリオ" panose="020B0604030504040204" pitchFamily="50" charset="-128"/>
            </a:endParaRPr>
          </a:p>
          <a:p>
            <a:pPr>
              <a:defRPr sz="1000">
                <a:solidFill>
                  <a:srgbClr val="333333"/>
                </a:solidFill>
              </a:defRPr>
            </a:pPr>
            <a:r>
              <a:rPr sz="1600" dirty="0">
                <a:latin typeface="メイリオ" panose="020B0604030504040204" pitchFamily="50" charset="-128"/>
                <a:ea typeface="メイリオ" panose="020B0604030504040204" pitchFamily="50" charset="-128"/>
              </a:rPr>
              <a:t>• </a:t>
            </a:r>
            <a:r>
              <a:rPr sz="1600" dirty="0" err="1">
                <a:latin typeface="メイリオ" panose="020B0604030504040204" pitchFamily="50" charset="-128"/>
                <a:ea typeface="メイリオ" panose="020B0604030504040204" pitchFamily="50" charset="-128"/>
              </a:rPr>
              <a:t>法令違反の可能性</a:t>
            </a:r>
            <a:endParaRPr sz="1600" dirty="0">
              <a:latin typeface="メイリオ" panose="020B0604030504040204" pitchFamily="50" charset="-128"/>
              <a:ea typeface="メイリオ" panose="020B0604030504040204" pitchFamily="50" charset="-128"/>
            </a:endParaRPr>
          </a:p>
        </p:txBody>
      </p:sp>
      <p:sp>
        <p:nvSpPr>
          <p:cNvPr id="9" name="Rounded Rectangle 8"/>
          <p:cNvSpPr/>
          <p:nvPr/>
        </p:nvSpPr>
        <p:spPr>
          <a:xfrm>
            <a:off x="8022960" y="1113225"/>
            <a:ext cx="3474720" cy="1277639"/>
          </a:xfrm>
          <a:prstGeom prst="roundRect">
            <a:avLst/>
          </a:prstGeom>
          <a:solidFill>
            <a:srgbClr val="FEE2E2"/>
          </a:solidFill>
          <a:ln w="381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79787" y="1204667"/>
            <a:ext cx="2961067" cy="892552"/>
          </a:xfrm>
          <a:prstGeom prst="rect">
            <a:avLst/>
          </a:prstGeom>
          <a:noFill/>
        </p:spPr>
        <p:txBody>
          <a:bodyPr wrap="none">
            <a:spAutoFit/>
          </a:bodyPr>
          <a:lstStyle/>
          <a:p>
            <a:pPr algn="ctr">
              <a:defRPr sz="1600" b="1">
                <a:solidFill>
                  <a:srgbClr val="DC2626"/>
                </a:solidFill>
              </a:defRPr>
            </a:pPr>
            <a:r>
              <a:rPr sz="2000" dirty="0">
                <a:latin typeface="メイリオ" panose="020B0604030504040204" pitchFamily="50" charset="-128"/>
                <a:ea typeface="メイリオ" panose="020B0604030504040204" pitchFamily="50" charset="-128"/>
              </a:rPr>
              <a:t>3. </a:t>
            </a:r>
            <a:r>
              <a:rPr sz="2000" dirty="0" err="1">
                <a:latin typeface="メイリオ" panose="020B0604030504040204" pitchFamily="50" charset="-128"/>
                <a:ea typeface="メイリオ" panose="020B0604030504040204" pitchFamily="50" charset="-128"/>
              </a:rPr>
              <a:t>医師-患者関係の変容</a:t>
            </a:r>
            <a:endParaRPr sz="2000" dirty="0">
              <a:latin typeface="メイリオ" panose="020B0604030504040204" pitchFamily="50" charset="-128"/>
              <a:ea typeface="メイリオ" panose="020B0604030504040204" pitchFamily="50" charset="-128"/>
            </a:endParaRPr>
          </a:p>
          <a:p>
            <a:pPr algn="ctr">
              <a:defRPr sz="1000">
                <a:solidFill>
                  <a:srgbClr val="333333"/>
                </a:solidFill>
              </a:defRPr>
            </a:pPr>
            <a:r>
              <a:rPr sz="1600" dirty="0">
                <a:latin typeface="メイリオ" panose="020B0604030504040204" pitchFamily="50" charset="-128"/>
                <a:ea typeface="メイリオ" panose="020B0604030504040204" pitchFamily="50" charset="-128"/>
              </a:rPr>
              <a:t>• </a:t>
            </a:r>
            <a:r>
              <a:rPr sz="1600" dirty="0" err="1">
                <a:latin typeface="メイリオ" panose="020B0604030504040204" pitchFamily="50" charset="-128"/>
                <a:ea typeface="メイリオ" panose="020B0604030504040204" pitchFamily="50" charset="-128"/>
              </a:rPr>
              <a:t>信頼関係の希薄化</a:t>
            </a:r>
            <a:endParaRPr sz="1600" dirty="0">
              <a:latin typeface="メイリオ" panose="020B0604030504040204" pitchFamily="50" charset="-128"/>
              <a:ea typeface="メイリオ" panose="020B0604030504040204" pitchFamily="50" charset="-128"/>
            </a:endParaRPr>
          </a:p>
          <a:p>
            <a:pPr algn="ctr">
              <a:defRPr sz="1000">
                <a:solidFill>
                  <a:srgbClr val="333333"/>
                </a:solidFill>
              </a:defRPr>
            </a:pPr>
            <a:r>
              <a:rPr sz="1600" dirty="0">
                <a:latin typeface="メイリオ" panose="020B0604030504040204" pitchFamily="50" charset="-128"/>
                <a:ea typeface="メイリオ" panose="020B0604030504040204" pitchFamily="50" charset="-128"/>
              </a:rPr>
              <a:t>• </a:t>
            </a:r>
            <a:r>
              <a:rPr sz="1600" dirty="0" err="1">
                <a:latin typeface="メイリオ" panose="020B0604030504040204" pitchFamily="50" charset="-128"/>
                <a:ea typeface="メイリオ" panose="020B0604030504040204" pitchFamily="50" charset="-128"/>
              </a:rPr>
              <a:t>説明責任の不透明化</a:t>
            </a:r>
            <a:endParaRPr sz="1600" dirty="0">
              <a:latin typeface="メイリオ" panose="020B0604030504040204" pitchFamily="50" charset="-128"/>
              <a:ea typeface="メイリオ" panose="020B0604030504040204" pitchFamily="50" charset="-128"/>
            </a:endParaRPr>
          </a:p>
        </p:txBody>
      </p:sp>
      <p:cxnSp>
        <p:nvCxnSpPr>
          <p:cNvPr id="11" name="Connector 10"/>
          <p:cNvCxnSpPr>
            <a:cxnSpLocks/>
            <a:stCxn id="5" idx="2"/>
          </p:cNvCxnSpPr>
          <p:nvPr/>
        </p:nvCxnSpPr>
        <p:spPr>
          <a:xfrm>
            <a:off x="2445120" y="2400264"/>
            <a:ext cx="0" cy="450332"/>
          </a:xfrm>
          <a:prstGeom prst="line">
            <a:avLst/>
          </a:prstGeom>
          <a:ln w="50800">
            <a:solidFill>
              <a:srgbClr val="DC262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a:cxnSpLocks/>
            <a:stCxn id="7" idx="2"/>
          </p:cNvCxnSpPr>
          <p:nvPr/>
        </p:nvCxnSpPr>
        <p:spPr>
          <a:xfrm flipH="1">
            <a:off x="6096001" y="2400264"/>
            <a:ext cx="6719" cy="450332"/>
          </a:xfrm>
          <a:prstGeom prst="line">
            <a:avLst/>
          </a:prstGeom>
          <a:ln w="50800">
            <a:solidFill>
              <a:srgbClr val="DC262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629759" y="2460118"/>
            <a:ext cx="2339102" cy="461665"/>
          </a:xfrm>
          <a:prstGeom prst="rect">
            <a:avLst/>
          </a:prstGeom>
          <a:noFill/>
        </p:spPr>
        <p:txBody>
          <a:bodyPr wrap="none">
            <a:spAutoFit/>
          </a:bodyPr>
          <a:lstStyle/>
          <a:p>
            <a:pPr algn="ctr">
              <a:defRPr sz="2000" b="1">
                <a:solidFill>
                  <a:srgbClr val="16A34A"/>
                </a:solidFill>
              </a:defRPr>
            </a:pPr>
            <a:r>
              <a:rPr sz="2400" dirty="0" err="1">
                <a:latin typeface="メイリオ" panose="020B0604030504040204" pitchFamily="50" charset="-128"/>
                <a:ea typeface="メイリオ" panose="020B0604030504040204" pitchFamily="50" charset="-128"/>
              </a:rPr>
              <a:t>対策技術と目標</a:t>
            </a:r>
            <a:endParaRPr sz="2400" dirty="0">
              <a:latin typeface="メイリオ" panose="020B0604030504040204" pitchFamily="50" charset="-128"/>
              <a:ea typeface="メイリオ" panose="020B0604030504040204" pitchFamily="50" charset="-128"/>
            </a:endParaRPr>
          </a:p>
        </p:txBody>
      </p:sp>
      <p:sp>
        <p:nvSpPr>
          <p:cNvPr id="15" name="Rounded Rectangle 14"/>
          <p:cNvSpPr/>
          <p:nvPr/>
        </p:nvSpPr>
        <p:spPr>
          <a:xfrm>
            <a:off x="728723" y="2865709"/>
            <a:ext cx="3474720" cy="1441589"/>
          </a:xfrm>
          <a:prstGeom prst="roundRect">
            <a:avLst/>
          </a:prstGeom>
          <a:solidFill>
            <a:srgbClr val="DCFCE7"/>
          </a:solidFill>
          <a:ln w="381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20163" y="2911429"/>
            <a:ext cx="3291840" cy="480530"/>
          </a:xfrm>
          <a:prstGeom prst="roundRect">
            <a:avLst/>
          </a:prstGeom>
          <a:solidFill>
            <a:srgbClr val="16A34A"/>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443527" y="2991849"/>
            <a:ext cx="2045112" cy="400110"/>
          </a:xfrm>
          <a:prstGeom prst="rect">
            <a:avLst/>
          </a:prstGeom>
          <a:noFill/>
        </p:spPr>
        <p:txBody>
          <a:bodyPr wrap="none">
            <a:spAutoFit/>
          </a:bodyPr>
          <a:lstStyle/>
          <a:p>
            <a:pPr algn="ctr">
              <a:defRPr sz="1400" b="1">
                <a:solidFill>
                  <a:srgbClr val="FFFFFF"/>
                </a:solidFill>
              </a:defRPr>
            </a:pPr>
            <a:r>
              <a:rPr sz="2000" dirty="0" err="1">
                <a:latin typeface="メイリオ" panose="020B0604030504040204" pitchFamily="50" charset="-128"/>
                <a:ea typeface="メイリオ" panose="020B0604030504040204" pitchFamily="50" charset="-128"/>
              </a:rPr>
              <a:t>RAGによる対策</a:t>
            </a:r>
            <a:endParaRPr sz="2000" dirty="0">
              <a:latin typeface="メイリオ" panose="020B0604030504040204" pitchFamily="50" charset="-128"/>
              <a:ea typeface="メイリオ" panose="020B0604030504040204" pitchFamily="50" charset="-128"/>
            </a:endParaRPr>
          </a:p>
        </p:txBody>
      </p:sp>
      <p:sp>
        <p:nvSpPr>
          <p:cNvPr id="18" name="TextBox 17"/>
          <p:cNvSpPr txBox="1"/>
          <p:nvPr/>
        </p:nvSpPr>
        <p:spPr>
          <a:xfrm>
            <a:off x="820163" y="3505790"/>
            <a:ext cx="3256887" cy="584775"/>
          </a:xfrm>
          <a:prstGeom prst="rect">
            <a:avLst/>
          </a:prstGeom>
          <a:noFill/>
        </p:spPr>
        <p:txBody>
          <a:bodyPr wrap="square">
            <a:spAutoFit/>
          </a:bodyPr>
          <a:lstStyle/>
          <a:p>
            <a:pPr algn="ctr">
              <a:defRPr sz="1100">
                <a:solidFill>
                  <a:srgbClr val="333333"/>
                </a:solidFill>
              </a:defRPr>
            </a:pPr>
            <a:r>
              <a:rPr sz="1600" dirty="0">
                <a:latin typeface="メイリオ" panose="020B0604030504040204" pitchFamily="50" charset="-128"/>
                <a:ea typeface="メイリオ" panose="020B0604030504040204" pitchFamily="50" charset="-128"/>
              </a:rPr>
              <a:t>• </a:t>
            </a:r>
            <a:r>
              <a:rPr lang="ja-JP" altLang="en-US" sz="1600" dirty="0">
                <a:latin typeface="メイリオ" panose="020B0604030504040204" pitchFamily="50" charset="-128"/>
                <a:ea typeface="メイリオ" panose="020B0604030504040204" pitchFamily="50" charset="-128"/>
              </a:rPr>
              <a:t>医学的知識に基づく出典保証</a:t>
            </a:r>
            <a:endParaRPr sz="1600" dirty="0">
              <a:latin typeface="メイリオ" panose="020B0604030504040204" pitchFamily="50" charset="-128"/>
              <a:ea typeface="メイリオ" panose="020B0604030504040204" pitchFamily="50" charset="-128"/>
            </a:endParaRPr>
          </a:p>
          <a:p>
            <a:pPr algn="ctr">
              <a:defRPr sz="1100">
                <a:solidFill>
                  <a:srgbClr val="333333"/>
                </a:solidFill>
              </a:defRPr>
            </a:pPr>
            <a:r>
              <a:rPr sz="1600" dirty="0">
                <a:latin typeface="メイリオ" panose="020B0604030504040204" pitchFamily="50" charset="-128"/>
                <a:ea typeface="メイリオ" panose="020B0604030504040204" pitchFamily="50" charset="-128"/>
              </a:rPr>
              <a:t>• </a:t>
            </a:r>
            <a:r>
              <a:rPr lang="ja-JP" altLang="en-US" sz="1600" dirty="0">
                <a:latin typeface="メイリオ" panose="020B0604030504040204" pitchFamily="50" charset="-128"/>
                <a:ea typeface="メイリオ" panose="020B0604030504040204" pitchFamily="50" charset="-128"/>
              </a:rPr>
              <a:t>評価と治療の整合性チェック</a:t>
            </a:r>
            <a:endParaRPr sz="1600" dirty="0">
              <a:latin typeface="メイリオ" panose="020B0604030504040204" pitchFamily="50" charset="-128"/>
              <a:ea typeface="メイリオ" panose="020B0604030504040204" pitchFamily="50" charset="-128"/>
            </a:endParaRPr>
          </a:p>
        </p:txBody>
      </p:sp>
      <p:sp>
        <p:nvSpPr>
          <p:cNvPr id="19" name="Rounded Rectangle 18"/>
          <p:cNvSpPr/>
          <p:nvPr/>
        </p:nvSpPr>
        <p:spPr>
          <a:xfrm>
            <a:off x="4386323" y="2865709"/>
            <a:ext cx="3474720" cy="1441589"/>
          </a:xfrm>
          <a:prstGeom prst="roundRect">
            <a:avLst/>
          </a:prstGeom>
          <a:solidFill>
            <a:srgbClr val="DCFCE7"/>
          </a:solidFill>
          <a:ln w="381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477762" y="2911429"/>
            <a:ext cx="3291840" cy="480530"/>
          </a:xfrm>
          <a:prstGeom prst="roundRect">
            <a:avLst/>
          </a:prstGeom>
          <a:solidFill>
            <a:srgbClr val="16A34A"/>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dirty="0">
              <a:latin typeface="メイリオ" panose="020B0604030504040204" pitchFamily="50" charset="-128"/>
              <a:ea typeface="メイリオ" panose="020B0604030504040204" pitchFamily="50" charset="-128"/>
            </a:endParaRPr>
          </a:p>
        </p:txBody>
      </p:sp>
      <p:sp>
        <p:nvSpPr>
          <p:cNvPr id="21" name="TextBox 20"/>
          <p:cNvSpPr txBox="1"/>
          <p:nvPr/>
        </p:nvSpPr>
        <p:spPr>
          <a:xfrm>
            <a:off x="5248282" y="2991849"/>
            <a:ext cx="1750800" cy="400110"/>
          </a:xfrm>
          <a:prstGeom prst="rect">
            <a:avLst/>
          </a:prstGeom>
          <a:noFill/>
        </p:spPr>
        <p:txBody>
          <a:bodyPr wrap="none">
            <a:spAutoFit/>
          </a:bodyPr>
          <a:lstStyle/>
          <a:p>
            <a:pPr algn="ctr">
              <a:defRPr sz="1400" b="1">
                <a:solidFill>
                  <a:srgbClr val="FFFFFF"/>
                </a:solidFill>
              </a:defRPr>
            </a:pPr>
            <a:r>
              <a:rPr sz="2000" dirty="0" err="1">
                <a:latin typeface="メイリオ" panose="020B0604030504040204" pitchFamily="50" charset="-128"/>
                <a:ea typeface="メイリオ" panose="020B0604030504040204" pitchFamily="50" charset="-128"/>
              </a:rPr>
              <a:t>ローカルLLM</a:t>
            </a:r>
            <a:endParaRPr sz="2000" dirty="0">
              <a:latin typeface="メイリオ" panose="020B0604030504040204" pitchFamily="50" charset="-128"/>
              <a:ea typeface="メイリオ" panose="020B0604030504040204" pitchFamily="50" charset="-128"/>
            </a:endParaRPr>
          </a:p>
        </p:txBody>
      </p:sp>
      <p:sp>
        <p:nvSpPr>
          <p:cNvPr id="22" name="TextBox 21"/>
          <p:cNvSpPr txBox="1"/>
          <p:nvPr/>
        </p:nvSpPr>
        <p:spPr>
          <a:xfrm>
            <a:off x="4477761" y="3505790"/>
            <a:ext cx="3252693" cy="584775"/>
          </a:xfrm>
          <a:prstGeom prst="rect">
            <a:avLst/>
          </a:prstGeom>
          <a:noFill/>
        </p:spPr>
        <p:txBody>
          <a:bodyPr wrap="square">
            <a:spAutoFit/>
          </a:bodyPr>
          <a:lstStyle/>
          <a:p>
            <a:pPr algn="ctr">
              <a:defRPr sz="1100">
                <a:solidFill>
                  <a:srgbClr val="333333"/>
                </a:solidFill>
              </a:defRPr>
            </a:pPr>
            <a:r>
              <a:rPr sz="1600" dirty="0">
                <a:latin typeface="メイリオ" panose="020B0604030504040204" pitchFamily="50" charset="-128"/>
                <a:ea typeface="メイリオ" panose="020B0604030504040204" pitchFamily="50" charset="-128"/>
              </a:rPr>
              <a:t>• </a:t>
            </a:r>
            <a:r>
              <a:rPr sz="1600" dirty="0" err="1">
                <a:latin typeface="メイリオ" panose="020B0604030504040204" pitchFamily="50" charset="-128"/>
                <a:ea typeface="メイリオ" panose="020B0604030504040204" pitchFamily="50" charset="-128"/>
              </a:rPr>
              <a:t>病院内サーバで完結</a:t>
            </a:r>
            <a:endParaRPr sz="1600" dirty="0">
              <a:latin typeface="メイリオ" panose="020B0604030504040204" pitchFamily="50" charset="-128"/>
              <a:ea typeface="メイリオ" panose="020B0604030504040204" pitchFamily="50" charset="-128"/>
            </a:endParaRPr>
          </a:p>
          <a:p>
            <a:pPr algn="ctr">
              <a:defRPr sz="1100">
                <a:solidFill>
                  <a:srgbClr val="333333"/>
                </a:solidFill>
              </a:defRPr>
            </a:pPr>
            <a:r>
              <a:rPr sz="1600" dirty="0">
                <a:latin typeface="メイリオ" panose="020B0604030504040204" pitchFamily="50" charset="-128"/>
                <a:ea typeface="メイリオ" panose="020B0604030504040204" pitchFamily="50" charset="-128"/>
              </a:rPr>
              <a:t>• </a:t>
            </a:r>
            <a:r>
              <a:rPr sz="1600" dirty="0" err="1">
                <a:latin typeface="メイリオ" panose="020B0604030504040204" pitchFamily="50" charset="-128"/>
                <a:ea typeface="メイリオ" panose="020B0604030504040204" pitchFamily="50" charset="-128"/>
              </a:rPr>
              <a:t>外部送信を完全遮断</a:t>
            </a:r>
            <a:endParaRPr sz="1600" dirty="0">
              <a:latin typeface="メイリオ" panose="020B0604030504040204" pitchFamily="50" charset="-128"/>
              <a:ea typeface="メイリオ" panose="020B0604030504040204" pitchFamily="50" charset="-128"/>
            </a:endParaRPr>
          </a:p>
        </p:txBody>
      </p:sp>
      <p:sp>
        <p:nvSpPr>
          <p:cNvPr id="23" name="Rounded Rectangle 22"/>
          <p:cNvSpPr/>
          <p:nvPr/>
        </p:nvSpPr>
        <p:spPr>
          <a:xfrm>
            <a:off x="8043923" y="2865709"/>
            <a:ext cx="3474720" cy="1441589"/>
          </a:xfrm>
          <a:prstGeom prst="roundRect">
            <a:avLst/>
          </a:prstGeom>
          <a:solidFill>
            <a:srgbClr val="DCFCE7"/>
          </a:solidFill>
          <a:ln w="381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8135363" y="2911429"/>
            <a:ext cx="3291840" cy="480530"/>
          </a:xfrm>
          <a:prstGeom prst="roundRect">
            <a:avLst/>
          </a:prstGeom>
          <a:solidFill>
            <a:srgbClr val="16A34A"/>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217543" y="2965830"/>
            <a:ext cx="1085554" cy="400110"/>
          </a:xfrm>
          <a:prstGeom prst="rect">
            <a:avLst/>
          </a:prstGeom>
          <a:noFill/>
        </p:spPr>
        <p:txBody>
          <a:bodyPr wrap="none">
            <a:spAutoFit/>
          </a:bodyPr>
          <a:lstStyle/>
          <a:p>
            <a:pPr algn="ctr">
              <a:defRPr sz="1400" b="1">
                <a:solidFill>
                  <a:srgbClr val="FFFFFF"/>
                </a:solidFill>
              </a:defRPr>
            </a:pPr>
            <a:r>
              <a:rPr sz="2000" dirty="0" err="1">
                <a:latin typeface="メイリオ" panose="020B0604030504040204" pitchFamily="50" charset="-128"/>
                <a:ea typeface="メイリオ" panose="020B0604030504040204" pitchFamily="50" charset="-128"/>
              </a:rPr>
              <a:t>UX設計</a:t>
            </a:r>
            <a:endParaRPr sz="2000" dirty="0">
              <a:latin typeface="メイリオ" panose="020B0604030504040204" pitchFamily="50" charset="-128"/>
              <a:ea typeface="メイリオ" panose="020B0604030504040204" pitchFamily="50" charset="-128"/>
            </a:endParaRPr>
          </a:p>
        </p:txBody>
      </p:sp>
      <p:sp>
        <p:nvSpPr>
          <p:cNvPr id="26" name="TextBox 25"/>
          <p:cNvSpPr txBox="1"/>
          <p:nvPr/>
        </p:nvSpPr>
        <p:spPr>
          <a:xfrm>
            <a:off x="8135363" y="3505790"/>
            <a:ext cx="3291840" cy="584775"/>
          </a:xfrm>
          <a:prstGeom prst="rect">
            <a:avLst/>
          </a:prstGeom>
          <a:noFill/>
        </p:spPr>
        <p:txBody>
          <a:bodyPr wrap="square">
            <a:spAutoFit/>
          </a:bodyPr>
          <a:lstStyle/>
          <a:p>
            <a:pPr algn="ctr">
              <a:defRPr sz="1100">
                <a:solidFill>
                  <a:srgbClr val="333333"/>
                </a:solidFill>
              </a:defRPr>
            </a:pPr>
            <a:r>
              <a:rPr sz="1600" dirty="0">
                <a:latin typeface="メイリオ" panose="020B0604030504040204" pitchFamily="50" charset="-128"/>
                <a:ea typeface="メイリオ" panose="020B0604030504040204" pitchFamily="50" charset="-128"/>
              </a:rPr>
              <a:t>• </a:t>
            </a:r>
            <a:r>
              <a:rPr sz="1600" dirty="0" err="1">
                <a:latin typeface="メイリオ" panose="020B0604030504040204" pitchFamily="50" charset="-128"/>
                <a:ea typeface="メイリオ" panose="020B0604030504040204" pitchFamily="50" charset="-128"/>
              </a:rPr>
              <a:t>医師確認済ラベル</a:t>
            </a:r>
            <a:endParaRPr sz="1600" dirty="0">
              <a:latin typeface="メイリオ" panose="020B0604030504040204" pitchFamily="50" charset="-128"/>
              <a:ea typeface="メイリオ" panose="020B0604030504040204" pitchFamily="50" charset="-128"/>
            </a:endParaRPr>
          </a:p>
          <a:p>
            <a:pPr algn="ctr">
              <a:defRPr sz="1100">
                <a:solidFill>
                  <a:srgbClr val="333333"/>
                </a:solidFill>
              </a:defRPr>
            </a:pPr>
            <a:r>
              <a:rPr sz="1600" dirty="0">
                <a:latin typeface="メイリオ" panose="020B0604030504040204" pitchFamily="50" charset="-128"/>
                <a:ea typeface="メイリオ" panose="020B0604030504040204" pitchFamily="50" charset="-128"/>
              </a:rPr>
              <a:t>• AI/</a:t>
            </a:r>
            <a:r>
              <a:rPr sz="1600" dirty="0" err="1">
                <a:latin typeface="メイリオ" panose="020B0604030504040204" pitchFamily="50" charset="-128"/>
                <a:ea typeface="メイリオ" panose="020B0604030504040204" pitchFamily="50" charset="-128"/>
              </a:rPr>
              <a:t>医師判断の区別</a:t>
            </a:r>
            <a:endParaRPr sz="1600" dirty="0">
              <a:latin typeface="メイリオ" panose="020B0604030504040204" pitchFamily="50" charset="-128"/>
              <a:ea typeface="メイリオ" panose="020B0604030504040204" pitchFamily="50" charset="-128"/>
            </a:endParaRPr>
          </a:p>
        </p:txBody>
      </p:sp>
      <p:sp>
        <p:nvSpPr>
          <p:cNvPr id="27" name="Rounded Rectangle 26"/>
          <p:cNvSpPr/>
          <p:nvPr/>
        </p:nvSpPr>
        <p:spPr>
          <a:xfrm>
            <a:off x="803396" y="4467135"/>
            <a:ext cx="2377440" cy="2286000"/>
          </a:xfrm>
          <a:prstGeom prst="roundRect">
            <a:avLst/>
          </a:prstGeom>
          <a:solidFill>
            <a:srgbClr val="FEF3C7"/>
          </a:solidFill>
          <a:ln w="381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03395" y="4558575"/>
            <a:ext cx="2377441" cy="2123658"/>
          </a:xfrm>
          <a:prstGeom prst="rect">
            <a:avLst/>
          </a:prstGeom>
          <a:noFill/>
        </p:spPr>
        <p:txBody>
          <a:bodyPr wrap="square">
            <a:spAutoFit/>
          </a:bodyPr>
          <a:lstStyle/>
          <a:p>
            <a:pPr algn="ctr">
              <a:defRPr sz="1400" b="1">
                <a:solidFill>
                  <a:srgbClr val="F59E0B"/>
                </a:solidFill>
              </a:defRPr>
            </a:pPr>
            <a:r>
              <a:rPr sz="2000" dirty="0" err="1">
                <a:latin typeface="メイリオ" panose="020B0604030504040204" pitchFamily="50" charset="-128"/>
                <a:ea typeface="メイリオ" panose="020B0604030504040204" pitchFamily="50" charset="-128"/>
              </a:rPr>
              <a:t>成果の公開</a:t>
            </a:r>
            <a:endParaRPr sz="2000" dirty="0">
              <a:latin typeface="メイリオ" panose="020B0604030504040204" pitchFamily="50" charset="-128"/>
              <a:ea typeface="メイリオ" panose="020B0604030504040204" pitchFamily="50" charset="-128"/>
            </a:endParaRPr>
          </a:p>
          <a:p>
            <a:pPr>
              <a:defRPr sz="900">
                <a:solidFill>
                  <a:srgbClr val="333333"/>
                </a:solidFill>
              </a:defRPr>
            </a:pPr>
            <a:r>
              <a:rPr sz="1600" dirty="0">
                <a:latin typeface="メイリオ" panose="020B0604030504040204" pitchFamily="50" charset="-128"/>
                <a:ea typeface="メイリオ" panose="020B0604030504040204" pitchFamily="50" charset="-128"/>
              </a:rPr>
              <a:t>• </a:t>
            </a:r>
            <a:r>
              <a:rPr lang="ja-JP" altLang="en-US" sz="1600" dirty="0">
                <a:latin typeface="メイリオ" panose="020B0604030504040204" pitchFamily="50" charset="-128"/>
                <a:ea typeface="メイリオ" panose="020B0604030504040204" pitchFamily="50" charset="-128"/>
              </a:rPr>
              <a:t>電子カルテの全コードを</a:t>
            </a:r>
            <a:r>
              <a:rPr sz="1600" dirty="0">
                <a:latin typeface="メイリオ" panose="020B0604030504040204" pitchFamily="50" charset="-128"/>
                <a:ea typeface="メイリオ" panose="020B0604030504040204" pitchFamily="50" charset="-128"/>
              </a:rPr>
              <a:t>GitHub</a:t>
            </a:r>
            <a:r>
              <a:rPr lang="ja-JP" altLang="en-US" sz="1600" dirty="0">
                <a:latin typeface="メイリオ" panose="020B0604030504040204" pitchFamily="50" charset="-128"/>
                <a:ea typeface="メイリオ" panose="020B0604030504040204" pitchFamily="50" charset="-128"/>
              </a:rPr>
              <a:t>で</a:t>
            </a:r>
            <a:r>
              <a:rPr sz="1600" dirty="0" err="1">
                <a:latin typeface="メイリオ" panose="020B0604030504040204" pitchFamily="50" charset="-128"/>
                <a:ea typeface="メイリオ" panose="020B0604030504040204" pitchFamily="50" charset="-128"/>
              </a:rPr>
              <a:t>公開</a:t>
            </a:r>
            <a:endParaRPr lang="en-US" sz="1600" dirty="0">
              <a:latin typeface="メイリオ" panose="020B0604030504040204" pitchFamily="50" charset="-128"/>
              <a:ea typeface="メイリオ" panose="020B0604030504040204" pitchFamily="50" charset="-128"/>
            </a:endParaRPr>
          </a:p>
          <a:p>
            <a:pPr>
              <a:defRPr sz="900">
                <a:solidFill>
                  <a:srgbClr val="333333"/>
                </a:solidFill>
              </a:defRPr>
            </a:pPr>
            <a:r>
              <a:rPr lang="en-US" altLang="ja-JP" sz="1600" dirty="0">
                <a:latin typeface="メイリオ" panose="020B0604030504040204" pitchFamily="50" charset="-128"/>
                <a:ea typeface="メイリオ" panose="020B0604030504040204" pitchFamily="50" charset="-128"/>
              </a:rPr>
              <a:t>•</a:t>
            </a:r>
            <a:r>
              <a:rPr lang="ja-JP" altLang="en-US" sz="1600" dirty="0">
                <a:latin typeface="メイリオ" panose="020B0604030504040204" pitchFamily="50" charset="-128"/>
                <a:ea typeface="メイリオ" panose="020B0604030504040204" pitchFamily="50" charset="-128"/>
              </a:rPr>
              <a:t>サンドボックスとして電子カルテを活用可能</a:t>
            </a:r>
            <a:endParaRPr sz="1600" dirty="0">
              <a:latin typeface="メイリオ" panose="020B0604030504040204" pitchFamily="50" charset="-128"/>
              <a:ea typeface="メイリオ" panose="020B0604030504040204" pitchFamily="50" charset="-128"/>
            </a:endParaRPr>
          </a:p>
          <a:p>
            <a:pPr>
              <a:defRPr sz="900">
                <a:solidFill>
                  <a:srgbClr val="333333"/>
                </a:solidFill>
              </a:defRPr>
            </a:pPr>
            <a:r>
              <a:rPr sz="1600" dirty="0">
                <a:latin typeface="メイリオ" panose="020B0604030504040204" pitchFamily="50" charset="-128"/>
                <a:ea typeface="メイリオ" panose="020B0604030504040204" pitchFamily="50" charset="-128"/>
              </a:rPr>
              <a:t>• </a:t>
            </a:r>
            <a:r>
              <a:rPr sz="1600" dirty="0" err="1">
                <a:latin typeface="メイリオ" panose="020B0604030504040204" pitchFamily="50" charset="-128"/>
                <a:ea typeface="メイリオ" panose="020B0604030504040204" pitchFamily="50" charset="-128"/>
              </a:rPr>
              <a:t>論文発表</a:t>
            </a:r>
            <a:endParaRPr lang="en-US" sz="1600" dirty="0">
              <a:latin typeface="メイリオ" panose="020B0604030504040204" pitchFamily="50" charset="-128"/>
              <a:ea typeface="メイリオ" panose="020B0604030504040204" pitchFamily="50" charset="-128"/>
            </a:endParaRPr>
          </a:p>
          <a:p>
            <a:pPr>
              <a:defRPr sz="900">
                <a:solidFill>
                  <a:srgbClr val="333333"/>
                </a:solidFill>
              </a:defRPr>
            </a:pPr>
            <a:endParaRPr sz="1600" dirty="0">
              <a:latin typeface="メイリオ" panose="020B0604030504040204" pitchFamily="50" charset="-128"/>
              <a:ea typeface="メイリオ" panose="020B0604030504040204" pitchFamily="50" charset="-128"/>
            </a:endParaRPr>
          </a:p>
          <a:p>
            <a:pPr>
              <a:defRPr sz="900">
                <a:solidFill>
                  <a:srgbClr val="333333"/>
                </a:solidFill>
              </a:defRPr>
            </a:pPr>
            <a:r>
              <a:rPr sz="1600" dirty="0">
                <a:latin typeface="メイリオ" panose="020B0604030504040204" pitchFamily="50" charset="-128"/>
                <a:ea typeface="メイリオ" panose="020B0604030504040204" pitchFamily="50" charset="-128"/>
              </a:rPr>
              <a:t>2025年度内試作・検証</a:t>
            </a:r>
          </a:p>
        </p:txBody>
      </p:sp>
      <p:sp>
        <p:nvSpPr>
          <p:cNvPr id="29" name="Rounded Rectangle 28"/>
          <p:cNvSpPr/>
          <p:nvPr/>
        </p:nvSpPr>
        <p:spPr>
          <a:xfrm>
            <a:off x="3527428" y="4467135"/>
            <a:ext cx="2377440" cy="2286000"/>
          </a:xfrm>
          <a:prstGeom prst="roundRect">
            <a:avLst/>
          </a:prstGeom>
          <a:solidFill>
            <a:srgbClr val="DBEAFE"/>
          </a:solidFill>
          <a:ln w="381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540118" y="4558576"/>
            <a:ext cx="2390398" cy="1384995"/>
          </a:xfrm>
          <a:prstGeom prst="rect">
            <a:avLst/>
          </a:prstGeom>
          <a:noFill/>
        </p:spPr>
        <p:txBody>
          <a:bodyPr wrap="none">
            <a:spAutoFit/>
          </a:bodyPr>
          <a:lstStyle/>
          <a:p>
            <a:pPr algn="ctr">
              <a:defRPr sz="1400" b="1">
                <a:solidFill>
                  <a:srgbClr val="2563EB"/>
                </a:solidFill>
              </a:defRPr>
            </a:pPr>
            <a:r>
              <a:rPr sz="2000" dirty="0" err="1">
                <a:latin typeface="メイリオ" panose="020B0604030504040204" pitchFamily="50" charset="-128"/>
                <a:ea typeface="メイリオ" panose="020B0604030504040204" pitchFamily="50" charset="-128"/>
              </a:rPr>
              <a:t>ローカルLLM実装</a:t>
            </a:r>
            <a:endParaRPr sz="2000" dirty="0">
              <a:latin typeface="メイリオ" panose="020B0604030504040204" pitchFamily="50" charset="-128"/>
              <a:ea typeface="メイリオ" panose="020B0604030504040204" pitchFamily="50" charset="-128"/>
            </a:endParaRPr>
          </a:p>
          <a:p>
            <a:pPr>
              <a:defRPr sz="900">
                <a:solidFill>
                  <a:srgbClr val="333333"/>
                </a:solidFill>
              </a:defRPr>
            </a:pPr>
            <a:r>
              <a:rPr lang="en-US" altLang="ja-JP" sz="1600" dirty="0">
                <a:latin typeface="メイリオ" panose="020B0604030504040204" pitchFamily="50" charset="-128"/>
                <a:ea typeface="メイリオ" panose="020B0604030504040204" pitchFamily="50" charset="-128"/>
              </a:rPr>
              <a:t>• </a:t>
            </a:r>
            <a:r>
              <a:rPr lang="ja-JP" altLang="en-US" sz="1600" dirty="0">
                <a:latin typeface="メイリオ" panose="020B0604030504040204" pitchFamily="50" charset="-128"/>
                <a:ea typeface="メイリオ" panose="020B0604030504040204" pitchFamily="50" charset="-128"/>
              </a:rPr>
              <a:t>オープン</a:t>
            </a:r>
            <a:r>
              <a:rPr lang="en-US" altLang="ja-JP" sz="1600" dirty="0">
                <a:latin typeface="メイリオ" panose="020B0604030504040204" pitchFamily="50" charset="-128"/>
                <a:ea typeface="メイリオ" panose="020B0604030504040204" pitchFamily="50" charset="-128"/>
              </a:rPr>
              <a:t>LLM</a:t>
            </a:r>
          </a:p>
          <a:p>
            <a:pPr>
              <a:defRPr sz="900">
                <a:solidFill>
                  <a:srgbClr val="333333"/>
                </a:solidFill>
              </a:defRPr>
            </a:pPr>
            <a:r>
              <a:rPr lang="ja-JP" altLang="en-US" sz="1600" dirty="0">
                <a:latin typeface="メイリオ" panose="020B0604030504040204" pitchFamily="50" charset="-128"/>
                <a:ea typeface="メイリオ" panose="020B0604030504040204" pitchFamily="50" charset="-128"/>
              </a:rPr>
              <a:t>（</a:t>
            </a:r>
            <a:r>
              <a:rPr sz="1600" dirty="0">
                <a:latin typeface="メイリオ" panose="020B0604030504040204" pitchFamily="50" charset="-128"/>
                <a:ea typeface="メイリオ" panose="020B0604030504040204" pitchFamily="50" charset="-128"/>
              </a:rPr>
              <a:t>Gemma3</a:t>
            </a:r>
            <a:r>
              <a:rPr lang="ja-JP" altLang="en-US" sz="1600" dirty="0">
                <a:latin typeface="メイリオ" panose="020B0604030504040204" pitchFamily="50" charset="-128"/>
                <a:ea typeface="メイリオ" panose="020B0604030504040204" pitchFamily="50" charset="-128"/>
              </a:rPr>
              <a:t>等）</a:t>
            </a:r>
          </a:p>
          <a:p>
            <a:pPr>
              <a:defRPr sz="900">
                <a:solidFill>
                  <a:srgbClr val="333333"/>
                </a:solidFill>
              </a:defRPr>
            </a:pPr>
            <a:r>
              <a:rPr lang="en-US" altLang="ja-JP" sz="1600" dirty="0">
                <a:latin typeface="メイリオ" panose="020B0604030504040204" pitchFamily="50" charset="-128"/>
                <a:ea typeface="メイリオ" panose="020B0604030504040204" pitchFamily="50" charset="-128"/>
              </a:rPr>
              <a:t>• </a:t>
            </a:r>
            <a:r>
              <a:rPr lang="en-US" sz="1600" dirty="0">
                <a:latin typeface="メイリオ" panose="020B0604030504040204" pitchFamily="50" charset="-128"/>
                <a:ea typeface="メイリオ" panose="020B0604030504040204" pitchFamily="50" charset="-128"/>
              </a:rPr>
              <a:t>RTX</a:t>
            </a:r>
            <a:r>
              <a:rPr lang="ja-JP" altLang="en-US" sz="1600" dirty="0">
                <a:latin typeface="メイリオ" panose="020B0604030504040204" pitchFamily="50" charset="-128"/>
                <a:ea typeface="メイリオ" panose="020B0604030504040204" pitchFamily="50" charset="-128"/>
              </a:rPr>
              <a:t> </a:t>
            </a:r>
            <a:r>
              <a:rPr lang="en-US" altLang="ja-JP" sz="1600" dirty="0">
                <a:latin typeface="メイリオ" panose="020B0604030504040204" pitchFamily="50" charset="-128"/>
                <a:ea typeface="メイリオ" panose="020B0604030504040204" pitchFamily="50" charset="-128"/>
              </a:rPr>
              <a:t>5090</a:t>
            </a:r>
            <a:r>
              <a:rPr lang="ja-JP" altLang="en-US" sz="1600" dirty="0">
                <a:latin typeface="メイリオ" panose="020B0604030504040204" pitchFamily="50" charset="-128"/>
                <a:ea typeface="メイリオ" panose="020B0604030504040204" pitchFamily="50" charset="-128"/>
              </a:rPr>
              <a:t>環境</a:t>
            </a:r>
          </a:p>
          <a:p>
            <a:pPr>
              <a:defRPr sz="900">
                <a:solidFill>
                  <a:srgbClr val="333333"/>
                </a:solidFill>
              </a:defRPr>
            </a:pPr>
            <a:r>
              <a:rPr lang="en-US" altLang="ja-JP" sz="1600" dirty="0">
                <a:latin typeface="メイリオ" panose="020B0604030504040204" pitchFamily="50" charset="-128"/>
                <a:ea typeface="メイリオ" panose="020B0604030504040204" pitchFamily="50" charset="-128"/>
              </a:rPr>
              <a:t>•</a:t>
            </a:r>
            <a:r>
              <a:rPr lang="ja-JP" altLang="en-US" sz="1600" dirty="0">
                <a:latin typeface="メイリオ" panose="020B0604030504040204" pitchFamily="50" charset="-128"/>
                <a:ea typeface="メイリオ" panose="020B0604030504040204" pitchFamily="50" charset="-128"/>
              </a:rPr>
              <a:t>オンプレミス実装</a:t>
            </a:r>
          </a:p>
        </p:txBody>
      </p:sp>
      <p:sp>
        <p:nvSpPr>
          <p:cNvPr id="31" name="Rounded Rectangle 30"/>
          <p:cNvSpPr/>
          <p:nvPr/>
        </p:nvSpPr>
        <p:spPr>
          <a:xfrm>
            <a:off x="6289796" y="4467135"/>
            <a:ext cx="2377440" cy="2286000"/>
          </a:xfrm>
          <a:prstGeom prst="roundRect">
            <a:avLst/>
          </a:prstGeom>
          <a:solidFill>
            <a:srgbClr val="E0E7FF"/>
          </a:solidFill>
          <a:ln w="381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75678" y="4558576"/>
            <a:ext cx="2005677" cy="1877437"/>
          </a:xfrm>
          <a:prstGeom prst="rect">
            <a:avLst/>
          </a:prstGeom>
          <a:noFill/>
        </p:spPr>
        <p:txBody>
          <a:bodyPr wrap="none">
            <a:spAutoFit/>
          </a:bodyPr>
          <a:lstStyle/>
          <a:p>
            <a:pPr algn="ctr">
              <a:defRPr sz="1400" b="1">
                <a:solidFill>
                  <a:srgbClr val="6366F1"/>
                </a:solidFill>
              </a:defRPr>
            </a:pPr>
            <a:r>
              <a:rPr sz="2000" dirty="0" err="1">
                <a:latin typeface="メイリオ" panose="020B0604030504040204" pitchFamily="50" charset="-128"/>
                <a:ea typeface="メイリオ" panose="020B0604030504040204" pitchFamily="50" charset="-128"/>
              </a:rPr>
              <a:t>評価方法</a:t>
            </a:r>
            <a:endParaRPr sz="2000" dirty="0">
              <a:latin typeface="メイリオ" panose="020B0604030504040204" pitchFamily="50" charset="-128"/>
              <a:ea typeface="メイリオ" panose="020B0604030504040204" pitchFamily="50" charset="-128"/>
            </a:endParaRPr>
          </a:p>
          <a:p>
            <a:pPr>
              <a:defRPr sz="900">
                <a:solidFill>
                  <a:srgbClr val="333333"/>
                </a:solidFill>
              </a:defRPr>
            </a:pPr>
            <a:r>
              <a:rPr sz="1600" dirty="0">
                <a:latin typeface="メイリオ" panose="020B0604030504040204" pitchFamily="50" charset="-128"/>
                <a:ea typeface="メイリオ" panose="020B0604030504040204" pitchFamily="50" charset="-128"/>
              </a:rPr>
              <a:t>【</a:t>
            </a:r>
            <a:r>
              <a:rPr sz="1600" dirty="0" err="1">
                <a:latin typeface="メイリオ" panose="020B0604030504040204" pitchFamily="50" charset="-128"/>
                <a:ea typeface="メイリオ" panose="020B0604030504040204" pitchFamily="50" charset="-128"/>
              </a:rPr>
              <a:t>性能</a:t>
            </a:r>
            <a:r>
              <a:rPr sz="1600" dirty="0">
                <a:latin typeface="メイリオ" panose="020B0604030504040204" pitchFamily="50" charset="-128"/>
                <a:ea typeface="メイリオ" panose="020B0604030504040204" pitchFamily="50" charset="-128"/>
              </a:rPr>
              <a:t>】</a:t>
            </a:r>
          </a:p>
          <a:p>
            <a:pPr>
              <a:defRPr sz="900">
                <a:solidFill>
                  <a:srgbClr val="333333"/>
                </a:solidFill>
              </a:defRPr>
            </a:pPr>
            <a:r>
              <a:rPr sz="1600" dirty="0">
                <a:latin typeface="メイリオ" panose="020B0604030504040204" pitchFamily="50" charset="-128"/>
                <a:ea typeface="メイリオ" panose="020B0604030504040204" pitchFamily="50" charset="-128"/>
              </a:rPr>
              <a:t>• 模擬症例</a:t>
            </a:r>
            <a:r>
              <a:rPr lang="en-US" altLang="ja-JP" sz="1600" dirty="0">
                <a:latin typeface="メイリオ" panose="020B0604030504040204" pitchFamily="50" charset="-128"/>
                <a:ea typeface="メイリオ" panose="020B0604030504040204" pitchFamily="50" charset="-128"/>
              </a:rPr>
              <a:t>2</a:t>
            </a:r>
            <a:r>
              <a:rPr sz="1600" dirty="0">
                <a:latin typeface="メイリオ" panose="020B0604030504040204" pitchFamily="50" charset="-128"/>
                <a:ea typeface="メイリオ" panose="020B0604030504040204" pitchFamily="50" charset="-128"/>
              </a:rPr>
              <a:t>00件</a:t>
            </a:r>
          </a:p>
          <a:p>
            <a:pPr>
              <a:defRPr sz="900">
                <a:solidFill>
                  <a:srgbClr val="333333"/>
                </a:solidFill>
              </a:defRPr>
            </a:pPr>
            <a:r>
              <a:rPr sz="1600" dirty="0">
                <a:latin typeface="メイリオ" panose="020B0604030504040204" pitchFamily="50" charset="-128"/>
                <a:ea typeface="メイリオ" panose="020B0604030504040204" pitchFamily="50" charset="-128"/>
              </a:rPr>
              <a:t>【</a:t>
            </a:r>
            <a:r>
              <a:rPr sz="1600" dirty="0" err="1">
                <a:latin typeface="メイリオ" panose="020B0604030504040204" pitchFamily="50" charset="-128"/>
                <a:ea typeface="メイリオ" panose="020B0604030504040204" pitchFamily="50" charset="-128"/>
              </a:rPr>
              <a:t>セキュリティ</a:t>
            </a:r>
            <a:r>
              <a:rPr sz="1600" dirty="0">
                <a:latin typeface="メイリオ" panose="020B0604030504040204" pitchFamily="50" charset="-128"/>
                <a:ea typeface="メイリオ" panose="020B0604030504040204" pitchFamily="50" charset="-128"/>
              </a:rPr>
              <a:t>】</a:t>
            </a:r>
          </a:p>
          <a:p>
            <a:pPr>
              <a:defRPr sz="900">
                <a:solidFill>
                  <a:srgbClr val="333333"/>
                </a:solidFill>
              </a:defRPr>
            </a:pPr>
            <a:r>
              <a:rPr sz="1600" dirty="0">
                <a:latin typeface="メイリオ" panose="020B0604030504040204" pitchFamily="50" charset="-128"/>
                <a:ea typeface="メイリオ" panose="020B0604030504040204" pitchFamily="50" charset="-128"/>
              </a:rPr>
              <a:t>• </a:t>
            </a:r>
            <a:r>
              <a:rPr lang="ja-JP" altLang="en-US" sz="1600" dirty="0">
                <a:latin typeface="メイリオ" panose="020B0604030504040204" pitchFamily="50" charset="-128"/>
                <a:ea typeface="メイリオ" panose="020B0604030504040204" pitchFamily="50" charset="-128"/>
              </a:rPr>
              <a:t>隔離環境でテスト</a:t>
            </a:r>
            <a:endParaRPr sz="1600" dirty="0">
              <a:latin typeface="メイリオ" panose="020B0604030504040204" pitchFamily="50" charset="-128"/>
              <a:ea typeface="メイリオ" panose="020B0604030504040204" pitchFamily="50" charset="-128"/>
            </a:endParaRPr>
          </a:p>
          <a:p>
            <a:pPr>
              <a:defRPr sz="900">
                <a:solidFill>
                  <a:srgbClr val="333333"/>
                </a:solidFill>
              </a:defRPr>
            </a:pPr>
            <a:r>
              <a:rPr sz="1600" dirty="0">
                <a:latin typeface="メイリオ" panose="020B0604030504040204" pitchFamily="50" charset="-128"/>
                <a:ea typeface="メイリオ" panose="020B0604030504040204" pitchFamily="50" charset="-128"/>
              </a:rPr>
              <a:t>【UX】</a:t>
            </a:r>
          </a:p>
          <a:p>
            <a:pPr>
              <a:defRPr sz="900">
                <a:solidFill>
                  <a:srgbClr val="333333"/>
                </a:solidFill>
              </a:defRPr>
            </a:pPr>
            <a:r>
              <a:rPr sz="1600" dirty="0">
                <a:latin typeface="メイリオ" panose="020B0604030504040204" pitchFamily="50" charset="-128"/>
                <a:ea typeface="メイリオ" panose="020B0604030504040204" pitchFamily="50" charset="-128"/>
              </a:rPr>
              <a:t>• </a:t>
            </a:r>
            <a:r>
              <a:rPr sz="1600" dirty="0" err="1">
                <a:latin typeface="メイリオ" panose="020B0604030504040204" pitchFamily="50" charset="-128"/>
                <a:ea typeface="メイリオ" panose="020B0604030504040204" pitchFamily="50" charset="-128"/>
              </a:rPr>
              <a:t>患者アンケート</a:t>
            </a:r>
            <a:endParaRPr sz="1600" dirty="0">
              <a:latin typeface="メイリオ" panose="020B0604030504040204" pitchFamily="50" charset="-128"/>
              <a:ea typeface="メイリオ" panose="020B0604030504040204" pitchFamily="50" charset="-128"/>
            </a:endParaRPr>
          </a:p>
        </p:txBody>
      </p:sp>
      <p:sp>
        <p:nvSpPr>
          <p:cNvPr id="33" name="Rounded Rectangle 32"/>
          <p:cNvSpPr/>
          <p:nvPr/>
        </p:nvSpPr>
        <p:spPr>
          <a:xfrm>
            <a:off x="9032996" y="4467135"/>
            <a:ext cx="2368214" cy="2286000"/>
          </a:xfrm>
          <a:prstGeom prst="roundRect">
            <a:avLst/>
          </a:prstGeom>
          <a:solidFill>
            <a:srgbClr val="FEF3C7"/>
          </a:solidFill>
          <a:ln w="381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121073" y="4558576"/>
            <a:ext cx="2209660" cy="1877437"/>
          </a:xfrm>
          <a:prstGeom prst="rect">
            <a:avLst/>
          </a:prstGeom>
          <a:noFill/>
        </p:spPr>
        <p:txBody>
          <a:bodyPr wrap="square">
            <a:spAutoFit/>
          </a:bodyPr>
          <a:lstStyle/>
          <a:p>
            <a:pPr algn="ctr">
              <a:defRPr sz="1400" b="1">
                <a:solidFill>
                  <a:srgbClr val="F59E0B"/>
                </a:solidFill>
              </a:defRPr>
            </a:pPr>
            <a:r>
              <a:rPr sz="2000" dirty="0" err="1">
                <a:latin typeface="メイリオ" panose="020B0604030504040204" pitchFamily="50" charset="-128"/>
                <a:ea typeface="メイリオ" panose="020B0604030504040204" pitchFamily="50" charset="-128"/>
              </a:rPr>
              <a:t>新規性</a:t>
            </a:r>
            <a:endParaRPr sz="2000" dirty="0">
              <a:latin typeface="メイリオ" panose="020B0604030504040204" pitchFamily="50" charset="-128"/>
              <a:ea typeface="メイリオ" panose="020B0604030504040204" pitchFamily="50" charset="-128"/>
            </a:endParaRPr>
          </a:p>
          <a:p>
            <a:pPr>
              <a:defRPr sz="900">
                <a:solidFill>
                  <a:srgbClr val="333333"/>
                </a:solidFill>
              </a:defRPr>
            </a:pPr>
            <a:r>
              <a:rPr sz="1600" dirty="0">
                <a:latin typeface="メイリオ" panose="020B0604030504040204" pitchFamily="50" charset="-128"/>
                <a:ea typeface="メイリオ" panose="020B0604030504040204" pitchFamily="50" charset="-128"/>
              </a:rPr>
              <a:t>•</a:t>
            </a:r>
            <a:r>
              <a:rPr lang="ja-JP" altLang="en-US" sz="1600" dirty="0">
                <a:latin typeface="メイリオ" panose="020B0604030504040204" pitchFamily="50" charset="-128"/>
                <a:ea typeface="メイリオ" panose="020B0604030504040204" pitchFamily="50" charset="-128"/>
              </a:rPr>
              <a:t>オンプレ環境で完結する</a:t>
            </a:r>
            <a:r>
              <a:rPr lang="en-US" altLang="ja-JP" sz="1600" dirty="0">
                <a:latin typeface="メイリオ" panose="020B0604030504040204" pitchFamily="50" charset="-128"/>
                <a:ea typeface="メイリオ" panose="020B0604030504040204" pitchFamily="50" charset="-128"/>
              </a:rPr>
              <a:t>LLM</a:t>
            </a:r>
            <a:r>
              <a:rPr lang="ja-JP" altLang="en-US" sz="1600" dirty="0">
                <a:latin typeface="メイリオ" panose="020B0604030504040204" pitchFamily="50" charset="-128"/>
                <a:ea typeface="メイリオ" panose="020B0604030504040204" pitchFamily="50" charset="-128"/>
              </a:rPr>
              <a:t>を用いた電子カルテの構築</a:t>
            </a:r>
            <a:endParaRPr sz="1600" dirty="0">
              <a:latin typeface="メイリオ" panose="020B0604030504040204" pitchFamily="50" charset="-128"/>
              <a:ea typeface="メイリオ" panose="020B0604030504040204" pitchFamily="50" charset="-128"/>
            </a:endParaRPr>
          </a:p>
          <a:p>
            <a:pPr>
              <a:defRPr sz="900">
                <a:solidFill>
                  <a:srgbClr val="333333"/>
                </a:solidFill>
              </a:defRPr>
            </a:pPr>
            <a:r>
              <a:rPr sz="1600" dirty="0">
                <a:latin typeface="メイリオ" panose="020B0604030504040204" pitchFamily="50" charset="-128"/>
                <a:ea typeface="メイリオ" panose="020B0604030504040204" pitchFamily="50" charset="-128"/>
              </a:rPr>
              <a:t>• </a:t>
            </a:r>
            <a:r>
              <a:rPr lang="en-US" altLang="ja-JP" sz="1600" dirty="0">
                <a:latin typeface="メイリオ" panose="020B0604030504040204" pitchFamily="50" charset="-128"/>
                <a:ea typeface="メイリオ" panose="020B0604030504040204" pitchFamily="50" charset="-128"/>
              </a:rPr>
              <a:t>AI</a:t>
            </a:r>
            <a:r>
              <a:rPr lang="ja-JP" altLang="en-US" sz="1600" dirty="0">
                <a:latin typeface="メイリオ" panose="020B0604030504040204" pitchFamily="50" charset="-128"/>
                <a:ea typeface="メイリオ" panose="020B0604030504040204" pitchFamily="50" charset="-128"/>
              </a:rPr>
              <a:t>と医師の判断の整合性を可視化・評価する新指標の提案</a:t>
            </a:r>
            <a:endParaRPr sz="1600" dirty="0">
              <a:latin typeface="メイリオ" panose="020B0604030504040204" pitchFamily="50" charset="-128"/>
              <a:ea typeface="メイリオ" panose="020B0604030504040204" pitchFamily="50" charset="-128"/>
            </a:endParaRPr>
          </a:p>
        </p:txBody>
      </p:sp>
      <p:sp>
        <p:nvSpPr>
          <p:cNvPr id="39" name="タイトル 1">
            <a:extLst>
              <a:ext uri="{FF2B5EF4-FFF2-40B4-BE49-F238E27FC236}">
                <a16:creationId xmlns:a16="http://schemas.microsoft.com/office/drawing/2014/main" id="{6383F17C-C96D-B0AB-EC0B-104D278D4B8B}"/>
              </a:ext>
            </a:extLst>
          </p:cNvPr>
          <p:cNvSpPr>
            <a:spLocks noGrp="1"/>
          </p:cNvSpPr>
          <p:nvPr>
            <p:ph type="title"/>
          </p:nvPr>
        </p:nvSpPr>
        <p:spPr>
          <a:xfrm>
            <a:off x="265246" y="28777"/>
            <a:ext cx="11635914" cy="641745"/>
          </a:xfrm>
        </p:spPr>
        <p:txBody>
          <a:bodyPr vert="horz">
            <a:normAutofit fontScale="90000"/>
          </a:bodyPr>
          <a:lstStyle/>
          <a:p>
            <a:r>
              <a:rPr kumimoji="1" lang="ja-JP" altLang="en-US" dirty="0">
                <a:latin typeface="Trebuchet MS" panose="020B0603020202020204" pitchFamily="34" charset="0"/>
                <a:ea typeface="Meiryo UI" panose="020B0604030504040204" pitchFamily="50" charset="-128"/>
              </a:rPr>
              <a:t>生成</a:t>
            </a:r>
            <a:r>
              <a:rPr kumimoji="1" lang="en-US" altLang="ja-JP" dirty="0">
                <a:latin typeface="Trebuchet MS" panose="020B0603020202020204" pitchFamily="34" charset="0"/>
                <a:ea typeface="Meiryo UI" panose="020B0604030504040204" pitchFamily="50" charset="-128"/>
              </a:rPr>
              <a:t>AI</a:t>
            </a:r>
            <a:r>
              <a:rPr kumimoji="1" lang="ja-JP" altLang="en-US" dirty="0">
                <a:latin typeface="Trebuchet MS" panose="020B0603020202020204" pitchFamily="34" charset="0"/>
                <a:ea typeface="Meiryo UI" panose="020B0604030504040204" pitchFamily="50" charset="-128"/>
              </a:rPr>
              <a:t>を電子カルテと連携させる際のリスクとその対策 </a:t>
            </a:r>
            <a:endParaRPr kumimoji="1" lang="en-US" dirty="0">
              <a:latin typeface="Trebuchet MS" panose="020B0603020202020204" pitchFamily="34" charset="0"/>
              <a:ea typeface="Meiryo UI" panose="020B0604030504040204" pitchFamily="50" charset="-128"/>
            </a:endParaRPr>
          </a:p>
        </p:txBody>
      </p:sp>
      <p:cxnSp>
        <p:nvCxnSpPr>
          <p:cNvPr id="47" name="Connector 11">
            <a:extLst>
              <a:ext uri="{FF2B5EF4-FFF2-40B4-BE49-F238E27FC236}">
                <a16:creationId xmlns:a16="http://schemas.microsoft.com/office/drawing/2014/main" id="{B15DF8E3-ED97-2F85-2AF8-85DD5828C208}"/>
              </a:ext>
            </a:extLst>
          </p:cNvPr>
          <p:cNvCxnSpPr>
            <a:cxnSpLocks/>
          </p:cNvCxnSpPr>
          <p:nvPr/>
        </p:nvCxnSpPr>
        <p:spPr>
          <a:xfrm flipH="1">
            <a:off x="9692015" y="2401667"/>
            <a:ext cx="6719" cy="450332"/>
          </a:xfrm>
          <a:prstGeom prst="line">
            <a:avLst/>
          </a:prstGeom>
          <a:ln w="50800">
            <a:solidFill>
              <a:srgbClr val="DC262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8E611-336E-FC13-A705-382BBB30A085}"/>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BFB868A8-F086-A250-652E-80BD8F84898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04" imgH="405" progId="TCLayout.ActiveDocument.1">
                  <p:embed/>
                </p:oleObj>
              </mc:Choice>
              <mc:Fallback>
                <p:oleObj name="think-cellスライド" r:id="rId3" imgW="404" imgH="405" progId="TCLayout.ActiveDocument.1">
                  <p:embed/>
                  <p:pic>
                    <p:nvPicPr>
                      <p:cNvPr id="3" name="think-cell data - do not delete" hidden="1">
                        <a:extLst>
                          <a:ext uri="{FF2B5EF4-FFF2-40B4-BE49-F238E27FC236}">
                            <a16:creationId xmlns:a16="http://schemas.microsoft.com/office/drawing/2014/main" id="{BFB868A8-F086-A250-652E-80BD8F84898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5015D5E9-3D1E-73B7-12E8-21603C45CED8}"/>
              </a:ext>
            </a:extLst>
          </p:cNvPr>
          <p:cNvSpPr>
            <a:spLocks noGrp="1"/>
          </p:cNvSpPr>
          <p:nvPr>
            <p:ph type="title"/>
          </p:nvPr>
        </p:nvSpPr>
        <p:spPr>
          <a:xfrm>
            <a:off x="838200" y="28777"/>
            <a:ext cx="10515600" cy="850722"/>
          </a:xfrm>
        </p:spPr>
        <p:txBody>
          <a:bodyPr vert="horz"/>
          <a:lstStyle/>
          <a:p>
            <a:r>
              <a:rPr kumimoji="1" lang="ja-JP" altLang="en-US" dirty="0">
                <a:latin typeface="Trebuchet MS" panose="020B0603020202020204" pitchFamily="34" charset="0"/>
                <a:ea typeface="Meiryo UI" panose="020B0604030504040204" pitchFamily="50" charset="-128"/>
              </a:rPr>
              <a:t>特定したリスクについて</a:t>
            </a:r>
            <a:r>
              <a:rPr kumimoji="1" lang="en-US" altLang="ja-JP" dirty="0">
                <a:latin typeface="Trebuchet MS" panose="020B0603020202020204" pitchFamily="34" charset="0"/>
                <a:ea typeface="Meiryo UI" panose="020B0604030504040204" pitchFamily="50" charset="-128"/>
              </a:rPr>
              <a:t>(1/2)</a:t>
            </a:r>
            <a:r>
              <a:rPr kumimoji="1" lang="ja-JP" altLang="en-US" dirty="0">
                <a:latin typeface="Trebuchet MS" panose="020B0603020202020204" pitchFamily="34" charset="0"/>
                <a:ea typeface="Meiryo UI" panose="020B0604030504040204" pitchFamily="50" charset="-128"/>
              </a:rPr>
              <a:t> </a:t>
            </a:r>
            <a:endParaRPr kumimoji="1" lang="en-US" dirty="0">
              <a:latin typeface="Trebuchet MS" panose="020B0603020202020204" pitchFamily="34" charset="0"/>
              <a:ea typeface="Meiryo UI" panose="020B0604030504040204" pitchFamily="50" charset="-128"/>
            </a:endParaRPr>
          </a:p>
        </p:txBody>
      </p:sp>
      <p:grpSp>
        <p:nvGrpSpPr>
          <p:cNvPr id="5" name="グループ化 4">
            <a:extLst>
              <a:ext uri="{FF2B5EF4-FFF2-40B4-BE49-F238E27FC236}">
                <a16:creationId xmlns:a16="http://schemas.microsoft.com/office/drawing/2014/main" id="{09B301E1-B118-F9E7-CF38-7F4589C97006}"/>
              </a:ext>
            </a:extLst>
          </p:cNvPr>
          <p:cNvGrpSpPr/>
          <p:nvPr/>
        </p:nvGrpSpPr>
        <p:grpSpPr>
          <a:xfrm>
            <a:off x="941222" y="794855"/>
            <a:ext cx="10523020" cy="336349"/>
            <a:chOff x="653442" y="1983554"/>
            <a:chExt cx="3469984" cy="336349"/>
          </a:xfrm>
        </p:grpSpPr>
        <p:sp>
          <p:nvSpPr>
            <p:cNvPr id="6" name="ee4pHeader2">
              <a:extLst>
                <a:ext uri="{FF2B5EF4-FFF2-40B4-BE49-F238E27FC236}">
                  <a16:creationId xmlns:a16="http://schemas.microsoft.com/office/drawing/2014/main" id="{A4065D18-00F3-BD3C-58D0-554D0DFE67D0}"/>
                </a:ext>
              </a:extLst>
            </p:cNvPr>
            <p:cNvSpPr txBox="1"/>
            <p:nvPr/>
          </p:nvSpPr>
          <p:spPr>
            <a:xfrm>
              <a:off x="653442" y="1983554"/>
              <a:ext cx="3151498" cy="307777"/>
            </a:xfrm>
            <a:prstGeom prst="rect">
              <a:avLst/>
            </a:prstGeom>
          </p:spPr>
          <p:txBody>
            <a:bodyPr vert="horz" wrap="square" lIns="0" tIns="0" rIns="0" bIns="0" rtlCol="0" anchor="b"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2000" dirty="0">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特定したリスクの概要</a:t>
              </a:r>
              <a:endParaRPr kumimoji="0" lang="ja-JP" altLang="en-US" sz="2000" b="0" i="0" u="none" strike="noStrike" kern="1200" cap="none" spc="0" normalizeH="0" baseline="0" noProof="0" dirty="0">
                <a:ln>
                  <a:noFill/>
                </a:ln>
                <a:effectLst/>
                <a:uLnTx/>
                <a:uFillTx/>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endParaRPr>
            </a:p>
          </p:txBody>
        </p:sp>
        <p:cxnSp>
          <p:nvCxnSpPr>
            <p:cNvPr id="7" name="Straight Connector 34">
              <a:extLst>
                <a:ext uri="{FF2B5EF4-FFF2-40B4-BE49-F238E27FC236}">
                  <a16:creationId xmlns:a16="http://schemas.microsoft.com/office/drawing/2014/main" id="{AB1518A8-511C-F487-B227-492A7E9F16D5}"/>
                </a:ext>
              </a:extLst>
            </p:cNvPr>
            <p:cNvCxnSpPr>
              <a:cxnSpLocks/>
            </p:cNvCxnSpPr>
            <p:nvPr/>
          </p:nvCxnSpPr>
          <p:spPr>
            <a:xfrm>
              <a:off x="653442" y="2319903"/>
              <a:ext cx="3469984" cy="0"/>
            </a:xfrm>
            <a:prstGeom prst="line">
              <a:avLst/>
            </a:prstGeom>
            <a:ln w="9525" cap="flat"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1" name="正方形/長方形 10">
            <a:extLst>
              <a:ext uri="{FF2B5EF4-FFF2-40B4-BE49-F238E27FC236}">
                <a16:creationId xmlns:a16="http://schemas.microsoft.com/office/drawing/2014/main" id="{929512B3-7767-8B18-3C1C-E1DF6D8836E1}"/>
              </a:ext>
            </a:extLst>
          </p:cNvPr>
          <p:cNvSpPr/>
          <p:nvPr/>
        </p:nvSpPr>
        <p:spPr>
          <a:xfrm>
            <a:off x="941221" y="1277369"/>
            <a:ext cx="10560085" cy="5422746"/>
          </a:xfrm>
          <a:prstGeom prst="rect">
            <a:avLst/>
          </a:prstGeom>
          <a:noFill/>
          <a:ln w="9525" cap="rnd" cmpd="sng" algn="ctr">
            <a:solidFill>
              <a:srgbClr val="9A9A9A"/>
            </a:solidFill>
            <a:prstDash val="solid"/>
            <a:round/>
            <a:headEnd type="none" w="med" len="med"/>
            <a:tailEnd type="none" w="med" len="me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defRPr/>
            </a:pPr>
            <a:r>
              <a:rPr lang="ja-JP" altLang="en-US"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本提案では、生成</a:t>
            </a:r>
            <a:r>
              <a:rPr lang="en-US" altLang="ja-JP"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AI</a:t>
            </a:r>
            <a:r>
              <a:rPr lang="ja-JP" altLang="en-US"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が電子カルテ業務に組み込まれる際に顕在化する、以下の</a:t>
            </a:r>
            <a:r>
              <a:rPr lang="en-US" altLang="ja-JP"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3</a:t>
            </a:r>
            <a:r>
              <a:rPr lang="ja-JP" altLang="en-US"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つの重大リスクを特定した。</a:t>
            </a:r>
            <a:endParaRPr lang="en-US" altLang="ja-JP"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endParaRPr>
          </a:p>
          <a:p>
            <a:pPr>
              <a:defRPr/>
            </a:pPr>
            <a:r>
              <a:rPr lang="en-US" altLang="ja-JP"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(1) </a:t>
            </a:r>
            <a:r>
              <a:rPr lang="ja-JP" altLang="en-US"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誤診誘導（致死的ハルシネーション）</a:t>
            </a:r>
          </a:p>
          <a:p>
            <a:pPr>
              <a:defRPr/>
            </a:pPr>
            <a:r>
              <a:rPr lang="ja-JP" altLang="en-US"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　生成</a:t>
            </a:r>
            <a:r>
              <a:rPr lang="en-US" altLang="ja-JP"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AI</a:t>
            </a:r>
            <a:r>
              <a:rPr lang="ja-JP" altLang="en-US"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は、構造上の制約により事実とは異なる内容（いわゆる「ハルシネーション」）を、あたかも正しいかのように出力する特性がある。医療分野においてこの特性は、</a:t>
            </a:r>
            <a:r>
              <a:rPr lang="ja-JP" altLang="en-US" sz="1600" b="1" dirty="0">
                <a:solidFill>
                  <a:srgbClr val="C00000"/>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誤診や治療遅延、場合によっては患者の死亡といった重大な結果を招く可能性がある。</a:t>
            </a:r>
            <a:r>
              <a:rPr lang="ja-JP" altLang="en-US"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たとえば、心筋梗塞の見落としや禁忌薬の提案などは、</a:t>
            </a:r>
            <a:r>
              <a:rPr lang="en-US" altLang="ja-JP"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AI</a:t>
            </a:r>
            <a:r>
              <a:rPr lang="ja-JP" altLang="en-US"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の出力を無批判に受け入れた場合に発生しうる致命的な例である。医師が生成</a:t>
            </a:r>
            <a:r>
              <a:rPr lang="en-US" altLang="ja-JP"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AI</a:t>
            </a:r>
            <a:r>
              <a:rPr lang="ja-JP" altLang="en-US"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の出力に過度に依存してしまう「過信バイアス」によって、誤診リスクがさらに高まる可能性を重要な課題として位置づけた。</a:t>
            </a:r>
            <a:r>
              <a:rPr lang="ja-JP" altLang="en-US" sz="1600" b="1" dirty="0">
                <a:solidFill>
                  <a:srgbClr val="C00000"/>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生成</a:t>
            </a:r>
            <a:r>
              <a:rPr lang="en-US" altLang="ja-JP" sz="1600" b="1" dirty="0">
                <a:solidFill>
                  <a:srgbClr val="C00000"/>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AI</a:t>
            </a:r>
            <a:r>
              <a:rPr lang="ja-JP" altLang="en-US" sz="1600" b="1" dirty="0">
                <a:solidFill>
                  <a:srgbClr val="C00000"/>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の安全な臨床導入には、出力制御と人間による最終判断の介在が不可欠である。</a:t>
            </a:r>
            <a:endParaRPr lang="en-US" altLang="ja-JP" sz="1600" b="1" dirty="0">
              <a:solidFill>
                <a:srgbClr val="C00000"/>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endParaRPr>
          </a:p>
          <a:p>
            <a:pPr>
              <a:defRPr/>
            </a:pPr>
            <a:endParaRPr lang="en-US" altLang="ja-JP"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endParaRPr>
          </a:p>
          <a:p>
            <a:pPr>
              <a:defRPr/>
            </a:pPr>
            <a:r>
              <a:rPr lang="en-US" altLang="ja-JP"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(2) </a:t>
            </a:r>
            <a:r>
              <a:rPr lang="ja-JP" altLang="en-US"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個人情報流出（クラウド</a:t>
            </a:r>
            <a:r>
              <a:rPr lang="en-US" altLang="ja-JP"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LLM</a:t>
            </a:r>
            <a:r>
              <a:rPr lang="ja-JP" altLang="en-US"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送信による漏洩リスク）</a:t>
            </a:r>
          </a:p>
          <a:p>
            <a:pPr>
              <a:defRPr/>
            </a:pPr>
            <a:r>
              <a:rPr lang="ja-JP" altLang="en-US"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　生成</a:t>
            </a:r>
            <a:r>
              <a:rPr lang="en-US" altLang="ja-JP"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AI</a:t>
            </a:r>
            <a:r>
              <a:rPr lang="ja-JP" altLang="en-US"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を活用した医療支援では、病名・検査値・既往歴などの機微な個人情報がプロンプトとして</a:t>
            </a:r>
            <a:r>
              <a:rPr lang="en-US" altLang="ja-JP"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AI</a:t>
            </a:r>
            <a:r>
              <a:rPr lang="ja-JP" altLang="en-US"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に送信される場面が想定される。クラウド型</a:t>
            </a:r>
            <a:r>
              <a:rPr lang="en-US" altLang="ja-JP"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LLM</a:t>
            </a:r>
            <a:r>
              <a:rPr lang="ja-JP" altLang="en-US"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をそのまま使用する場合、これらの情報が国外のサーバーに転送・保存されるリスクがある。これは、</a:t>
            </a:r>
            <a:r>
              <a:rPr lang="ja-JP" altLang="en-US" sz="1600" b="1" dirty="0">
                <a:solidFill>
                  <a:srgbClr val="C00000"/>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日本の個人情報保護法や次世代医療基盤法に照らして重大な法的リスク</a:t>
            </a:r>
            <a:r>
              <a:rPr lang="ja-JP" altLang="en-US"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であり、たとえ匿名化されたとしても再識別が可能な情報が含まれていれば、法的・倫理的な問題が生じうる。特に、患者の同意なく情報を送信した場合、病院や医療機関として重大な責任を問われる可能性がある。</a:t>
            </a:r>
            <a:endParaRPr lang="en-US" altLang="ja-JP"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endParaRPr>
          </a:p>
          <a:p>
            <a:pPr>
              <a:defRPr/>
            </a:pPr>
            <a:endParaRPr lang="en-US" altLang="ja-JP"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endParaRPr>
          </a:p>
          <a:p>
            <a:pPr>
              <a:defRPr/>
            </a:pPr>
            <a:r>
              <a:rPr lang="en-US" altLang="ja-JP"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(3)</a:t>
            </a:r>
            <a:r>
              <a:rPr lang="ja-JP" altLang="en-US"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医師</a:t>
            </a:r>
            <a:r>
              <a:rPr lang="en-US" altLang="ja-JP"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a:t>
            </a:r>
            <a:r>
              <a:rPr lang="ja-JP" altLang="en-US"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患者関係の変容</a:t>
            </a:r>
            <a:endParaRPr lang="en-US" altLang="ja-JP"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endParaRPr>
          </a:p>
          <a:p>
            <a:pPr>
              <a:defRPr/>
            </a:pPr>
            <a:r>
              <a:rPr lang="ja-JP" altLang="en-US"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　生成</a:t>
            </a:r>
            <a:r>
              <a:rPr lang="en-US" altLang="ja-JP"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AI</a:t>
            </a:r>
            <a:r>
              <a:rPr lang="ja-JP" altLang="en-US"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が診療説明や患者対応に組み込まれる場面の増加に伴い、医師</a:t>
            </a:r>
            <a:r>
              <a:rPr lang="en-US" altLang="ja-JP"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a:t>
            </a:r>
            <a:r>
              <a:rPr lang="ja-JP" altLang="en-US"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患者関係に新たな構造的リスクが生じることを特定した。具体的には、</a:t>
            </a:r>
            <a:r>
              <a:rPr lang="ja-JP" altLang="en-US" sz="1600" b="1" dirty="0">
                <a:solidFill>
                  <a:srgbClr val="C00000"/>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医師が</a:t>
            </a:r>
            <a:r>
              <a:rPr lang="en-US" altLang="ja-JP" sz="1600" b="1" dirty="0">
                <a:solidFill>
                  <a:srgbClr val="C00000"/>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AI</a:t>
            </a:r>
            <a:r>
              <a:rPr lang="ja-JP" altLang="en-US" sz="1600" b="1" dirty="0">
                <a:solidFill>
                  <a:srgbClr val="C00000"/>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出力に過度に依存することで、患者との対話の質が低下し、説明責任が不透明になる可能性がある。</a:t>
            </a:r>
            <a:r>
              <a:rPr lang="ja-JP" altLang="en-US"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患者側は「</a:t>
            </a:r>
            <a:r>
              <a:rPr lang="en-US" altLang="ja-JP"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AI</a:t>
            </a:r>
            <a:r>
              <a:rPr lang="ja-JP" altLang="en-US"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が判断している」と感じ、医師への信頼や医療行為への納得感が損なわれるおそれがある。また、医師の役割と患者の理解の間にギャップが広がることで、信頼関係の構築が困難となり、結果的に医療の質と安全を脅かすリスクがある。</a:t>
            </a:r>
            <a:endParaRPr lang="en-US" altLang="ja-JP"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endParaRPr>
          </a:p>
        </p:txBody>
      </p:sp>
    </p:spTree>
    <p:extLst>
      <p:ext uri="{BB962C8B-B14F-4D97-AF65-F5344CB8AC3E}">
        <p14:creationId xmlns:p14="http://schemas.microsoft.com/office/powerpoint/2010/main" val="1775724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15CFC-22CD-9477-63DC-AACBDB730D8F}"/>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F344D28-D9F4-3688-8BD8-7BCC26C9C96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04" imgH="405" progId="TCLayout.ActiveDocument.1">
                  <p:embed/>
                </p:oleObj>
              </mc:Choice>
              <mc:Fallback>
                <p:oleObj name="think-cellスライド" r:id="rId3" imgW="404" imgH="405" progId="TCLayout.ActiveDocument.1">
                  <p:embed/>
                  <p:pic>
                    <p:nvPicPr>
                      <p:cNvPr id="3" name="think-cell data - do not delete" hidden="1">
                        <a:extLst>
                          <a:ext uri="{FF2B5EF4-FFF2-40B4-BE49-F238E27FC236}">
                            <a16:creationId xmlns:a16="http://schemas.microsoft.com/office/drawing/2014/main" id="{BFB868A8-F086-A250-652E-80BD8F84898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548EF12D-14F0-6252-4E98-B5BFFFC773A6}"/>
              </a:ext>
            </a:extLst>
          </p:cNvPr>
          <p:cNvSpPr>
            <a:spLocks noGrp="1"/>
          </p:cNvSpPr>
          <p:nvPr>
            <p:ph type="title"/>
          </p:nvPr>
        </p:nvSpPr>
        <p:spPr>
          <a:xfrm>
            <a:off x="838200" y="28777"/>
            <a:ext cx="10515600" cy="766960"/>
          </a:xfrm>
        </p:spPr>
        <p:txBody>
          <a:bodyPr vert="horz"/>
          <a:lstStyle/>
          <a:p>
            <a:r>
              <a:rPr kumimoji="1" lang="ja-JP" altLang="en-US" dirty="0">
                <a:latin typeface="Trebuchet MS" panose="020B0603020202020204" pitchFamily="34" charset="0"/>
                <a:ea typeface="Meiryo UI" panose="020B0604030504040204" pitchFamily="50" charset="-128"/>
              </a:rPr>
              <a:t>特定したリスクについて </a:t>
            </a:r>
            <a:r>
              <a:rPr kumimoji="1" lang="en-US" altLang="ja-JP" dirty="0">
                <a:latin typeface="Trebuchet MS" panose="020B0603020202020204" pitchFamily="34" charset="0"/>
                <a:ea typeface="Meiryo UI" panose="020B0604030504040204" pitchFamily="50" charset="-128"/>
              </a:rPr>
              <a:t>(2/2)</a:t>
            </a:r>
            <a:endParaRPr kumimoji="1" lang="en-US" dirty="0">
              <a:latin typeface="Trebuchet MS" panose="020B0603020202020204" pitchFamily="34" charset="0"/>
              <a:ea typeface="Meiryo UI" panose="020B0604030504040204" pitchFamily="50" charset="-128"/>
            </a:endParaRPr>
          </a:p>
        </p:txBody>
      </p:sp>
      <p:grpSp>
        <p:nvGrpSpPr>
          <p:cNvPr id="5" name="グループ化 4">
            <a:extLst>
              <a:ext uri="{FF2B5EF4-FFF2-40B4-BE49-F238E27FC236}">
                <a16:creationId xmlns:a16="http://schemas.microsoft.com/office/drawing/2014/main" id="{4A654AB9-95B3-7BB1-8AB5-66DCD7C00039}"/>
              </a:ext>
            </a:extLst>
          </p:cNvPr>
          <p:cNvGrpSpPr/>
          <p:nvPr/>
        </p:nvGrpSpPr>
        <p:grpSpPr>
          <a:xfrm>
            <a:off x="830780" y="795737"/>
            <a:ext cx="10523020" cy="336349"/>
            <a:chOff x="653442" y="1983554"/>
            <a:chExt cx="3469984" cy="336349"/>
          </a:xfrm>
        </p:grpSpPr>
        <p:sp>
          <p:nvSpPr>
            <p:cNvPr id="6" name="ee4pHeader2">
              <a:extLst>
                <a:ext uri="{FF2B5EF4-FFF2-40B4-BE49-F238E27FC236}">
                  <a16:creationId xmlns:a16="http://schemas.microsoft.com/office/drawing/2014/main" id="{B00B9F32-DC94-BA86-7368-99598157E78E}"/>
                </a:ext>
              </a:extLst>
            </p:cNvPr>
            <p:cNvSpPr txBox="1"/>
            <p:nvPr/>
          </p:nvSpPr>
          <p:spPr>
            <a:xfrm>
              <a:off x="653442" y="1983554"/>
              <a:ext cx="3151498" cy="307777"/>
            </a:xfrm>
            <a:prstGeom prst="rect">
              <a:avLst/>
            </a:prstGeom>
          </p:spPr>
          <p:txBody>
            <a:bodyPr vert="horz" wrap="square" lIns="0" tIns="0" rIns="0" bIns="0" rtlCol="0" anchor="b" anchorCtr="0">
              <a:spAutoFit/>
            </a:bodyPr>
            <a:lstStyle/>
            <a:p>
              <a:pPr>
                <a:defRPr/>
              </a:pPr>
              <a:r>
                <a:rPr lang="ja-JP" altLang="en-US" sz="2000" dirty="0">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特定したリスクの妥当性・影響度</a:t>
              </a:r>
              <a:endParaRPr lang="en-US" altLang="ja-JP" sz="2000" dirty="0">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endParaRPr>
            </a:p>
          </p:txBody>
        </p:sp>
        <p:cxnSp>
          <p:nvCxnSpPr>
            <p:cNvPr id="7" name="Straight Connector 34">
              <a:extLst>
                <a:ext uri="{FF2B5EF4-FFF2-40B4-BE49-F238E27FC236}">
                  <a16:creationId xmlns:a16="http://schemas.microsoft.com/office/drawing/2014/main" id="{76EA4266-FB7D-4DB8-D79C-DE245813B472}"/>
                </a:ext>
              </a:extLst>
            </p:cNvPr>
            <p:cNvCxnSpPr>
              <a:cxnSpLocks/>
            </p:cNvCxnSpPr>
            <p:nvPr/>
          </p:nvCxnSpPr>
          <p:spPr>
            <a:xfrm>
              <a:off x="653442" y="2319903"/>
              <a:ext cx="3469984" cy="0"/>
            </a:xfrm>
            <a:prstGeom prst="line">
              <a:avLst/>
            </a:prstGeom>
            <a:ln w="9525" cap="flat"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1" name="正方形/長方形 10">
            <a:extLst>
              <a:ext uri="{FF2B5EF4-FFF2-40B4-BE49-F238E27FC236}">
                <a16:creationId xmlns:a16="http://schemas.microsoft.com/office/drawing/2014/main" id="{496969BF-CBB5-3957-D070-32B14214FF95}"/>
              </a:ext>
            </a:extLst>
          </p:cNvPr>
          <p:cNvSpPr/>
          <p:nvPr/>
        </p:nvSpPr>
        <p:spPr>
          <a:xfrm>
            <a:off x="941222" y="1260550"/>
            <a:ext cx="10523020" cy="5471615"/>
          </a:xfrm>
          <a:prstGeom prst="rect">
            <a:avLst/>
          </a:prstGeom>
          <a:noFill/>
          <a:ln w="9525" cap="rnd" cmpd="sng" algn="ctr">
            <a:solidFill>
              <a:srgbClr val="9A9A9A"/>
            </a:solidFill>
            <a:prstDash val="solid"/>
            <a:round/>
            <a:headEnd type="none" w="med" len="med"/>
            <a:tailEnd type="none" w="med" len="me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defRPr/>
            </a:pPr>
            <a:r>
              <a:rPr lang="ja-JP" altLang="en-US"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本提案で特定した</a:t>
            </a:r>
            <a:r>
              <a:rPr lang="en-US" altLang="ja-JP"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3</a:t>
            </a:r>
            <a:r>
              <a:rPr lang="ja-JP" altLang="en-US"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大リスクは、いずれも既に現場で問題視されており、報道・文献・法制度上の裏付けもある実在の課題である。</a:t>
            </a:r>
            <a:endParaRPr lang="en-US" altLang="ja-JP"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endParaRPr>
          </a:p>
          <a:p>
            <a:pPr>
              <a:defRPr/>
            </a:pPr>
            <a:r>
              <a:rPr lang="ja-JP" altLang="en-US"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a:t>
            </a:r>
            <a:r>
              <a:rPr lang="en-US" altLang="ja-JP"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1</a:t>
            </a:r>
            <a:r>
              <a:rPr lang="ja-JP" altLang="en-US"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）誤診誘導（致死的ハルシネーション）</a:t>
            </a:r>
          </a:p>
          <a:p>
            <a:pPr>
              <a:defRPr/>
            </a:pPr>
            <a:r>
              <a:rPr lang="ja-JP" altLang="en-US"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・妥当性の根拠：</a:t>
            </a:r>
            <a:r>
              <a:rPr lang="ja-JP" altLang="en-US" sz="1600" dirty="0">
                <a:solidFill>
                  <a:schemeClr val="tx1"/>
                </a:solidFill>
                <a:latin typeface="メイリオ" panose="020B0604030504040204" pitchFamily="50" charset="-128"/>
                <a:ea typeface="メイリオ" panose="020B0604030504040204" pitchFamily="50" charset="-128"/>
              </a:rPr>
              <a:t>生成</a:t>
            </a:r>
            <a:r>
              <a:rPr lang="en-US" altLang="ja-JP" sz="1600" dirty="0">
                <a:solidFill>
                  <a:schemeClr val="tx1"/>
                </a:solidFill>
                <a:latin typeface="メイリオ" panose="020B0604030504040204" pitchFamily="50" charset="-128"/>
                <a:ea typeface="メイリオ" panose="020B0604030504040204" pitchFamily="50" charset="-128"/>
              </a:rPr>
              <a:t>AI</a:t>
            </a:r>
            <a:r>
              <a:rPr lang="ja-JP" altLang="en-US" sz="1600" dirty="0">
                <a:solidFill>
                  <a:schemeClr val="tx1"/>
                </a:solidFill>
                <a:latin typeface="メイリオ" panose="020B0604030504040204" pitchFamily="50" charset="-128"/>
                <a:ea typeface="メイリオ" panose="020B0604030504040204" pitchFamily="50" charset="-128"/>
              </a:rPr>
              <a:t>によるハルシネーションは、複数の研究で確認されており、医療文脈では特に深刻なリスクとなる。たとえば、</a:t>
            </a:r>
            <a:r>
              <a:rPr lang="en-US" altLang="ja-JP" sz="1600" dirty="0">
                <a:solidFill>
                  <a:schemeClr val="tx1"/>
                </a:solidFill>
                <a:latin typeface="メイリオ" panose="020B0604030504040204" pitchFamily="50" charset="-128"/>
                <a:ea typeface="メイリオ" panose="020B0604030504040204" pitchFamily="50" charset="-128"/>
              </a:rPr>
              <a:t>2023</a:t>
            </a:r>
            <a:r>
              <a:rPr lang="ja-JP" altLang="en-US" sz="1600" dirty="0">
                <a:solidFill>
                  <a:schemeClr val="tx1"/>
                </a:solidFill>
                <a:latin typeface="メイリオ" panose="020B0604030504040204" pitchFamily="50" charset="-128"/>
                <a:ea typeface="メイリオ" panose="020B0604030504040204" pitchFamily="50" charset="-128"/>
              </a:rPr>
              <a:t>年の論文では、大規模言語モデル（</a:t>
            </a:r>
            <a:r>
              <a:rPr lang="en-US" altLang="ja-JP" sz="1600" dirty="0">
                <a:solidFill>
                  <a:schemeClr val="tx1"/>
                </a:solidFill>
                <a:latin typeface="メイリオ" panose="020B0604030504040204" pitchFamily="50" charset="-128"/>
                <a:ea typeface="メイリオ" panose="020B0604030504040204" pitchFamily="50" charset="-128"/>
              </a:rPr>
              <a:t>LLM</a:t>
            </a:r>
            <a:r>
              <a:rPr lang="ja-JP" altLang="en-US" sz="1600" dirty="0">
                <a:solidFill>
                  <a:schemeClr val="tx1"/>
                </a:solidFill>
                <a:latin typeface="メイリオ" panose="020B0604030504040204" pitchFamily="50" charset="-128"/>
                <a:ea typeface="メイリオ" panose="020B0604030504040204" pitchFamily="50" charset="-128"/>
              </a:rPr>
              <a:t>）が医療診断や治療提案において</a:t>
            </a:r>
            <a:r>
              <a:rPr lang="ja-JP" altLang="en-US" sz="1600" b="1" dirty="0">
                <a:solidFill>
                  <a:srgbClr val="C00000"/>
                </a:solidFill>
                <a:latin typeface="メイリオ" panose="020B0604030504040204" pitchFamily="50" charset="-128"/>
                <a:ea typeface="メイリオ" panose="020B0604030504040204" pitchFamily="50" charset="-128"/>
              </a:rPr>
              <a:t>事実と異なる情報を提示する可能性</a:t>
            </a:r>
            <a:r>
              <a:rPr lang="ja-JP" altLang="en-US" sz="1600" dirty="0">
                <a:solidFill>
                  <a:schemeClr val="tx1"/>
                </a:solidFill>
                <a:latin typeface="メイリオ" panose="020B0604030504040204" pitchFamily="50" charset="-128"/>
                <a:ea typeface="メイリオ" panose="020B0604030504040204" pitchFamily="50" charset="-128"/>
              </a:rPr>
              <a:t>があり、</a:t>
            </a:r>
            <a:r>
              <a:rPr lang="ja-JP" altLang="en-US" sz="1600" b="1" dirty="0">
                <a:solidFill>
                  <a:srgbClr val="C00000"/>
                </a:solidFill>
                <a:latin typeface="メイリオ" panose="020B0604030504040204" pitchFamily="50" charset="-128"/>
                <a:ea typeface="メイリオ" panose="020B0604030504040204" pitchFamily="50" charset="-128"/>
              </a:rPr>
              <a:t>誤診や不要な治療の引き金になり得る</a:t>
            </a:r>
            <a:r>
              <a:rPr lang="ja-JP" altLang="en-US" sz="1600" dirty="0">
                <a:solidFill>
                  <a:schemeClr val="tx1"/>
                </a:solidFill>
                <a:latin typeface="メイリオ" panose="020B0604030504040204" pitchFamily="50" charset="-128"/>
                <a:ea typeface="メイリオ" panose="020B0604030504040204" pitchFamily="50" charset="-128"/>
              </a:rPr>
              <a:t>ことが報告されている（</a:t>
            </a:r>
            <a:r>
              <a:rPr lang="en-US" altLang="ja-JP" sz="1600" dirty="0">
                <a:solidFill>
                  <a:schemeClr val="tx1"/>
                </a:solidFill>
                <a:latin typeface="メイリオ" panose="020B0604030504040204" pitchFamily="50" charset="-128"/>
                <a:ea typeface="メイリオ" panose="020B0604030504040204" pitchFamily="50" charset="-128"/>
              </a:rPr>
              <a:t>Nature 2023, Science 2024</a:t>
            </a:r>
            <a:r>
              <a:rPr lang="ja-JP" altLang="en-US" sz="1600" dirty="0">
                <a:solidFill>
                  <a:schemeClr val="tx1"/>
                </a:solidFill>
                <a:latin typeface="メイリオ" panose="020B0604030504040204" pitchFamily="50" charset="-128"/>
                <a:ea typeface="メイリオ" panose="020B0604030504040204" pitchFamily="50" charset="-128"/>
              </a:rPr>
              <a:t>）。また、臨床医が</a:t>
            </a:r>
            <a:r>
              <a:rPr lang="en-US" altLang="ja-JP" sz="1600" dirty="0">
                <a:solidFill>
                  <a:schemeClr val="tx1"/>
                </a:solidFill>
                <a:latin typeface="メイリオ" panose="020B0604030504040204" pitchFamily="50" charset="-128"/>
                <a:ea typeface="メイリオ" panose="020B0604030504040204" pitchFamily="50" charset="-128"/>
              </a:rPr>
              <a:t>AI</a:t>
            </a:r>
            <a:r>
              <a:rPr lang="ja-JP" altLang="en-US" sz="1600" dirty="0">
                <a:solidFill>
                  <a:schemeClr val="tx1"/>
                </a:solidFill>
                <a:latin typeface="メイリオ" panose="020B0604030504040204" pitchFamily="50" charset="-128"/>
                <a:ea typeface="メイリオ" panose="020B0604030504040204" pitchFamily="50" charset="-128"/>
              </a:rPr>
              <a:t>出力を過信する傾向も実証的に確認されている（</a:t>
            </a:r>
            <a:r>
              <a:rPr lang="en-US" altLang="ja-JP" sz="1600" dirty="0">
                <a:solidFill>
                  <a:schemeClr val="tx1"/>
                </a:solidFill>
                <a:latin typeface="メイリオ" panose="020B0604030504040204" pitchFamily="50" charset="-128"/>
                <a:ea typeface="メイリオ" panose="020B0604030504040204" pitchFamily="50" charset="-128"/>
              </a:rPr>
              <a:t>AMIA </a:t>
            </a:r>
            <a:r>
              <a:rPr lang="en-US" altLang="ja-JP" sz="1600" dirty="0" err="1">
                <a:solidFill>
                  <a:schemeClr val="tx1"/>
                </a:solidFill>
                <a:latin typeface="メイリオ" panose="020B0604030504040204" pitchFamily="50" charset="-128"/>
                <a:ea typeface="メイリオ" panose="020B0604030504040204" pitchFamily="50" charset="-128"/>
              </a:rPr>
              <a:t>Jt</a:t>
            </a:r>
            <a:r>
              <a:rPr lang="en-US" altLang="ja-JP" sz="1600" dirty="0">
                <a:solidFill>
                  <a:schemeClr val="tx1"/>
                </a:solidFill>
                <a:latin typeface="メイリオ" panose="020B0604030504040204" pitchFamily="50" charset="-128"/>
                <a:ea typeface="メイリオ" panose="020B0604030504040204" pitchFamily="50" charset="-128"/>
              </a:rPr>
              <a:t> Summits </a:t>
            </a:r>
            <a:r>
              <a:rPr lang="en-US" altLang="ja-JP" sz="1600" dirty="0" err="1">
                <a:solidFill>
                  <a:schemeClr val="tx1"/>
                </a:solidFill>
                <a:latin typeface="メイリオ" panose="020B0604030504040204" pitchFamily="50" charset="-128"/>
                <a:ea typeface="メイリオ" panose="020B0604030504040204" pitchFamily="50" charset="-128"/>
              </a:rPr>
              <a:t>Transl</a:t>
            </a:r>
            <a:r>
              <a:rPr lang="en-US" altLang="ja-JP" sz="1600" dirty="0">
                <a:solidFill>
                  <a:schemeClr val="tx1"/>
                </a:solidFill>
                <a:latin typeface="メイリオ" panose="020B0604030504040204" pitchFamily="50" charset="-128"/>
                <a:ea typeface="メイリオ" panose="020B0604030504040204" pitchFamily="50" charset="-128"/>
              </a:rPr>
              <a:t> Sci Proc. 2023</a:t>
            </a:r>
            <a:r>
              <a:rPr lang="ja-JP" altLang="en-US" sz="1600" dirty="0">
                <a:solidFill>
                  <a:schemeClr val="tx1"/>
                </a:solidFill>
                <a:latin typeface="メイリオ" panose="020B0604030504040204" pitchFamily="50" charset="-128"/>
                <a:ea typeface="メイリオ" panose="020B0604030504040204" pitchFamily="50" charset="-128"/>
              </a:rPr>
              <a:t>）。</a:t>
            </a:r>
            <a:endParaRPr lang="ja-JP" altLang="en-US" sz="1600" dirty="0">
              <a:solidFill>
                <a:schemeClr val="tx1"/>
              </a:solidFill>
              <a:latin typeface="メイリオ" panose="020B0604030504040204" pitchFamily="50" charset="-128"/>
              <a:ea typeface="メイリオ" panose="020B0604030504040204" pitchFamily="50" charset="-128"/>
              <a:cs typeface="Meiryo UI" panose="020B0604030504040204" pitchFamily="34" charset="-128"/>
              <a:sym typeface="Meiryo UI" panose="020B0604030504040204" pitchFamily="50" charset="-128"/>
            </a:endParaRPr>
          </a:p>
          <a:p>
            <a:pPr>
              <a:defRPr/>
            </a:pPr>
            <a:r>
              <a:rPr lang="ja-JP" altLang="en-US"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・影響度：</a:t>
            </a:r>
            <a:r>
              <a:rPr lang="ja-JP" altLang="en-US" sz="1600" dirty="0">
                <a:solidFill>
                  <a:schemeClr val="tx1"/>
                </a:solidFill>
                <a:latin typeface="メイリオ" panose="020B0604030504040204" pitchFamily="50" charset="-128"/>
                <a:ea typeface="メイリオ" panose="020B0604030504040204" pitchFamily="50" charset="-128"/>
              </a:rPr>
              <a:t>誤診や治療ミスに直結する可能性があり、</a:t>
            </a:r>
            <a:r>
              <a:rPr lang="ja-JP" altLang="en-US" sz="1600" b="1" dirty="0">
                <a:solidFill>
                  <a:srgbClr val="C00000"/>
                </a:solidFill>
                <a:latin typeface="メイリオ" panose="020B0604030504040204" pitchFamily="50" charset="-128"/>
                <a:ea typeface="メイリオ" panose="020B0604030504040204" pitchFamily="50" charset="-128"/>
              </a:rPr>
              <a:t>患者の死亡・後遺障害などの重大な健康被害</a:t>
            </a:r>
            <a:r>
              <a:rPr lang="ja-JP" altLang="en-US" sz="1600" dirty="0">
                <a:solidFill>
                  <a:schemeClr val="tx1"/>
                </a:solidFill>
                <a:latin typeface="メイリオ" panose="020B0604030504040204" pitchFamily="50" charset="-128"/>
                <a:ea typeface="メイリオ" panose="020B0604030504040204" pitchFamily="50" charset="-128"/>
              </a:rPr>
              <a:t>を引き起こすリスクがある。</a:t>
            </a:r>
            <a:endParaRPr lang="ja-JP" altLang="en-US"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endParaRPr>
          </a:p>
          <a:p>
            <a:pPr>
              <a:defRPr/>
            </a:pPr>
            <a:r>
              <a:rPr lang="ja-JP" altLang="en-US"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a:t>
            </a:r>
            <a:r>
              <a:rPr lang="en-US" altLang="ja-JP"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2</a:t>
            </a:r>
            <a:r>
              <a:rPr lang="ja-JP" altLang="en-US"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）個人情報の流出（クラウド</a:t>
            </a:r>
            <a:r>
              <a:rPr lang="en-US" altLang="ja-JP"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LLM</a:t>
            </a:r>
            <a:r>
              <a:rPr lang="ja-JP" altLang="en-US"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への送信による漏洩リスク）</a:t>
            </a:r>
          </a:p>
          <a:p>
            <a:pPr>
              <a:defRPr/>
            </a:pPr>
            <a:r>
              <a:rPr lang="ja-JP" altLang="en-US"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・妥当性の根拠：</a:t>
            </a:r>
            <a:r>
              <a:rPr lang="en-US" altLang="ja-JP"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ChatGPT</a:t>
            </a:r>
            <a:r>
              <a:rPr lang="ja-JP" altLang="en-US"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などクラウド</a:t>
            </a:r>
            <a:r>
              <a:rPr lang="en-US" altLang="ja-JP"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LLM</a:t>
            </a:r>
            <a:r>
              <a:rPr lang="ja-JP" altLang="en-US"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の利用が進む中、厚生労働省通知や医療機関の倫理指針において、</a:t>
            </a:r>
            <a:r>
              <a:rPr lang="ja-JP" altLang="en-US" sz="1600" b="1" dirty="0">
                <a:solidFill>
                  <a:srgbClr val="C00000"/>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個人情報漏洩リスクが明確に指摘されている。</a:t>
            </a:r>
            <a:r>
              <a:rPr lang="ja-JP" altLang="en-US"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特に診療情報は「要配慮個人情報」として厳重な管理が求められる。</a:t>
            </a:r>
            <a:endParaRPr lang="en-US" altLang="ja-JP"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endParaRPr>
          </a:p>
          <a:p>
            <a:pPr>
              <a:defRPr/>
            </a:pPr>
            <a:r>
              <a:rPr lang="ja-JP" altLang="en-US"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・影響度：要配慮個人情報が国外サーバーに送信されれば、個人情報保護法・次世代医療基盤法に抵触し、医療機関の信頼失墜や行政処分の可能性がある。</a:t>
            </a:r>
          </a:p>
          <a:p>
            <a:pPr>
              <a:defRPr/>
            </a:pPr>
            <a:r>
              <a:rPr lang="ja-JP" altLang="en-US"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a:t>
            </a:r>
            <a:r>
              <a:rPr lang="en-US" altLang="ja-JP"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3</a:t>
            </a:r>
            <a:r>
              <a:rPr lang="ja-JP" altLang="en-US"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）医師</a:t>
            </a:r>
            <a:r>
              <a:rPr lang="en-US" altLang="ja-JP"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a:t>
            </a:r>
            <a:r>
              <a:rPr lang="ja-JP" altLang="en-US"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患者関係の変容</a:t>
            </a:r>
            <a:endParaRPr lang="en-US" altLang="ja-JP"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endParaRPr>
          </a:p>
          <a:p>
            <a:pPr>
              <a:defRPr/>
            </a:pPr>
            <a:r>
              <a:rPr lang="ja-JP" altLang="en-US"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・妥当性の根拠：</a:t>
            </a:r>
            <a:r>
              <a:rPr lang="ja-JP" altLang="en-US" sz="1600" dirty="0">
                <a:solidFill>
                  <a:schemeClr val="tx1"/>
                </a:solidFill>
                <a:latin typeface="メイリオ" panose="020B0604030504040204" pitchFamily="50" charset="-128"/>
                <a:ea typeface="メイリオ" panose="020B0604030504040204" pitchFamily="50" charset="-128"/>
              </a:rPr>
              <a:t>生成</a:t>
            </a:r>
            <a:r>
              <a:rPr lang="en-US" altLang="ja-JP" sz="1600" dirty="0">
                <a:solidFill>
                  <a:schemeClr val="tx1"/>
                </a:solidFill>
                <a:latin typeface="メイリオ" panose="020B0604030504040204" pitchFamily="50" charset="-128"/>
                <a:ea typeface="メイリオ" panose="020B0604030504040204" pitchFamily="50" charset="-128"/>
              </a:rPr>
              <a:t>AI</a:t>
            </a:r>
            <a:r>
              <a:rPr lang="ja-JP" altLang="en-US" sz="1600" dirty="0">
                <a:solidFill>
                  <a:schemeClr val="tx1"/>
                </a:solidFill>
                <a:latin typeface="メイリオ" panose="020B0604030504040204" pitchFamily="50" charset="-128"/>
                <a:ea typeface="メイリオ" panose="020B0604030504040204" pitchFamily="50" charset="-128"/>
              </a:rPr>
              <a:t>による説明補助や診断提示の活用が進むなか、</a:t>
            </a:r>
            <a:r>
              <a:rPr lang="ja-JP" altLang="en-US" sz="1600" b="1" dirty="0">
                <a:solidFill>
                  <a:srgbClr val="C00000"/>
                </a:solidFill>
                <a:latin typeface="メイリオ" panose="020B0604030504040204" pitchFamily="50" charset="-128"/>
                <a:ea typeface="メイリオ" panose="020B0604030504040204" pitchFamily="50" charset="-128"/>
              </a:rPr>
              <a:t>医師による言語的コミュニケーションの重要性が薄れる懸念</a:t>
            </a:r>
            <a:r>
              <a:rPr lang="ja-JP" altLang="en-US" sz="1600" dirty="0">
                <a:solidFill>
                  <a:schemeClr val="tx1"/>
                </a:solidFill>
                <a:latin typeface="メイリオ" panose="020B0604030504040204" pitchFamily="50" charset="-128"/>
                <a:ea typeface="メイリオ" panose="020B0604030504040204" pitchFamily="50" charset="-128"/>
              </a:rPr>
              <a:t>が国内外で指摘されている（</a:t>
            </a:r>
            <a:r>
              <a:rPr lang="en-US" altLang="ja-JP" sz="1600" dirty="0">
                <a:solidFill>
                  <a:schemeClr val="tx1"/>
                </a:solidFill>
                <a:latin typeface="メイリオ" panose="020B0604030504040204" pitchFamily="50" charset="-128"/>
                <a:ea typeface="メイリオ" panose="020B0604030504040204" pitchFamily="50" charset="-128"/>
              </a:rPr>
              <a:t>BMJ 2023, JAMA 2024</a:t>
            </a:r>
            <a:r>
              <a:rPr lang="ja-JP" altLang="en-US" sz="1600" dirty="0">
                <a:solidFill>
                  <a:schemeClr val="tx1"/>
                </a:solidFill>
                <a:latin typeface="メイリオ" panose="020B0604030504040204" pitchFamily="50" charset="-128"/>
                <a:ea typeface="メイリオ" panose="020B0604030504040204" pitchFamily="50" charset="-128"/>
              </a:rPr>
              <a:t>）。とくに説明責任や信頼関係において、</a:t>
            </a:r>
            <a:r>
              <a:rPr lang="en-US" altLang="ja-JP" sz="1600" dirty="0">
                <a:solidFill>
                  <a:schemeClr val="tx1"/>
                </a:solidFill>
                <a:latin typeface="メイリオ" panose="020B0604030504040204" pitchFamily="50" charset="-128"/>
                <a:ea typeface="メイリオ" panose="020B0604030504040204" pitchFamily="50" charset="-128"/>
              </a:rPr>
              <a:t>AI</a:t>
            </a:r>
            <a:r>
              <a:rPr lang="ja-JP" altLang="en-US" sz="1600" dirty="0">
                <a:solidFill>
                  <a:schemeClr val="tx1"/>
                </a:solidFill>
                <a:latin typeface="メイリオ" panose="020B0604030504040204" pitchFamily="50" charset="-128"/>
                <a:ea typeface="メイリオ" panose="020B0604030504040204" pitchFamily="50" charset="-128"/>
              </a:rPr>
              <a:t>に依存しすぎることが患者の納得感や安心感の低下を招く可能性がある。</a:t>
            </a:r>
            <a:endParaRPr lang="ja-JP" altLang="en-US" sz="1600" dirty="0">
              <a:solidFill>
                <a:schemeClr val="tx1"/>
              </a:solidFill>
              <a:latin typeface="メイリオ" panose="020B0604030504040204" pitchFamily="50" charset="-128"/>
              <a:ea typeface="メイリオ" panose="020B0604030504040204" pitchFamily="50" charset="-128"/>
              <a:cs typeface="Meiryo UI" panose="020B0604030504040204" pitchFamily="34" charset="-128"/>
              <a:sym typeface="Meiryo UI" panose="020B0604030504040204" pitchFamily="50" charset="-128"/>
            </a:endParaRPr>
          </a:p>
          <a:p>
            <a:pPr>
              <a:defRPr/>
            </a:pPr>
            <a:r>
              <a:rPr lang="ja-JP" altLang="en-US"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・影響度：信頼関係の希薄化によるインフォームドコンセントの形骸化、患者の不安や医療不信の増幅など、医療の質と安全性に長期的な影響を及ぼすリスクがある。</a:t>
            </a:r>
            <a:endParaRPr lang="en-US" altLang="ja-JP" sz="1600"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endParaRPr>
          </a:p>
        </p:txBody>
      </p:sp>
    </p:spTree>
    <p:extLst>
      <p:ext uri="{BB962C8B-B14F-4D97-AF65-F5344CB8AC3E}">
        <p14:creationId xmlns:p14="http://schemas.microsoft.com/office/powerpoint/2010/main" val="2686862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4124F-1BD7-25CB-85AA-15A57C9D8C5D}"/>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09EBC3D7-A048-3058-9F6B-51D713ACFC30}"/>
              </a:ext>
            </a:extLst>
          </p:cNvPr>
          <p:cNvSpPr/>
          <p:nvPr/>
        </p:nvSpPr>
        <p:spPr>
          <a:xfrm>
            <a:off x="157480" y="891275"/>
            <a:ext cx="4114800" cy="2004904"/>
          </a:xfrm>
          <a:prstGeom prst="roundRect">
            <a:avLst/>
          </a:prstGeom>
          <a:solidFill>
            <a:srgbClr val="FEE2E2"/>
          </a:solidFill>
          <a:ln w="381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23CACE8B-2EA1-C5DB-F052-AA8594DA45A3}"/>
              </a:ext>
            </a:extLst>
          </p:cNvPr>
          <p:cNvSpPr txBox="1"/>
          <p:nvPr/>
        </p:nvSpPr>
        <p:spPr>
          <a:xfrm>
            <a:off x="1168401" y="1011253"/>
            <a:ext cx="2001520" cy="400110"/>
          </a:xfrm>
          <a:prstGeom prst="rect">
            <a:avLst/>
          </a:prstGeom>
          <a:noFill/>
        </p:spPr>
        <p:txBody>
          <a:bodyPr wrap="square">
            <a:spAutoFit/>
          </a:bodyPr>
          <a:lstStyle/>
          <a:p>
            <a:pPr algn="ctr">
              <a:defRPr sz="1800" b="1">
                <a:solidFill>
                  <a:srgbClr val="DC2626"/>
                </a:solidFill>
              </a:defRPr>
            </a:pPr>
            <a:r>
              <a:rPr sz="2000" dirty="0" err="1">
                <a:latin typeface="メイリオ" panose="020B0604030504040204" pitchFamily="50" charset="-128"/>
                <a:ea typeface="メイリオ" panose="020B0604030504040204" pitchFamily="50" charset="-128"/>
              </a:rPr>
              <a:t>リスク要因</a:t>
            </a:r>
            <a:endParaRPr sz="2000" dirty="0">
              <a:latin typeface="メイリオ" panose="020B0604030504040204" pitchFamily="50" charset="-128"/>
              <a:ea typeface="メイリオ" panose="020B0604030504040204" pitchFamily="50" charset="-128"/>
            </a:endParaRPr>
          </a:p>
        </p:txBody>
      </p:sp>
      <p:sp>
        <p:nvSpPr>
          <p:cNvPr id="6" name="Rounded Rectangle 5">
            <a:extLst>
              <a:ext uri="{FF2B5EF4-FFF2-40B4-BE49-F238E27FC236}">
                <a16:creationId xmlns:a16="http://schemas.microsoft.com/office/drawing/2014/main" id="{36EBE355-1B4B-BF08-B84E-B77FBFDEBE5A}"/>
              </a:ext>
            </a:extLst>
          </p:cNvPr>
          <p:cNvSpPr/>
          <p:nvPr/>
        </p:nvSpPr>
        <p:spPr>
          <a:xfrm>
            <a:off x="387770" y="1452880"/>
            <a:ext cx="3566160" cy="384274"/>
          </a:xfrm>
          <a:prstGeom prst="roundRect">
            <a:avLst/>
          </a:prstGeom>
          <a:solidFill>
            <a:srgbClr val="FEF2F2"/>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B3054491-87A5-60CA-D192-A4B355804284}"/>
              </a:ext>
            </a:extLst>
          </p:cNvPr>
          <p:cNvSpPr txBox="1"/>
          <p:nvPr/>
        </p:nvSpPr>
        <p:spPr>
          <a:xfrm>
            <a:off x="1018756" y="1498600"/>
            <a:ext cx="2242603" cy="338554"/>
          </a:xfrm>
          <a:prstGeom prst="rect">
            <a:avLst/>
          </a:prstGeom>
          <a:noFill/>
        </p:spPr>
        <p:txBody>
          <a:bodyPr wrap="square">
            <a:spAutoFit/>
          </a:bodyPr>
          <a:lstStyle/>
          <a:p>
            <a:pPr algn="ctr">
              <a:defRPr sz="1400" b="1">
                <a:solidFill>
                  <a:srgbClr val="DC2626"/>
                </a:solidFill>
              </a:defRPr>
            </a:pPr>
            <a:r>
              <a:rPr lang="ja-JP" altLang="en-US" sz="1600" dirty="0">
                <a:latin typeface="メイリオ" panose="020B0604030504040204" pitchFamily="50" charset="-128"/>
                <a:ea typeface="メイリオ" panose="020B0604030504040204" pitchFamily="50" charset="-128"/>
              </a:rPr>
              <a:t>ハルシネーション</a:t>
            </a:r>
            <a:endParaRPr sz="1600" dirty="0">
              <a:latin typeface="メイリオ" panose="020B0604030504040204" pitchFamily="50" charset="-128"/>
              <a:ea typeface="メイリオ" panose="020B0604030504040204" pitchFamily="50" charset="-128"/>
            </a:endParaRPr>
          </a:p>
        </p:txBody>
      </p:sp>
      <p:sp>
        <p:nvSpPr>
          <p:cNvPr id="8" name="Rounded Rectangle 7">
            <a:extLst>
              <a:ext uri="{FF2B5EF4-FFF2-40B4-BE49-F238E27FC236}">
                <a16:creationId xmlns:a16="http://schemas.microsoft.com/office/drawing/2014/main" id="{B52BC442-92C8-7ADE-DEE0-5131345CEC43}"/>
              </a:ext>
            </a:extLst>
          </p:cNvPr>
          <p:cNvSpPr/>
          <p:nvPr/>
        </p:nvSpPr>
        <p:spPr>
          <a:xfrm>
            <a:off x="397927" y="1925319"/>
            <a:ext cx="3566160" cy="338554"/>
          </a:xfrm>
          <a:prstGeom prst="roundRect">
            <a:avLst/>
          </a:prstGeom>
          <a:solidFill>
            <a:srgbClr val="FEF2F2"/>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33158212-1BA1-E51E-172C-835EBFAAD9F2}"/>
              </a:ext>
            </a:extLst>
          </p:cNvPr>
          <p:cNvSpPr txBox="1"/>
          <p:nvPr/>
        </p:nvSpPr>
        <p:spPr>
          <a:xfrm>
            <a:off x="889233" y="1925319"/>
            <a:ext cx="2646727" cy="338554"/>
          </a:xfrm>
          <a:prstGeom prst="rect">
            <a:avLst/>
          </a:prstGeom>
          <a:noFill/>
        </p:spPr>
        <p:txBody>
          <a:bodyPr wrap="square">
            <a:spAutoFit/>
          </a:bodyPr>
          <a:lstStyle/>
          <a:p>
            <a:pPr algn="ctr">
              <a:defRPr sz="1400" b="1">
                <a:solidFill>
                  <a:srgbClr val="DC2626"/>
                </a:solidFill>
              </a:defRPr>
            </a:pPr>
            <a:r>
              <a:rPr lang="ja-JP" altLang="en-US" sz="1600" dirty="0">
                <a:latin typeface="メイリオ" panose="020B0604030504040204" pitchFamily="50" charset="-128"/>
                <a:ea typeface="メイリオ" panose="020B0604030504040204" pitchFamily="50" charset="-128"/>
              </a:rPr>
              <a:t>評価と治療計画の不一致</a:t>
            </a:r>
            <a:endParaRPr sz="1600" dirty="0">
              <a:latin typeface="メイリオ" panose="020B0604030504040204" pitchFamily="50" charset="-128"/>
              <a:ea typeface="メイリオ" panose="020B0604030504040204" pitchFamily="50" charset="-128"/>
            </a:endParaRPr>
          </a:p>
        </p:txBody>
      </p:sp>
      <p:sp>
        <p:nvSpPr>
          <p:cNvPr id="10" name="Rounded Rectangle 9">
            <a:extLst>
              <a:ext uri="{FF2B5EF4-FFF2-40B4-BE49-F238E27FC236}">
                <a16:creationId xmlns:a16="http://schemas.microsoft.com/office/drawing/2014/main" id="{9A2D754C-1729-1107-480A-3F127096AA0E}"/>
              </a:ext>
            </a:extLst>
          </p:cNvPr>
          <p:cNvSpPr/>
          <p:nvPr/>
        </p:nvSpPr>
        <p:spPr>
          <a:xfrm>
            <a:off x="381092" y="2358401"/>
            <a:ext cx="3566160" cy="338554"/>
          </a:xfrm>
          <a:prstGeom prst="roundRect">
            <a:avLst/>
          </a:prstGeom>
          <a:solidFill>
            <a:srgbClr val="FEF2F2"/>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8BFE758A-991A-55B5-F023-C34AF22B904B}"/>
              </a:ext>
            </a:extLst>
          </p:cNvPr>
          <p:cNvSpPr txBox="1"/>
          <p:nvPr/>
        </p:nvSpPr>
        <p:spPr>
          <a:xfrm>
            <a:off x="1168401" y="2360503"/>
            <a:ext cx="2092958" cy="338554"/>
          </a:xfrm>
          <a:prstGeom prst="rect">
            <a:avLst/>
          </a:prstGeom>
          <a:noFill/>
        </p:spPr>
        <p:txBody>
          <a:bodyPr wrap="square">
            <a:spAutoFit/>
          </a:bodyPr>
          <a:lstStyle/>
          <a:p>
            <a:pPr algn="ctr">
              <a:defRPr sz="1400" b="1">
                <a:solidFill>
                  <a:srgbClr val="DC2626"/>
                </a:solidFill>
              </a:defRPr>
            </a:pPr>
            <a:r>
              <a:rPr lang="ja-JP" altLang="en-US" sz="1600" dirty="0">
                <a:latin typeface="メイリオ" panose="020B0604030504040204" pitchFamily="50" charset="-128"/>
                <a:ea typeface="メイリオ" panose="020B0604030504040204" pitchFamily="50" charset="-128"/>
              </a:rPr>
              <a:t>医師の</a:t>
            </a:r>
            <a:r>
              <a:rPr lang="en-US" altLang="ja-JP" sz="1600" dirty="0">
                <a:latin typeface="メイリオ" panose="020B0604030504040204" pitchFamily="50" charset="-128"/>
                <a:ea typeface="メイリオ" panose="020B0604030504040204" pitchFamily="50" charset="-128"/>
              </a:rPr>
              <a:t>AI</a:t>
            </a:r>
            <a:r>
              <a:rPr lang="ja-JP" altLang="en-US" sz="1600" dirty="0">
                <a:latin typeface="メイリオ" panose="020B0604030504040204" pitchFamily="50" charset="-128"/>
                <a:ea typeface="メイリオ" panose="020B0604030504040204" pitchFamily="50" charset="-128"/>
              </a:rPr>
              <a:t>への過信</a:t>
            </a:r>
            <a:endParaRPr sz="1600" dirty="0">
              <a:latin typeface="メイリオ" panose="020B0604030504040204" pitchFamily="50" charset="-128"/>
              <a:ea typeface="メイリオ" panose="020B0604030504040204" pitchFamily="50" charset="-128"/>
            </a:endParaRPr>
          </a:p>
        </p:txBody>
      </p:sp>
      <p:sp>
        <p:nvSpPr>
          <p:cNvPr id="13" name="Rounded Rectangle 12">
            <a:extLst>
              <a:ext uri="{FF2B5EF4-FFF2-40B4-BE49-F238E27FC236}">
                <a16:creationId xmlns:a16="http://schemas.microsoft.com/office/drawing/2014/main" id="{DD6AC3B9-D41B-F206-C6AC-5B14827DD3B6}"/>
              </a:ext>
            </a:extLst>
          </p:cNvPr>
          <p:cNvSpPr/>
          <p:nvPr/>
        </p:nvSpPr>
        <p:spPr>
          <a:xfrm>
            <a:off x="5159189" y="873446"/>
            <a:ext cx="4114800" cy="2013368"/>
          </a:xfrm>
          <a:prstGeom prst="roundRect">
            <a:avLst/>
          </a:prstGeom>
          <a:solidFill>
            <a:srgbClr val="DCFCE7"/>
          </a:solidFill>
          <a:ln w="381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8A0A43A6-70A8-9C40-D95B-935C4D82B99F}"/>
              </a:ext>
            </a:extLst>
          </p:cNvPr>
          <p:cNvSpPr txBox="1"/>
          <p:nvPr/>
        </p:nvSpPr>
        <p:spPr>
          <a:xfrm>
            <a:off x="6828750" y="1027009"/>
            <a:ext cx="697628" cy="400110"/>
          </a:xfrm>
          <a:prstGeom prst="rect">
            <a:avLst/>
          </a:prstGeom>
          <a:noFill/>
        </p:spPr>
        <p:txBody>
          <a:bodyPr wrap="none">
            <a:spAutoFit/>
          </a:bodyPr>
          <a:lstStyle/>
          <a:p>
            <a:pPr algn="ctr">
              <a:defRPr sz="1800" b="1">
                <a:solidFill>
                  <a:srgbClr val="16A34A"/>
                </a:solidFill>
              </a:defRPr>
            </a:pPr>
            <a:r>
              <a:rPr sz="2000" dirty="0" err="1">
                <a:latin typeface="メイリオ" panose="020B0604030504040204" pitchFamily="50" charset="-128"/>
                <a:ea typeface="メイリオ" panose="020B0604030504040204" pitchFamily="50" charset="-128"/>
              </a:rPr>
              <a:t>対策</a:t>
            </a:r>
            <a:endParaRPr sz="2000" dirty="0">
              <a:latin typeface="メイリオ" panose="020B0604030504040204" pitchFamily="50" charset="-128"/>
              <a:ea typeface="メイリオ" panose="020B0604030504040204" pitchFamily="50" charset="-128"/>
            </a:endParaRPr>
          </a:p>
        </p:txBody>
      </p:sp>
      <p:sp>
        <p:nvSpPr>
          <p:cNvPr id="15" name="Rounded Rectangle 14">
            <a:extLst>
              <a:ext uri="{FF2B5EF4-FFF2-40B4-BE49-F238E27FC236}">
                <a16:creationId xmlns:a16="http://schemas.microsoft.com/office/drawing/2014/main" id="{DC95E7A6-4EDD-91E4-2995-324C60F91C03}"/>
              </a:ext>
            </a:extLst>
          </p:cNvPr>
          <p:cNvSpPr/>
          <p:nvPr/>
        </p:nvSpPr>
        <p:spPr>
          <a:xfrm>
            <a:off x="5387133" y="1449696"/>
            <a:ext cx="3566160" cy="358989"/>
          </a:xfrm>
          <a:prstGeom prst="roundRect">
            <a:avLst/>
          </a:prstGeom>
          <a:solidFill>
            <a:srgbClr val="F0FDF4"/>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8BBD7075-7B67-5331-5A48-B9CC982034C2}"/>
              </a:ext>
            </a:extLst>
          </p:cNvPr>
          <p:cNvSpPr txBox="1"/>
          <p:nvPr/>
        </p:nvSpPr>
        <p:spPr>
          <a:xfrm>
            <a:off x="6062499" y="1486038"/>
            <a:ext cx="2215427" cy="307777"/>
          </a:xfrm>
          <a:prstGeom prst="rect">
            <a:avLst/>
          </a:prstGeom>
          <a:noFill/>
        </p:spPr>
        <p:txBody>
          <a:bodyPr wrap="square">
            <a:spAutoFit/>
          </a:bodyPr>
          <a:lstStyle/>
          <a:p>
            <a:pPr algn="ctr">
              <a:defRPr sz="1400" b="1">
                <a:solidFill>
                  <a:srgbClr val="16A34A"/>
                </a:solidFill>
              </a:defRPr>
            </a:pPr>
            <a:r>
              <a:rPr lang="ja-JP" altLang="en-US" sz="1400" dirty="0">
                <a:latin typeface="メイリオ" panose="020B0604030504040204" pitchFamily="50" charset="-128"/>
                <a:ea typeface="メイリオ" panose="020B0604030504040204" pitchFamily="50" charset="-128"/>
              </a:rPr>
              <a:t>事実性を担保</a:t>
            </a:r>
            <a:endParaRPr sz="1600" dirty="0">
              <a:latin typeface="メイリオ" panose="020B0604030504040204" pitchFamily="50" charset="-128"/>
              <a:ea typeface="メイリオ" panose="020B0604030504040204" pitchFamily="50" charset="-128"/>
            </a:endParaRPr>
          </a:p>
        </p:txBody>
      </p:sp>
      <p:sp>
        <p:nvSpPr>
          <p:cNvPr id="17" name="Rounded Rectangle 16">
            <a:extLst>
              <a:ext uri="{FF2B5EF4-FFF2-40B4-BE49-F238E27FC236}">
                <a16:creationId xmlns:a16="http://schemas.microsoft.com/office/drawing/2014/main" id="{261F17E8-7BC4-CCF4-2027-7BC70CA438A4}"/>
              </a:ext>
            </a:extLst>
          </p:cNvPr>
          <p:cNvSpPr/>
          <p:nvPr/>
        </p:nvSpPr>
        <p:spPr>
          <a:xfrm>
            <a:off x="5374910" y="1893727"/>
            <a:ext cx="3566160" cy="346102"/>
          </a:xfrm>
          <a:prstGeom prst="roundRect">
            <a:avLst/>
          </a:prstGeom>
          <a:solidFill>
            <a:srgbClr val="F0FDF4"/>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CE181C40-7695-A9D8-4531-9461602B93FA}"/>
              </a:ext>
            </a:extLst>
          </p:cNvPr>
          <p:cNvSpPr txBox="1"/>
          <p:nvPr/>
        </p:nvSpPr>
        <p:spPr>
          <a:xfrm>
            <a:off x="5482212" y="1925319"/>
            <a:ext cx="3334624" cy="338554"/>
          </a:xfrm>
          <a:prstGeom prst="rect">
            <a:avLst/>
          </a:prstGeom>
          <a:noFill/>
        </p:spPr>
        <p:txBody>
          <a:bodyPr wrap="square">
            <a:spAutoFit/>
          </a:bodyPr>
          <a:lstStyle/>
          <a:p>
            <a:pPr algn="ctr">
              <a:defRPr sz="1400" b="1">
                <a:solidFill>
                  <a:srgbClr val="16A34A"/>
                </a:solidFill>
              </a:defRPr>
            </a:pPr>
            <a:r>
              <a:rPr lang="ja-JP" altLang="en-US" sz="1600" dirty="0">
                <a:latin typeface="メイリオ" panose="020B0604030504040204" pitchFamily="50" charset="-128"/>
                <a:ea typeface="メイリオ" panose="020B0604030504040204" pitchFamily="50" charset="-128"/>
              </a:rPr>
              <a:t>評価と治療計画の整合性チェック</a:t>
            </a:r>
            <a:endParaRPr sz="1600" dirty="0">
              <a:latin typeface="メイリオ" panose="020B0604030504040204" pitchFamily="50" charset="-128"/>
              <a:ea typeface="メイリオ" panose="020B0604030504040204" pitchFamily="50" charset="-128"/>
            </a:endParaRPr>
          </a:p>
        </p:txBody>
      </p:sp>
      <p:sp>
        <p:nvSpPr>
          <p:cNvPr id="19" name="Rounded Rectangle 18">
            <a:extLst>
              <a:ext uri="{FF2B5EF4-FFF2-40B4-BE49-F238E27FC236}">
                <a16:creationId xmlns:a16="http://schemas.microsoft.com/office/drawing/2014/main" id="{758428D0-C16E-1BC6-6143-DBE93E2C964C}"/>
              </a:ext>
            </a:extLst>
          </p:cNvPr>
          <p:cNvSpPr/>
          <p:nvPr/>
        </p:nvSpPr>
        <p:spPr>
          <a:xfrm>
            <a:off x="5394484" y="2340356"/>
            <a:ext cx="3566160" cy="358989"/>
          </a:xfrm>
          <a:prstGeom prst="roundRect">
            <a:avLst/>
          </a:prstGeom>
          <a:solidFill>
            <a:srgbClr val="F0FDF4"/>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E9B8DBD9-9E04-D9C2-6BD4-FA6B0143C42D}"/>
              </a:ext>
            </a:extLst>
          </p:cNvPr>
          <p:cNvSpPr txBox="1"/>
          <p:nvPr/>
        </p:nvSpPr>
        <p:spPr>
          <a:xfrm>
            <a:off x="5908106" y="2373844"/>
            <a:ext cx="2615661" cy="338554"/>
          </a:xfrm>
          <a:prstGeom prst="rect">
            <a:avLst/>
          </a:prstGeom>
          <a:noFill/>
        </p:spPr>
        <p:txBody>
          <a:bodyPr wrap="square">
            <a:spAutoFit/>
          </a:bodyPr>
          <a:lstStyle/>
          <a:p>
            <a:pPr algn="ctr">
              <a:defRPr sz="1400" b="1">
                <a:solidFill>
                  <a:srgbClr val="16A34A"/>
                </a:solidFill>
              </a:defRPr>
            </a:pPr>
            <a:r>
              <a:rPr lang="ja-JP" altLang="en-US" sz="1600" dirty="0">
                <a:latin typeface="メイリオ" panose="020B0604030504040204" pitchFamily="50" charset="-128"/>
                <a:ea typeface="メイリオ" panose="020B0604030504040204" pitchFamily="50" charset="-128"/>
              </a:rPr>
              <a:t>出力根拠の明示</a:t>
            </a:r>
            <a:endParaRPr sz="1600" dirty="0">
              <a:latin typeface="メイリオ" panose="020B0604030504040204" pitchFamily="50" charset="-128"/>
              <a:ea typeface="メイリオ" panose="020B0604030504040204" pitchFamily="50" charset="-128"/>
            </a:endParaRPr>
          </a:p>
        </p:txBody>
      </p:sp>
      <p:sp>
        <p:nvSpPr>
          <p:cNvPr id="22" name="Rounded Rectangle 21">
            <a:extLst>
              <a:ext uri="{FF2B5EF4-FFF2-40B4-BE49-F238E27FC236}">
                <a16:creationId xmlns:a16="http://schemas.microsoft.com/office/drawing/2014/main" id="{47072F00-74B4-D941-9619-1791DDADEF04}"/>
              </a:ext>
            </a:extLst>
          </p:cNvPr>
          <p:cNvSpPr/>
          <p:nvPr/>
        </p:nvSpPr>
        <p:spPr>
          <a:xfrm>
            <a:off x="10117124" y="839889"/>
            <a:ext cx="1837188" cy="2011680"/>
          </a:xfrm>
          <a:prstGeom prst="roundRect">
            <a:avLst/>
          </a:prstGeom>
          <a:solidFill>
            <a:srgbClr val="DDD6FE"/>
          </a:solidFill>
          <a:ln w="381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814B960F-5D98-DD4B-1144-AECFFB4C7184}"/>
              </a:ext>
            </a:extLst>
          </p:cNvPr>
          <p:cNvSpPr txBox="1"/>
          <p:nvPr/>
        </p:nvSpPr>
        <p:spPr>
          <a:xfrm>
            <a:off x="10203251" y="978207"/>
            <a:ext cx="1664934" cy="1631216"/>
          </a:xfrm>
          <a:prstGeom prst="rect">
            <a:avLst/>
          </a:prstGeom>
          <a:noFill/>
        </p:spPr>
        <p:txBody>
          <a:bodyPr wrap="square">
            <a:spAutoFit/>
          </a:bodyPr>
          <a:lstStyle/>
          <a:p>
            <a:pPr algn="ctr">
              <a:defRPr sz="1200">
                <a:solidFill>
                  <a:srgbClr val="7C3AED"/>
                </a:solidFill>
              </a:defRPr>
            </a:pPr>
            <a:r>
              <a:rPr sz="2000" b="1" dirty="0" err="1">
                <a:latin typeface="メイリオ" panose="020B0604030504040204" pitchFamily="50" charset="-128"/>
                <a:ea typeface="メイリオ" panose="020B0604030504040204" pitchFamily="50" charset="-128"/>
              </a:rPr>
              <a:t>効果</a:t>
            </a:r>
            <a:endParaRPr sz="2000" b="1" dirty="0">
              <a:latin typeface="メイリオ" panose="020B0604030504040204" pitchFamily="50" charset="-128"/>
              <a:ea typeface="メイリオ" panose="020B0604030504040204" pitchFamily="50" charset="-128"/>
            </a:endParaRPr>
          </a:p>
          <a:p>
            <a:pPr algn="ctr">
              <a:defRPr sz="1200">
                <a:solidFill>
                  <a:srgbClr val="7C3AED"/>
                </a:solidFill>
              </a:defRPr>
            </a:pPr>
            <a:endParaRPr lang="en-US" sz="1600" dirty="0">
              <a:latin typeface="メイリオ" panose="020B0604030504040204" pitchFamily="50" charset="-128"/>
              <a:ea typeface="メイリオ" panose="020B0604030504040204" pitchFamily="50" charset="-128"/>
            </a:endParaRPr>
          </a:p>
          <a:p>
            <a:pPr algn="ctr">
              <a:defRPr sz="1200">
                <a:solidFill>
                  <a:srgbClr val="7C3AED"/>
                </a:solidFill>
              </a:defRPr>
            </a:pPr>
            <a:r>
              <a:rPr lang="ja-JP" altLang="en-US" sz="1600" b="1" dirty="0">
                <a:latin typeface="メイリオ" panose="020B0604030504040204" pitchFamily="50" charset="-128"/>
                <a:ea typeface="メイリオ" panose="020B0604030504040204" pitchFamily="50" charset="-128"/>
              </a:rPr>
              <a:t>医師の批判的思考を促し、誤診のリスクを低減する</a:t>
            </a:r>
            <a:endParaRPr sz="1600" b="1" dirty="0">
              <a:latin typeface="メイリオ" panose="020B0604030504040204" pitchFamily="50" charset="-128"/>
              <a:ea typeface="メイリオ" panose="020B0604030504040204" pitchFamily="50" charset="-128"/>
            </a:endParaRPr>
          </a:p>
        </p:txBody>
      </p:sp>
      <p:sp>
        <p:nvSpPr>
          <p:cNvPr id="24" name="Rounded Rectangle 23">
            <a:extLst>
              <a:ext uri="{FF2B5EF4-FFF2-40B4-BE49-F238E27FC236}">
                <a16:creationId xmlns:a16="http://schemas.microsoft.com/office/drawing/2014/main" id="{B3EE7B35-A4E6-6147-3D97-D67C9D4BA59E}"/>
              </a:ext>
            </a:extLst>
          </p:cNvPr>
          <p:cNvSpPr/>
          <p:nvPr/>
        </p:nvSpPr>
        <p:spPr>
          <a:xfrm>
            <a:off x="157480" y="3034449"/>
            <a:ext cx="11796831" cy="3747349"/>
          </a:xfrm>
          <a:prstGeom prst="roundRect">
            <a:avLst/>
          </a:prstGeom>
          <a:solidFill>
            <a:srgbClr val="E0F2FE"/>
          </a:solidFill>
          <a:ln w="254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a:extLst>
              <a:ext uri="{FF2B5EF4-FFF2-40B4-BE49-F238E27FC236}">
                <a16:creationId xmlns:a16="http://schemas.microsoft.com/office/drawing/2014/main" id="{6CD0C0D3-B57A-57C1-C46D-8A72206B5D2D}"/>
              </a:ext>
            </a:extLst>
          </p:cNvPr>
          <p:cNvSpPr txBox="1"/>
          <p:nvPr/>
        </p:nvSpPr>
        <p:spPr>
          <a:xfrm>
            <a:off x="5259622" y="3125890"/>
            <a:ext cx="1723550" cy="400110"/>
          </a:xfrm>
          <a:prstGeom prst="rect">
            <a:avLst/>
          </a:prstGeom>
          <a:noFill/>
        </p:spPr>
        <p:txBody>
          <a:bodyPr wrap="none">
            <a:spAutoFit/>
          </a:bodyPr>
          <a:lstStyle/>
          <a:p>
            <a:pPr algn="ctr">
              <a:defRPr sz="1600" b="1">
                <a:solidFill>
                  <a:srgbClr val="0369A1"/>
                </a:solidFill>
              </a:defRPr>
            </a:pPr>
            <a:r>
              <a:rPr sz="2000" dirty="0" err="1">
                <a:latin typeface="メイリオ" panose="020B0604030504040204" pitchFamily="50" charset="-128"/>
                <a:ea typeface="メイリオ" panose="020B0604030504040204" pitchFamily="50" charset="-128"/>
              </a:rPr>
              <a:t>実装イメージ</a:t>
            </a:r>
            <a:endParaRPr sz="2000" dirty="0">
              <a:latin typeface="メイリオ" panose="020B0604030504040204" pitchFamily="50" charset="-128"/>
              <a:ea typeface="メイリオ" panose="020B0604030504040204" pitchFamily="50" charset="-128"/>
            </a:endParaRPr>
          </a:p>
        </p:txBody>
      </p:sp>
      <p:sp>
        <p:nvSpPr>
          <p:cNvPr id="43" name="タイトル 1">
            <a:extLst>
              <a:ext uri="{FF2B5EF4-FFF2-40B4-BE49-F238E27FC236}">
                <a16:creationId xmlns:a16="http://schemas.microsoft.com/office/drawing/2014/main" id="{F4016554-993E-227E-B568-EE8CAC35F4AE}"/>
              </a:ext>
            </a:extLst>
          </p:cNvPr>
          <p:cNvSpPr>
            <a:spLocks noGrp="1"/>
          </p:cNvSpPr>
          <p:nvPr>
            <p:ph type="title"/>
          </p:nvPr>
        </p:nvSpPr>
        <p:spPr>
          <a:xfrm>
            <a:off x="66572" y="31839"/>
            <a:ext cx="12058856" cy="850722"/>
          </a:xfrm>
        </p:spPr>
        <p:txBody>
          <a:bodyPr vert="horz">
            <a:normAutofit/>
          </a:bodyPr>
          <a:lstStyle/>
          <a:p>
            <a:r>
              <a:rPr kumimoji="1" lang="ja-JP" altLang="en-US" dirty="0">
                <a:latin typeface="Trebuchet MS" panose="020B0603020202020204" pitchFamily="34" charset="0"/>
                <a:ea typeface="Meiryo UI" panose="020B0604030504040204" pitchFamily="50" charset="-128"/>
              </a:rPr>
              <a:t>対策：誤診誘導を減らす仕組み</a:t>
            </a:r>
            <a:endParaRPr kumimoji="1" lang="en-US" dirty="0">
              <a:latin typeface="Trebuchet MS" panose="020B0603020202020204" pitchFamily="34" charset="0"/>
              <a:ea typeface="Meiryo UI" panose="020B0604030504040204" pitchFamily="50" charset="-128"/>
            </a:endParaRPr>
          </a:p>
        </p:txBody>
      </p:sp>
      <p:sp>
        <p:nvSpPr>
          <p:cNvPr id="44" name="Rounded Rectangle 25">
            <a:extLst>
              <a:ext uri="{FF2B5EF4-FFF2-40B4-BE49-F238E27FC236}">
                <a16:creationId xmlns:a16="http://schemas.microsoft.com/office/drawing/2014/main" id="{62F65135-DE73-392E-6F29-E28747E65CAA}"/>
              </a:ext>
            </a:extLst>
          </p:cNvPr>
          <p:cNvSpPr/>
          <p:nvPr/>
        </p:nvSpPr>
        <p:spPr>
          <a:xfrm>
            <a:off x="237689" y="3617441"/>
            <a:ext cx="5496185" cy="2812720"/>
          </a:xfrm>
          <a:prstGeom prst="roundRect">
            <a:avLst/>
          </a:prstGeom>
          <a:solidFill>
            <a:srgbClr val="FFFFFF"/>
          </a:solidFill>
          <a:ln w="25400">
            <a:solidFill>
              <a:srgbClr val="6B72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5" name="図 44">
            <a:extLst>
              <a:ext uri="{FF2B5EF4-FFF2-40B4-BE49-F238E27FC236}">
                <a16:creationId xmlns:a16="http://schemas.microsoft.com/office/drawing/2014/main" id="{7181B829-8984-78D6-7EBE-2E4E4F36B3AB}"/>
              </a:ext>
            </a:extLst>
          </p:cNvPr>
          <p:cNvPicPr>
            <a:picLocks noChangeAspect="1"/>
          </p:cNvPicPr>
          <p:nvPr/>
        </p:nvPicPr>
        <p:blipFill>
          <a:blip r:embed="rId3"/>
          <a:stretch>
            <a:fillRect/>
          </a:stretch>
        </p:blipFill>
        <p:spPr>
          <a:xfrm>
            <a:off x="321858" y="3989042"/>
            <a:ext cx="5355154" cy="2152379"/>
          </a:xfrm>
          <a:prstGeom prst="rect">
            <a:avLst/>
          </a:prstGeom>
        </p:spPr>
      </p:pic>
      <p:sp>
        <p:nvSpPr>
          <p:cNvPr id="46" name="Rounded Rectangle 26">
            <a:extLst>
              <a:ext uri="{FF2B5EF4-FFF2-40B4-BE49-F238E27FC236}">
                <a16:creationId xmlns:a16="http://schemas.microsoft.com/office/drawing/2014/main" id="{28AC5554-8EF6-7D14-A646-E85AE23F5E58}"/>
              </a:ext>
            </a:extLst>
          </p:cNvPr>
          <p:cNvSpPr/>
          <p:nvPr/>
        </p:nvSpPr>
        <p:spPr>
          <a:xfrm>
            <a:off x="237689" y="3594813"/>
            <a:ext cx="5520048" cy="457070"/>
          </a:xfrm>
          <a:prstGeom prst="roundRect">
            <a:avLst/>
          </a:prstGeom>
          <a:solidFill>
            <a:srgbClr val="1E40AF"/>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2000" b="1" dirty="0">
                <a:latin typeface="メイリオ" panose="020B0604030504040204" pitchFamily="50" charset="-128"/>
                <a:ea typeface="メイリオ" panose="020B0604030504040204" pitchFamily="50" charset="-128"/>
              </a:rPr>
              <a:t>評価と治療計画の整合性チェック</a:t>
            </a:r>
            <a:endParaRPr sz="2000" b="1" dirty="0">
              <a:latin typeface="メイリオ" panose="020B0604030504040204" pitchFamily="50" charset="-128"/>
              <a:ea typeface="メイリオ" panose="020B0604030504040204" pitchFamily="50" charset="-128"/>
            </a:endParaRPr>
          </a:p>
        </p:txBody>
      </p:sp>
      <p:sp>
        <p:nvSpPr>
          <p:cNvPr id="48" name="Rounded Rectangle 25">
            <a:extLst>
              <a:ext uri="{FF2B5EF4-FFF2-40B4-BE49-F238E27FC236}">
                <a16:creationId xmlns:a16="http://schemas.microsoft.com/office/drawing/2014/main" id="{6EA74781-B8F3-F1F4-0859-AC849DF49573}"/>
              </a:ext>
            </a:extLst>
          </p:cNvPr>
          <p:cNvSpPr/>
          <p:nvPr/>
        </p:nvSpPr>
        <p:spPr>
          <a:xfrm>
            <a:off x="6373957" y="3617442"/>
            <a:ext cx="5496185" cy="2812720"/>
          </a:xfrm>
          <a:prstGeom prst="roundRect">
            <a:avLst/>
          </a:prstGeom>
          <a:solidFill>
            <a:srgbClr val="FFFFFF"/>
          </a:solidFill>
          <a:ln w="25400">
            <a:solidFill>
              <a:srgbClr val="6B72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9" name="図 48">
            <a:extLst>
              <a:ext uri="{FF2B5EF4-FFF2-40B4-BE49-F238E27FC236}">
                <a16:creationId xmlns:a16="http://schemas.microsoft.com/office/drawing/2014/main" id="{803EBF95-68D0-968E-CEB8-216ABF9CBC7A}"/>
              </a:ext>
            </a:extLst>
          </p:cNvPr>
          <p:cNvPicPr>
            <a:picLocks noChangeAspect="1"/>
          </p:cNvPicPr>
          <p:nvPr/>
        </p:nvPicPr>
        <p:blipFill>
          <a:blip r:embed="rId4"/>
          <a:stretch>
            <a:fillRect/>
          </a:stretch>
        </p:blipFill>
        <p:spPr>
          <a:xfrm>
            <a:off x="6413012" y="4253026"/>
            <a:ext cx="5418074" cy="1648648"/>
          </a:xfrm>
          <a:prstGeom prst="rect">
            <a:avLst/>
          </a:prstGeom>
        </p:spPr>
      </p:pic>
      <p:sp>
        <p:nvSpPr>
          <p:cNvPr id="50" name="Rounded Rectangle 36">
            <a:extLst>
              <a:ext uri="{FF2B5EF4-FFF2-40B4-BE49-F238E27FC236}">
                <a16:creationId xmlns:a16="http://schemas.microsoft.com/office/drawing/2014/main" id="{EEC7875D-E48F-AD70-809A-16E084D3FF32}"/>
              </a:ext>
            </a:extLst>
          </p:cNvPr>
          <p:cNvSpPr/>
          <p:nvPr/>
        </p:nvSpPr>
        <p:spPr>
          <a:xfrm>
            <a:off x="6350094" y="3595770"/>
            <a:ext cx="5520048" cy="513222"/>
          </a:xfrm>
          <a:prstGeom prst="roundRect">
            <a:avLst/>
          </a:prstGeom>
          <a:solidFill>
            <a:srgbClr val="7C3AED"/>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2000" b="1" dirty="0">
                <a:latin typeface="メイリオ" panose="020B0604030504040204" pitchFamily="50" charset="-128"/>
                <a:ea typeface="メイリオ" panose="020B0604030504040204" pitchFamily="50" charset="-128"/>
              </a:rPr>
              <a:t>RAG</a:t>
            </a:r>
            <a:r>
              <a:rPr lang="ja-JP" altLang="en-US" sz="2000" b="1" dirty="0">
                <a:latin typeface="メイリオ" panose="020B0604030504040204" pitchFamily="50" charset="-128"/>
                <a:ea typeface="メイリオ" panose="020B0604030504040204" pitchFamily="50" charset="-128"/>
              </a:rPr>
              <a:t>を用いた事実性補強</a:t>
            </a:r>
            <a:endParaRPr sz="2000" b="1" dirty="0">
              <a:latin typeface="メイリオ" panose="020B0604030504040204" pitchFamily="50" charset="-128"/>
              <a:ea typeface="メイリオ" panose="020B0604030504040204" pitchFamily="50" charset="-128"/>
            </a:endParaRPr>
          </a:p>
        </p:txBody>
      </p:sp>
      <p:sp>
        <p:nvSpPr>
          <p:cNvPr id="51" name="TextBox 41">
            <a:extLst>
              <a:ext uri="{FF2B5EF4-FFF2-40B4-BE49-F238E27FC236}">
                <a16:creationId xmlns:a16="http://schemas.microsoft.com/office/drawing/2014/main" id="{E348A81B-E2C1-9801-DD82-90FB167B1F78}"/>
              </a:ext>
            </a:extLst>
          </p:cNvPr>
          <p:cNvSpPr txBox="1"/>
          <p:nvPr/>
        </p:nvSpPr>
        <p:spPr>
          <a:xfrm>
            <a:off x="919757" y="6446404"/>
            <a:ext cx="9212778" cy="338554"/>
          </a:xfrm>
          <a:prstGeom prst="rect">
            <a:avLst/>
          </a:prstGeom>
          <a:noFill/>
        </p:spPr>
        <p:txBody>
          <a:bodyPr wrap="none">
            <a:spAutoFit/>
          </a:bodyPr>
          <a:lstStyle/>
          <a:p>
            <a:pPr>
              <a:defRPr sz="1200" b="1">
                <a:solidFill>
                  <a:srgbClr val="333333"/>
                </a:solidFill>
              </a:defRPr>
            </a:pPr>
            <a:r>
              <a:rPr sz="1600" dirty="0" err="1">
                <a:latin typeface="メイリオ" panose="020B0604030504040204" pitchFamily="50" charset="-128"/>
                <a:ea typeface="メイリオ" panose="020B0604030504040204" pitchFamily="50" charset="-128"/>
              </a:rPr>
              <a:t>期待される効果</a:t>
            </a:r>
            <a:r>
              <a:rPr sz="1600" dirty="0">
                <a:latin typeface="メイリオ" panose="020B0604030504040204" pitchFamily="50" charset="-128"/>
                <a:ea typeface="メイリオ" panose="020B0604030504040204" pitchFamily="50" charset="-128"/>
              </a:rPr>
              <a:t>：</a:t>
            </a:r>
            <a:r>
              <a:rPr lang="ja-JP" altLang="en-US" sz="1600" b="1" dirty="0">
                <a:latin typeface="メイリオ" panose="020B0604030504040204" pitchFamily="50" charset="-128"/>
                <a:ea typeface="メイリオ" panose="020B0604030504040204" pitchFamily="50" charset="-128"/>
              </a:rPr>
              <a:t>医師の批判的思考を促し、誤診リスクを減らすことで、安全な診療を支援する。</a:t>
            </a:r>
            <a:endParaRPr sz="16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478022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3314943" y="754791"/>
            <a:ext cx="5486400" cy="457200"/>
          </a:xfrm>
          <a:prstGeom prst="roundRect">
            <a:avLst/>
          </a:prstGeom>
          <a:solidFill>
            <a:srgbClr val="DC2626"/>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801756" y="762683"/>
            <a:ext cx="4512774" cy="461665"/>
          </a:xfrm>
          <a:prstGeom prst="rect">
            <a:avLst/>
          </a:prstGeom>
          <a:noFill/>
        </p:spPr>
        <p:txBody>
          <a:bodyPr wrap="none">
            <a:spAutoFit/>
          </a:bodyPr>
          <a:lstStyle/>
          <a:p>
            <a:pPr algn="ctr">
              <a:defRPr sz="1600" b="1">
                <a:solidFill>
                  <a:srgbClr val="FFFFFF"/>
                </a:solidFill>
              </a:defRPr>
            </a:pPr>
            <a:r>
              <a:rPr sz="1600" dirty="0"/>
              <a:t>⚠️ </a:t>
            </a:r>
            <a:r>
              <a:rPr sz="2400" dirty="0" err="1">
                <a:latin typeface="メイリオ" panose="020B0604030504040204" pitchFamily="50" charset="-128"/>
                <a:ea typeface="メイリオ" panose="020B0604030504040204" pitchFamily="50" charset="-128"/>
              </a:rPr>
              <a:t>完全オフライン環境で動作</a:t>
            </a:r>
            <a:r>
              <a:rPr sz="1600" dirty="0"/>
              <a:t> ⚠️</a:t>
            </a:r>
          </a:p>
        </p:txBody>
      </p:sp>
      <p:sp>
        <p:nvSpPr>
          <p:cNvPr id="6" name="Rounded Rectangle 5"/>
          <p:cNvSpPr/>
          <p:nvPr/>
        </p:nvSpPr>
        <p:spPr>
          <a:xfrm>
            <a:off x="74503" y="1310640"/>
            <a:ext cx="9848434" cy="5428828"/>
          </a:xfrm>
          <a:prstGeom prst="roundRect">
            <a:avLst/>
          </a:prstGeom>
          <a:noFill/>
          <a:ln w="381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60074" y="1384904"/>
            <a:ext cx="5057795" cy="400110"/>
          </a:xfrm>
          <a:prstGeom prst="rect">
            <a:avLst/>
          </a:prstGeom>
          <a:noFill/>
        </p:spPr>
        <p:txBody>
          <a:bodyPr wrap="none">
            <a:spAutoFit/>
          </a:bodyPr>
          <a:lstStyle/>
          <a:p>
            <a:pPr>
              <a:defRPr sz="1400" b="1">
                <a:solidFill>
                  <a:srgbClr val="2563EB"/>
                </a:solidFill>
              </a:defRPr>
            </a:pPr>
            <a:r>
              <a:rPr sz="2000" dirty="0" err="1">
                <a:latin typeface="メイリオ" panose="020B0604030504040204" pitchFamily="50" charset="-128"/>
                <a:ea typeface="メイリオ" panose="020B0604030504040204" pitchFamily="50" charset="-128"/>
              </a:rPr>
              <a:t>病院内ネットワーク（オンプレミス環境</a:t>
            </a:r>
            <a:r>
              <a:rPr sz="2000" dirty="0">
                <a:latin typeface="メイリオ" panose="020B0604030504040204" pitchFamily="50" charset="-128"/>
                <a:ea typeface="メイリオ" panose="020B0604030504040204" pitchFamily="50" charset="-128"/>
              </a:rPr>
              <a:t>）</a:t>
            </a:r>
          </a:p>
        </p:txBody>
      </p:sp>
      <p:sp>
        <p:nvSpPr>
          <p:cNvPr id="8" name="Rounded Rectangle 7"/>
          <p:cNvSpPr/>
          <p:nvPr/>
        </p:nvSpPr>
        <p:spPr>
          <a:xfrm>
            <a:off x="440263" y="1755986"/>
            <a:ext cx="3657600" cy="4414780"/>
          </a:xfrm>
          <a:prstGeom prst="roundRect">
            <a:avLst/>
          </a:prstGeom>
          <a:solidFill>
            <a:srgbClr val="E0F2FE"/>
          </a:solidFill>
          <a:ln w="254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79049" y="1809953"/>
            <a:ext cx="1980030" cy="400110"/>
          </a:xfrm>
          <a:prstGeom prst="rect">
            <a:avLst/>
          </a:prstGeom>
          <a:noFill/>
        </p:spPr>
        <p:txBody>
          <a:bodyPr wrap="none">
            <a:spAutoFit/>
          </a:bodyPr>
          <a:lstStyle/>
          <a:p>
            <a:pPr algn="ctr">
              <a:defRPr sz="1400" b="1">
                <a:solidFill>
                  <a:srgbClr val="0369A1"/>
                </a:solidFill>
              </a:defRPr>
            </a:pPr>
            <a:r>
              <a:rPr sz="2000" dirty="0" err="1">
                <a:latin typeface="メイリオ" panose="020B0604030504040204" pitchFamily="50" charset="-128"/>
                <a:ea typeface="メイリオ" panose="020B0604030504040204" pitchFamily="50" charset="-128"/>
              </a:rPr>
              <a:t>サーバールーム</a:t>
            </a:r>
            <a:endParaRPr sz="2000" dirty="0">
              <a:latin typeface="メイリオ" panose="020B0604030504040204" pitchFamily="50" charset="-128"/>
              <a:ea typeface="メイリオ" panose="020B0604030504040204" pitchFamily="50" charset="-128"/>
            </a:endParaRPr>
          </a:p>
        </p:txBody>
      </p:sp>
      <p:sp>
        <p:nvSpPr>
          <p:cNvPr id="10" name="Rounded Rectangle 9"/>
          <p:cNvSpPr/>
          <p:nvPr/>
        </p:nvSpPr>
        <p:spPr>
          <a:xfrm>
            <a:off x="870947" y="2246644"/>
            <a:ext cx="2743200" cy="1429581"/>
          </a:xfrm>
          <a:prstGeom prst="roundRect">
            <a:avLst/>
          </a:prstGeom>
          <a:solidFill>
            <a:srgbClr val="1E40A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57220" y="2396066"/>
            <a:ext cx="2223686" cy="830997"/>
          </a:xfrm>
          <a:prstGeom prst="rect">
            <a:avLst/>
          </a:prstGeom>
          <a:noFill/>
        </p:spPr>
        <p:txBody>
          <a:bodyPr wrap="none">
            <a:spAutoFit/>
          </a:bodyPr>
          <a:lstStyle/>
          <a:p>
            <a:pPr algn="ctr">
              <a:defRPr sz="1000">
                <a:solidFill>
                  <a:srgbClr val="FFFFFF"/>
                </a:solidFill>
              </a:defRPr>
            </a:pPr>
            <a:r>
              <a:rPr sz="1600" dirty="0" err="1">
                <a:latin typeface="メイリオ" panose="020B0604030504040204" pitchFamily="50" charset="-128"/>
                <a:ea typeface="メイリオ" panose="020B0604030504040204" pitchFamily="50" charset="-128"/>
              </a:rPr>
              <a:t>ローカルLLMサーバ</a:t>
            </a:r>
            <a:r>
              <a:rPr sz="1600" dirty="0">
                <a:latin typeface="メイリオ" panose="020B0604030504040204" pitchFamily="50" charset="-128"/>
                <a:ea typeface="メイリオ" panose="020B0604030504040204" pitchFamily="50" charset="-128"/>
              </a:rPr>
              <a:t>ー</a:t>
            </a:r>
          </a:p>
          <a:p>
            <a:pPr algn="ctr">
              <a:defRPr sz="1000">
                <a:solidFill>
                  <a:srgbClr val="FFFFFF"/>
                </a:solidFill>
              </a:defRPr>
            </a:pPr>
            <a:r>
              <a:rPr sz="1600" dirty="0">
                <a:latin typeface="メイリオ" panose="020B0604030504040204" pitchFamily="50" charset="-128"/>
                <a:ea typeface="メイリオ" panose="020B0604030504040204" pitchFamily="50" charset="-128"/>
              </a:rPr>
              <a:t>Gemma3-12B</a:t>
            </a:r>
          </a:p>
          <a:p>
            <a:pPr algn="ctr">
              <a:defRPr sz="1000">
                <a:solidFill>
                  <a:srgbClr val="FFFFFF"/>
                </a:solidFill>
              </a:defRPr>
            </a:pPr>
            <a:r>
              <a:rPr sz="1600" dirty="0">
                <a:latin typeface="メイリオ" panose="020B0604030504040204" pitchFamily="50" charset="-128"/>
                <a:ea typeface="メイリオ" panose="020B0604030504040204" pitchFamily="50" charset="-128"/>
              </a:rPr>
              <a:t>RTX </a:t>
            </a:r>
            <a:r>
              <a:rPr lang="en-US" altLang="ja-JP" sz="1600" dirty="0">
                <a:latin typeface="メイリオ" panose="020B0604030504040204" pitchFamily="50" charset="-128"/>
                <a:ea typeface="メイリオ" panose="020B0604030504040204" pitchFamily="50" charset="-128"/>
              </a:rPr>
              <a:t>5</a:t>
            </a:r>
            <a:r>
              <a:rPr sz="1600" dirty="0">
                <a:latin typeface="メイリオ" panose="020B0604030504040204" pitchFamily="50" charset="-128"/>
                <a:ea typeface="メイリオ" panose="020B0604030504040204" pitchFamily="50" charset="-128"/>
              </a:rPr>
              <a:t>090</a:t>
            </a:r>
          </a:p>
        </p:txBody>
      </p:sp>
      <p:sp>
        <p:nvSpPr>
          <p:cNvPr id="12" name="Rounded Rectangle 11"/>
          <p:cNvSpPr/>
          <p:nvPr/>
        </p:nvSpPr>
        <p:spPr>
          <a:xfrm>
            <a:off x="1443491" y="3145613"/>
            <a:ext cx="1597517" cy="457200"/>
          </a:xfrm>
          <a:prstGeom prst="roundRect">
            <a:avLst/>
          </a:prstGeom>
          <a:solidFill>
            <a:srgbClr val="10B98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966736" y="3243327"/>
            <a:ext cx="604653" cy="338554"/>
          </a:xfrm>
          <a:prstGeom prst="rect">
            <a:avLst/>
          </a:prstGeom>
          <a:noFill/>
        </p:spPr>
        <p:txBody>
          <a:bodyPr wrap="none">
            <a:spAutoFit/>
          </a:bodyPr>
          <a:lstStyle/>
          <a:p>
            <a:pPr algn="ctr">
              <a:defRPr sz="800">
                <a:solidFill>
                  <a:srgbClr val="FFFFFF"/>
                </a:solidFill>
              </a:defRPr>
            </a:pPr>
            <a:r>
              <a:rPr sz="1600" dirty="0">
                <a:latin typeface="メイリオ" panose="020B0604030504040204" pitchFamily="50" charset="-128"/>
                <a:ea typeface="メイリオ" panose="020B0604030504040204" pitchFamily="50" charset="-128"/>
              </a:rPr>
              <a:t>GPU</a:t>
            </a:r>
          </a:p>
        </p:txBody>
      </p:sp>
      <p:sp>
        <p:nvSpPr>
          <p:cNvPr id="16" name="Rounded Rectangle 15"/>
          <p:cNvSpPr/>
          <p:nvPr/>
        </p:nvSpPr>
        <p:spPr>
          <a:xfrm>
            <a:off x="858983" y="3849138"/>
            <a:ext cx="2743200" cy="1097280"/>
          </a:xfrm>
          <a:prstGeom prst="roundRect">
            <a:avLst/>
          </a:prstGeom>
          <a:solidFill>
            <a:srgbClr val="7C3AE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57834" y="4010254"/>
            <a:ext cx="2323072" cy="584775"/>
          </a:xfrm>
          <a:prstGeom prst="rect">
            <a:avLst/>
          </a:prstGeom>
          <a:noFill/>
        </p:spPr>
        <p:txBody>
          <a:bodyPr wrap="none">
            <a:spAutoFit/>
          </a:bodyPr>
          <a:lstStyle/>
          <a:p>
            <a:pPr algn="ctr">
              <a:defRPr sz="900">
                <a:solidFill>
                  <a:srgbClr val="FFFFFF"/>
                </a:solidFill>
              </a:defRPr>
            </a:pPr>
            <a:r>
              <a:rPr sz="1600" dirty="0" err="1">
                <a:latin typeface="メイリオ" panose="020B0604030504040204" pitchFamily="50" charset="-128"/>
                <a:ea typeface="メイリオ" panose="020B0604030504040204" pitchFamily="50" charset="-128"/>
              </a:rPr>
              <a:t>電子カルテDBサーバ</a:t>
            </a:r>
            <a:r>
              <a:rPr sz="1600" dirty="0">
                <a:latin typeface="メイリオ" panose="020B0604030504040204" pitchFamily="50" charset="-128"/>
                <a:ea typeface="メイリオ" panose="020B0604030504040204" pitchFamily="50" charset="-128"/>
              </a:rPr>
              <a:t>ー</a:t>
            </a:r>
          </a:p>
          <a:p>
            <a:pPr algn="ctr">
              <a:defRPr sz="900">
                <a:solidFill>
                  <a:srgbClr val="FFFFFF"/>
                </a:solidFill>
              </a:defRPr>
            </a:pPr>
            <a:r>
              <a:rPr sz="1600" dirty="0" err="1">
                <a:latin typeface="メイリオ" panose="020B0604030504040204" pitchFamily="50" charset="-128"/>
                <a:ea typeface="メイリオ" panose="020B0604030504040204" pitchFamily="50" charset="-128"/>
              </a:rPr>
              <a:t>患者情報データベース</a:t>
            </a:r>
            <a:endParaRPr sz="1600" dirty="0">
              <a:latin typeface="メイリオ" panose="020B0604030504040204" pitchFamily="50" charset="-128"/>
              <a:ea typeface="メイリオ" panose="020B0604030504040204" pitchFamily="50" charset="-128"/>
            </a:endParaRPr>
          </a:p>
        </p:txBody>
      </p:sp>
      <p:sp>
        <p:nvSpPr>
          <p:cNvPr id="18" name="Rounded Rectangle 17"/>
          <p:cNvSpPr/>
          <p:nvPr/>
        </p:nvSpPr>
        <p:spPr>
          <a:xfrm>
            <a:off x="858983" y="5131959"/>
            <a:ext cx="2743200" cy="914400"/>
          </a:xfrm>
          <a:prstGeom prst="roundRect">
            <a:avLst/>
          </a:prstGeom>
          <a:solidFill>
            <a:srgbClr val="DC2626"/>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66798" y="5179798"/>
            <a:ext cx="2236510" cy="830997"/>
          </a:xfrm>
          <a:prstGeom prst="rect">
            <a:avLst/>
          </a:prstGeom>
          <a:noFill/>
        </p:spPr>
        <p:txBody>
          <a:bodyPr wrap="none">
            <a:spAutoFit/>
          </a:bodyPr>
          <a:lstStyle/>
          <a:p>
            <a:pPr algn="ctr">
              <a:defRPr sz="900">
                <a:solidFill>
                  <a:srgbClr val="FFFFFF"/>
                </a:solidFill>
              </a:defRPr>
            </a:pPr>
            <a:r>
              <a:rPr sz="1600" dirty="0" err="1">
                <a:latin typeface="メイリオ" panose="020B0604030504040204" pitchFamily="50" charset="-128"/>
                <a:ea typeface="メイリオ" panose="020B0604030504040204" pitchFamily="50" charset="-128"/>
              </a:rPr>
              <a:t>セキュリティサーバ</a:t>
            </a:r>
            <a:r>
              <a:rPr sz="1600" dirty="0">
                <a:latin typeface="メイリオ" panose="020B0604030504040204" pitchFamily="50" charset="-128"/>
                <a:ea typeface="メイリオ" panose="020B0604030504040204" pitchFamily="50" charset="-128"/>
              </a:rPr>
              <a:t>ー</a:t>
            </a:r>
          </a:p>
          <a:p>
            <a:pPr algn="ctr">
              <a:defRPr sz="900">
                <a:solidFill>
                  <a:srgbClr val="FFFFFF"/>
                </a:solidFill>
              </a:defRPr>
            </a:pPr>
            <a:r>
              <a:rPr sz="1600" dirty="0" err="1">
                <a:latin typeface="メイリオ" panose="020B0604030504040204" pitchFamily="50" charset="-128"/>
                <a:ea typeface="メイリオ" panose="020B0604030504040204" pitchFamily="50" charset="-128"/>
              </a:rPr>
              <a:t>アクセス制御</a:t>
            </a:r>
            <a:endParaRPr sz="1600" dirty="0">
              <a:latin typeface="メイリオ" panose="020B0604030504040204" pitchFamily="50" charset="-128"/>
              <a:ea typeface="メイリオ" panose="020B0604030504040204" pitchFamily="50" charset="-128"/>
            </a:endParaRPr>
          </a:p>
          <a:p>
            <a:pPr algn="ctr">
              <a:defRPr sz="900">
                <a:solidFill>
                  <a:srgbClr val="FFFFFF"/>
                </a:solidFill>
              </a:defRPr>
            </a:pPr>
            <a:r>
              <a:rPr sz="1600" dirty="0" err="1">
                <a:latin typeface="メイリオ" panose="020B0604030504040204" pitchFamily="50" charset="-128"/>
                <a:ea typeface="メイリオ" panose="020B0604030504040204" pitchFamily="50" charset="-128"/>
              </a:rPr>
              <a:t>ログ管理</a:t>
            </a:r>
            <a:endParaRPr sz="1600" dirty="0">
              <a:latin typeface="メイリオ" panose="020B0604030504040204" pitchFamily="50" charset="-128"/>
              <a:ea typeface="メイリオ" panose="020B0604030504040204" pitchFamily="50" charset="-128"/>
            </a:endParaRPr>
          </a:p>
        </p:txBody>
      </p:sp>
      <p:sp>
        <p:nvSpPr>
          <p:cNvPr id="20" name="Rounded Rectangle 19"/>
          <p:cNvSpPr/>
          <p:nvPr/>
        </p:nvSpPr>
        <p:spPr>
          <a:xfrm>
            <a:off x="4951303" y="1781646"/>
            <a:ext cx="4389120" cy="2103120"/>
          </a:xfrm>
          <a:prstGeom prst="roundRect">
            <a:avLst/>
          </a:prstGeom>
          <a:solidFill>
            <a:srgbClr val="FEF3C7"/>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73289" y="1896533"/>
            <a:ext cx="1467069" cy="400110"/>
          </a:xfrm>
          <a:prstGeom prst="rect">
            <a:avLst/>
          </a:prstGeom>
          <a:noFill/>
        </p:spPr>
        <p:txBody>
          <a:bodyPr wrap="none">
            <a:spAutoFit/>
          </a:bodyPr>
          <a:lstStyle/>
          <a:p>
            <a:pPr algn="ctr">
              <a:defRPr sz="1400" b="1">
                <a:solidFill>
                  <a:srgbClr val="F59E0B"/>
                </a:solidFill>
              </a:defRPr>
            </a:pPr>
            <a:r>
              <a:rPr sz="2000" dirty="0" err="1">
                <a:latin typeface="メイリオ" panose="020B0604030504040204" pitchFamily="50" charset="-128"/>
                <a:ea typeface="メイリオ" panose="020B0604030504040204" pitchFamily="50" charset="-128"/>
              </a:rPr>
              <a:t>診療エリア</a:t>
            </a:r>
            <a:endParaRPr sz="2000" dirty="0">
              <a:latin typeface="メイリオ" panose="020B0604030504040204" pitchFamily="50" charset="-128"/>
              <a:ea typeface="メイリオ" panose="020B0604030504040204" pitchFamily="50" charset="-128"/>
            </a:endParaRPr>
          </a:p>
        </p:txBody>
      </p:sp>
      <p:sp>
        <p:nvSpPr>
          <p:cNvPr id="22" name="Rounded Rectangle 21"/>
          <p:cNvSpPr/>
          <p:nvPr/>
        </p:nvSpPr>
        <p:spPr>
          <a:xfrm>
            <a:off x="5286583" y="2353732"/>
            <a:ext cx="1645920" cy="1280160"/>
          </a:xfrm>
          <a:prstGeom prst="roundRect">
            <a:avLst/>
          </a:prstGeom>
          <a:solidFill>
            <a:srgbClr val="FFFFFF"/>
          </a:solidFill>
          <a:ln w="19050">
            <a:solidFill>
              <a:srgbClr val="6B72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5469463" y="2536612"/>
            <a:ext cx="1280160" cy="731520"/>
          </a:xfrm>
          <a:prstGeom prst="roundRect">
            <a:avLst/>
          </a:prstGeom>
          <a:solidFill>
            <a:srgbClr val="1F2937"/>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606842" y="2536613"/>
            <a:ext cx="1005403" cy="338554"/>
          </a:xfrm>
          <a:prstGeom prst="rect">
            <a:avLst/>
          </a:prstGeom>
          <a:noFill/>
        </p:spPr>
        <p:txBody>
          <a:bodyPr wrap="none">
            <a:spAutoFit/>
          </a:bodyPr>
          <a:lstStyle/>
          <a:p>
            <a:pPr algn="ctr">
              <a:defRPr sz="1000">
                <a:solidFill>
                  <a:srgbClr val="FFFFFF"/>
                </a:solidFill>
              </a:defRPr>
            </a:pPr>
            <a:r>
              <a:rPr sz="1600" dirty="0" err="1">
                <a:latin typeface="メイリオ" panose="020B0604030504040204" pitchFamily="50" charset="-128"/>
                <a:ea typeface="メイリオ" panose="020B0604030504040204" pitchFamily="50" charset="-128"/>
              </a:rPr>
              <a:t>医師端末</a:t>
            </a:r>
            <a:endParaRPr sz="1600" dirty="0">
              <a:latin typeface="メイリオ" panose="020B0604030504040204" pitchFamily="50" charset="-128"/>
              <a:ea typeface="メイリオ" panose="020B0604030504040204" pitchFamily="50" charset="-128"/>
            </a:endParaRPr>
          </a:p>
        </p:txBody>
      </p:sp>
      <p:sp>
        <p:nvSpPr>
          <p:cNvPr id="25" name="Rounded Rectangle 24"/>
          <p:cNvSpPr/>
          <p:nvPr/>
        </p:nvSpPr>
        <p:spPr>
          <a:xfrm>
            <a:off x="7481142" y="2353732"/>
            <a:ext cx="1645920" cy="1280160"/>
          </a:xfrm>
          <a:prstGeom prst="roundRect">
            <a:avLst/>
          </a:prstGeom>
          <a:solidFill>
            <a:srgbClr val="FFFFFF"/>
          </a:solidFill>
          <a:ln w="19050">
            <a:solidFill>
              <a:srgbClr val="6B72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7664023" y="2536612"/>
            <a:ext cx="1280160" cy="731520"/>
          </a:xfrm>
          <a:prstGeom prst="roundRect">
            <a:avLst/>
          </a:prstGeom>
          <a:solidFill>
            <a:srgbClr val="1F2937"/>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698809" y="2536613"/>
            <a:ext cx="1210589" cy="338554"/>
          </a:xfrm>
          <a:prstGeom prst="rect">
            <a:avLst/>
          </a:prstGeom>
          <a:noFill/>
        </p:spPr>
        <p:txBody>
          <a:bodyPr wrap="none">
            <a:spAutoFit/>
          </a:bodyPr>
          <a:lstStyle/>
          <a:p>
            <a:pPr algn="ctr">
              <a:defRPr sz="1000">
                <a:solidFill>
                  <a:srgbClr val="FFFFFF"/>
                </a:solidFill>
              </a:defRPr>
            </a:pPr>
            <a:r>
              <a:rPr sz="1600" dirty="0" err="1">
                <a:latin typeface="メイリオ" panose="020B0604030504040204" pitchFamily="50" charset="-128"/>
                <a:ea typeface="メイリオ" panose="020B0604030504040204" pitchFamily="50" charset="-128"/>
              </a:rPr>
              <a:t>看護師端末</a:t>
            </a:r>
            <a:endParaRPr sz="1600" dirty="0">
              <a:latin typeface="メイリオ" panose="020B0604030504040204" pitchFamily="50" charset="-128"/>
              <a:ea typeface="メイリオ" panose="020B0604030504040204" pitchFamily="50" charset="-128"/>
            </a:endParaRPr>
          </a:p>
        </p:txBody>
      </p:sp>
      <p:sp>
        <p:nvSpPr>
          <p:cNvPr id="28" name="Rounded Rectangle 27"/>
          <p:cNvSpPr/>
          <p:nvPr/>
        </p:nvSpPr>
        <p:spPr>
          <a:xfrm>
            <a:off x="5078437" y="4067646"/>
            <a:ext cx="4261986" cy="2103120"/>
          </a:xfrm>
          <a:prstGeom prst="roundRect">
            <a:avLst/>
          </a:prstGeom>
          <a:solidFill>
            <a:srgbClr val="E0E7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01529" y="4340012"/>
            <a:ext cx="1210589" cy="400110"/>
          </a:xfrm>
          <a:prstGeom prst="rect">
            <a:avLst/>
          </a:prstGeom>
          <a:noFill/>
        </p:spPr>
        <p:txBody>
          <a:bodyPr wrap="none">
            <a:spAutoFit/>
          </a:bodyPr>
          <a:lstStyle/>
          <a:p>
            <a:pPr algn="ctr">
              <a:defRPr sz="1400" b="1">
                <a:solidFill>
                  <a:srgbClr val="6366F1"/>
                </a:solidFill>
              </a:defRPr>
            </a:pPr>
            <a:r>
              <a:rPr sz="2000" dirty="0" err="1">
                <a:latin typeface="メイリオ" panose="020B0604030504040204" pitchFamily="50" charset="-128"/>
                <a:ea typeface="メイリオ" panose="020B0604030504040204" pitchFamily="50" charset="-128"/>
              </a:rPr>
              <a:t>管理部門</a:t>
            </a:r>
            <a:endParaRPr sz="2000" dirty="0">
              <a:latin typeface="メイリオ" panose="020B0604030504040204" pitchFamily="50" charset="-128"/>
              <a:ea typeface="メイリオ" panose="020B0604030504040204" pitchFamily="50" charset="-128"/>
            </a:endParaRPr>
          </a:p>
        </p:txBody>
      </p:sp>
      <p:sp>
        <p:nvSpPr>
          <p:cNvPr id="30" name="Rounded Rectangle 29"/>
          <p:cNvSpPr/>
          <p:nvPr/>
        </p:nvSpPr>
        <p:spPr>
          <a:xfrm>
            <a:off x="6383863" y="4797211"/>
            <a:ext cx="1645920" cy="1280160"/>
          </a:xfrm>
          <a:prstGeom prst="roundRect">
            <a:avLst/>
          </a:prstGeom>
          <a:solidFill>
            <a:srgbClr val="FFFFFF"/>
          </a:solidFill>
          <a:ln w="19050">
            <a:solidFill>
              <a:srgbClr val="6B72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6566743" y="4980091"/>
            <a:ext cx="1280160" cy="731520"/>
          </a:xfrm>
          <a:prstGeom prst="roundRect">
            <a:avLst/>
          </a:prstGeom>
          <a:solidFill>
            <a:srgbClr val="1F2937"/>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601529" y="4980092"/>
            <a:ext cx="1210589" cy="338554"/>
          </a:xfrm>
          <a:prstGeom prst="rect">
            <a:avLst/>
          </a:prstGeom>
          <a:noFill/>
        </p:spPr>
        <p:txBody>
          <a:bodyPr wrap="none">
            <a:spAutoFit/>
          </a:bodyPr>
          <a:lstStyle/>
          <a:p>
            <a:pPr algn="ctr">
              <a:defRPr sz="1000">
                <a:solidFill>
                  <a:srgbClr val="FFFFFF"/>
                </a:solidFill>
              </a:defRPr>
            </a:pPr>
            <a:r>
              <a:rPr sz="1600" dirty="0" err="1">
                <a:latin typeface="メイリオ" panose="020B0604030504040204" pitchFamily="50" charset="-128"/>
                <a:ea typeface="メイリオ" panose="020B0604030504040204" pitchFamily="50" charset="-128"/>
              </a:rPr>
              <a:t>管理者端末</a:t>
            </a:r>
            <a:endParaRPr sz="1600" dirty="0">
              <a:latin typeface="メイリオ" panose="020B0604030504040204" pitchFamily="50" charset="-128"/>
              <a:ea typeface="メイリオ" panose="020B0604030504040204" pitchFamily="50" charset="-128"/>
            </a:endParaRPr>
          </a:p>
        </p:txBody>
      </p:sp>
      <p:cxnSp>
        <p:nvCxnSpPr>
          <p:cNvPr id="33" name="Connector 32"/>
          <p:cNvCxnSpPr>
            <a:cxnSpLocks/>
          </p:cNvCxnSpPr>
          <p:nvPr/>
        </p:nvCxnSpPr>
        <p:spPr>
          <a:xfrm flipV="1">
            <a:off x="4119087" y="3147441"/>
            <a:ext cx="832216" cy="8932"/>
          </a:xfrm>
          <a:prstGeom prst="line">
            <a:avLst/>
          </a:prstGeom>
          <a:ln w="38100">
            <a:solidFill>
              <a:srgbClr val="10B981"/>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2269063" y="3684692"/>
            <a:ext cx="0" cy="274320"/>
          </a:xfrm>
          <a:prstGeom prst="line">
            <a:avLst/>
          </a:prstGeom>
          <a:ln w="38100">
            <a:solidFill>
              <a:srgbClr val="7C3AED"/>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10300543" y="1512144"/>
            <a:ext cx="1463040" cy="1463040"/>
          </a:xfrm>
          <a:prstGeom prst="ellipse">
            <a:avLst/>
          </a:prstGeom>
          <a:solidFill>
            <a:srgbClr val="FEE2E2"/>
          </a:solidFill>
          <a:ln w="508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6" name="Connector 35"/>
          <p:cNvCxnSpPr/>
          <p:nvPr/>
        </p:nvCxnSpPr>
        <p:spPr>
          <a:xfrm>
            <a:off x="10483423" y="1695024"/>
            <a:ext cx="1097280" cy="1097280"/>
          </a:xfrm>
          <a:prstGeom prst="line">
            <a:avLst/>
          </a:prstGeom>
          <a:ln w="101600">
            <a:solidFill>
              <a:srgbClr val="EF444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10483423" y="1695024"/>
            <a:ext cx="1097280" cy="1097280"/>
          </a:xfrm>
          <a:prstGeom prst="line">
            <a:avLst/>
          </a:prstGeom>
          <a:ln w="101600">
            <a:solidFill>
              <a:srgbClr val="EF4444"/>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0323687" y="3068933"/>
            <a:ext cx="1620957" cy="584775"/>
          </a:xfrm>
          <a:prstGeom prst="rect">
            <a:avLst/>
          </a:prstGeom>
          <a:noFill/>
        </p:spPr>
        <p:txBody>
          <a:bodyPr wrap="none">
            <a:spAutoFit/>
          </a:bodyPr>
          <a:lstStyle/>
          <a:p>
            <a:pPr algn="ctr">
              <a:defRPr sz="1400" b="1">
                <a:solidFill>
                  <a:srgbClr val="DC2626"/>
                </a:solidFill>
              </a:defRPr>
            </a:pPr>
            <a:r>
              <a:rPr sz="1600" dirty="0" err="1">
                <a:latin typeface="メイリオ" panose="020B0604030504040204" pitchFamily="50" charset="-128"/>
                <a:ea typeface="メイリオ" panose="020B0604030504040204" pitchFamily="50" charset="-128"/>
              </a:rPr>
              <a:t>インターネット</a:t>
            </a:r>
            <a:endParaRPr lang="en-US" sz="1600" dirty="0">
              <a:latin typeface="メイリオ" panose="020B0604030504040204" pitchFamily="50" charset="-128"/>
              <a:ea typeface="メイリオ" panose="020B0604030504040204" pitchFamily="50" charset="-128"/>
            </a:endParaRPr>
          </a:p>
          <a:p>
            <a:pPr algn="ctr">
              <a:defRPr sz="1400" b="1">
                <a:solidFill>
                  <a:srgbClr val="DC2626"/>
                </a:solidFill>
              </a:defRPr>
            </a:pPr>
            <a:r>
              <a:rPr sz="1600" dirty="0" err="1">
                <a:latin typeface="メイリオ" panose="020B0604030504040204" pitchFamily="50" charset="-128"/>
                <a:ea typeface="メイリオ" panose="020B0604030504040204" pitchFamily="50" charset="-128"/>
              </a:rPr>
              <a:t>接続なし</a:t>
            </a:r>
            <a:endParaRPr sz="1600" dirty="0">
              <a:latin typeface="メイリオ" panose="020B0604030504040204" pitchFamily="50" charset="-128"/>
              <a:ea typeface="メイリオ" panose="020B0604030504040204" pitchFamily="50" charset="-128"/>
            </a:endParaRPr>
          </a:p>
        </p:txBody>
      </p:sp>
      <p:sp>
        <p:nvSpPr>
          <p:cNvPr id="40" name="TextBox 39"/>
          <p:cNvSpPr txBox="1"/>
          <p:nvPr/>
        </p:nvSpPr>
        <p:spPr>
          <a:xfrm>
            <a:off x="10096853" y="3959012"/>
            <a:ext cx="2020644" cy="1569660"/>
          </a:xfrm>
          <a:prstGeom prst="rect">
            <a:avLst/>
          </a:prstGeom>
          <a:noFill/>
        </p:spPr>
        <p:txBody>
          <a:bodyPr wrap="square">
            <a:spAutoFit/>
          </a:bodyPr>
          <a:lstStyle/>
          <a:p>
            <a:pPr>
              <a:defRPr sz="1200" b="1">
                <a:solidFill>
                  <a:srgbClr val="333333"/>
                </a:solidFill>
              </a:defRPr>
            </a:pPr>
            <a:r>
              <a:rPr sz="1600" dirty="0" err="1">
                <a:latin typeface="メイリオ" panose="020B0604030504040204" pitchFamily="50" charset="-128"/>
                <a:ea typeface="メイリオ" panose="020B0604030504040204" pitchFamily="50" charset="-128"/>
              </a:rPr>
              <a:t>主要機能</a:t>
            </a:r>
            <a:r>
              <a:rPr sz="1600" dirty="0">
                <a:latin typeface="メイリオ" panose="020B0604030504040204" pitchFamily="50" charset="-128"/>
                <a:ea typeface="メイリオ" panose="020B0604030504040204" pitchFamily="50" charset="-128"/>
              </a:rPr>
              <a:t>：</a:t>
            </a:r>
            <a:endParaRPr lang="en-US" sz="1600" dirty="0">
              <a:latin typeface="メイリオ" panose="020B0604030504040204" pitchFamily="50" charset="-128"/>
              <a:ea typeface="メイリオ" panose="020B0604030504040204" pitchFamily="50" charset="-128"/>
            </a:endParaRPr>
          </a:p>
          <a:p>
            <a:pPr>
              <a:defRPr sz="1200" b="1">
                <a:solidFill>
                  <a:srgbClr val="333333"/>
                </a:solidFill>
              </a:defRPr>
            </a:pPr>
            <a:r>
              <a:rPr sz="1600" dirty="0">
                <a:latin typeface="メイリオ" panose="020B0604030504040204" pitchFamily="50" charset="-128"/>
                <a:ea typeface="メイリオ" panose="020B0604030504040204" pitchFamily="50" charset="-128"/>
              </a:rPr>
              <a:t>● </a:t>
            </a:r>
            <a:r>
              <a:rPr sz="1600" dirty="0" err="1">
                <a:latin typeface="メイリオ" panose="020B0604030504040204" pitchFamily="50" charset="-128"/>
                <a:ea typeface="メイリオ" panose="020B0604030504040204" pitchFamily="50" charset="-128"/>
              </a:rPr>
              <a:t>全プロンプト・出力が病院内サーバーで完結</a:t>
            </a:r>
            <a:r>
              <a:rPr sz="1600" dirty="0">
                <a:latin typeface="メイリオ" panose="020B0604030504040204" pitchFamily="50" charset="-128"/>
                <a:ea typeface="メイリオ" panose="020B0604030504040204" pitchFamily="50" charset="-128"/>
              </a:rPr>
              <a:t>　</a:t>
            </a:r>
            <a:endParaRPr lang="en-US" sz="1600" dirty="0">
              <a:latin typeface="メイリオ" panose="020B0604030504040204" pitchFamily="50" charset="-128"/>
              <a:ea typeface="メイリオ" panose="020B0604030504040204" pitchFamily="50" charset="-128"/>
            </a:endParaRPr>
          </a:p>
          <a:p>
            <a:pPr>
              <a:defRPr sz="1200" b="1">
                <a:solidFill>
                  <a:srgbClr val="333333"/>
                </a:solidFill>
              </a:defRPr>
            </a:pPr>
            <a:r>
              <a:rPr sz="1600" dirty="0">
                <a:latin typeface="メイリオ" panose="020B0604030504040204" pitchFamily="50" charset="-128"/>
                <a:ea typeface="メイリオ" panose="020B0604030504040204" pitchFamily="50" charset="-128"/>
              </a:rPr>
              <a:t>● </a:t>
            </a:r>
            <a:r>
              <a:rPr sz="1600" dirty="0" err="1">
                <a:latin typeface="メイリオ" panose="020B0604030504040204" pitchFamily="50" charset="-128"/>
                <a:ea typeface="メイリオ" panose="020B0604030504040204" pitchFamily="50" charset="-128"/>
              </a:rPr>
              <a:t>外部送信経路を遮断</a:t>
            </a:r>
            <a:r>
              <a:rPr sz="1600" dirty="0">
                <a:latin typeface="メイリオ" panose="020B0604030504040204" pitchFamily="50" charset="-128"/>
                <a:ea typeface="メイリオ" panose="020B0604030504040204" pitchFamily="50" charset="-128"/>
              </a:rPr>
              <a:t>　</a:t>
            </a:r>
            <a:r>
              <a:rPr lang="ja-JP" altLang="en-US" sz="1600" dirty="0">
                <a:latin typeface="メイリオ" panose="020B0604030504040204" pitchFamily="50" charset="-128"/>
                <a:ea typeface="メイリオ" panose="020B0604030504040204" pitchFamily="50" charset="-128"/>
              </a:rPr>
              <a:t>　　　　　</a:t>
            </a:r>
            <a:endParaRPr lang="en-US" altLang="ja-JP" sz="1600" dirty="0">
              <a:latin typeface="メイリオ" panose="020B0604030504040204" pitchFamily="50" charset="-128"/>
              <a:ea typeface="メイリオ" panose="020B0604030504040204" pitchFamily="50" charset="-128"/>
            </a:endParaRPr>
          </a:p>
        </p:txBody>
      </p:sp>
      <p:sp>
        <p:nvSpPr>
          <p:cNvPr id="41" name="タイトル 1">
            <a:extLst>
              <a:ext uri="{FF2B5EF4-FFF2-40B4-BE49-F238E27FC236}">
                <a16:creationId xmlns:a16="http://schemas.microsoft.com/office/drawing/2014/main" id="{981A2325-A6F1-7446-E855-81281AC2AB8B}"/>
              </a:ext>
            </a:extLst>
          </p:cNvPr>
          <p:cNvSpPr>
            <a:spLocks noGrp="1"/>
          </p:cNvSpPr>
          <p:nvPr>
            <p:ph type="title"/>
          </p:nvPr>
        </p:nvSpPr>
        <p:spPr>
          <a:xfrm>
            <a:off x="211663" y="42168"/>
            <a:ext cx="11768670" cy="850722"/>
          </a:xfrm>
        </p:spPr>
        <p:txBody>
          <a:bodyPr vert="horz">
            <a:normAutofit/>
          </a:bodyPr>
          <a:lstStyle/>
          <a:p>
            <a:r>
              <a:rPr kumimoji="1" lang="ja-JP" altLang="en-US" dirty="0">
                <a:latin typeface="Trebuchet MS" panose="020B0603020202020204" pitchFamily="34" charset="0"/>
                <a:ea typeface="Meiryo UI" panose="020B0604030504040204" pitchFamily="50" charset="-128"/>
              </a:rPr>
              <a:t>対策：ローカル</a:t>
            </a:r>
            <a:r>
              <a:rPr kumimoji="1" lang="en-US" altLang="ja-JP" dirty="0">
                <a:latin typeface="Trebuchet MS" panose="020B0603020202020204" pitchFamily="34" charset="0"/>
                <a:ea typeface="Meiryo UI" panose="020B0604030504040204" pitchFamily="50" charset="-128"/>
              </a:rPr>
              <a:t>LLM</a:t>
            </a:r>
            <a:r>
              <a:rPr kumimoji="1" lang="ja-JP" altLang="en-US" dirty="0">
                <a:latin typeface="Trebuchet MS" panose="020B0603020202020204" pitchFamily="34" charset="0"/>
                <a:ea typeface="Meiryo UI" panose="020B0604030504040204" pitchFamily="50" charset="-128"/>
              </a:rPr>
              <a:t>によるオンプレ電子カルテシステム </a:t>
            </a:r>
            <a:endParaRPr kumimoji="1" lang="en-US" dirty="0">
              <a:latin typeface="Trebuchet MS" panose="020B0603020202020204" pitchFamily="34" charset="0"/>
              <a:ea typeface="Meiryo UI" panose="020B0604030504040204" pitchFamily="50" charset="-128"/>
            </a:endParaRPr>
          </a:p>
        </p:txBody>
      </p:sp>
      <p:sp>
        <p:nvSpPr>
          <p:cNvPr id="42" name="Rounded Rectangle 22">
            <a:extLst>
              <a:ext uri="{FF2B5EF4-FFF2-40B4-BE49-F238E27FC236}">
                <a16:creationId xmlns:a16="http://schemas.microsoft.com/office/drawing/2014/main" id="{CC1D4153-9D1D-9A73-0487-876E0AB30ABA}"/>
              </a:ext>
            </a:extLst>
          </p:cNvPr>
          <p:cNvSpPr/>
          <p:nvPr/>
        </p:nvSpPr>
        <p:spPr>
          <a:xfrm>
            <a:off x="5670285" y="3390570"/>
            <a:ext cx="851426" cy="114109"/>
          </a:xfrm>
          <a:prstGeom prst="roundRect">
            <a:avLst/>
          </a:prstGeom>
          <a:solidFill>
            <a:srgbClr val="1F2937"/>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22">
            <a:extLst>
              <a:ext uri="{FF2B5EF4-FFF2-40B4-BE49-F238E27FC236}">
                <a16:creationId xmlns:a16="http://schemas.microsoft.com/office/drawing/2014/main" id="{F41FDF9E-22BD-7D7D-59C6-DC7E89DC9A3A}"/>
              </a:ext>
            </a:extLst>
          </p:cNvPr>
          <p:cNvSpPr/>
          <p:nvPr/>
        </p:nvSpPr>
        <p:spPr>
          <a:xfrm>
            <a:off x="7885525" y="3401137"/>
            <a:ext cx="851426" cy="114109"/>
          </a:xfrm>
          <a:prstGeom prst="roundRect">
            <a:avLst/>
          </a:prstGeom>
          <a:solidFill>
            <a:srgbClr val="1F2937"/>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22">
            <a:extLst>
              <a:ext uri="{FF2B5EF4-FFF2-40B4-BE49-F238E27FC236}">
                <a16:creationId xmlns:a16="http://schemas.microsoft.com/office/drawing/2014/main" id="{3F7D82AB-918D-8518-1E17-F04999D27CB3}"/>
              </a:ext>
            </a:extLst>
          </p:cNvPr>
          <p:cNvSpPr/>
          <p:nvPr/>
        </p:nvSpPr>
        <p:spPr>
          <a:xfrm>
            <a:off x="6781110" y="5827219"/>
            <a:ext cx="851426" cy="114109"/>
          </a:xfrm>
          <a:prstGeom prst="roundRect">
            <a:avLst/>
          </a:prstGeom>
          <a:solidFill>
            <a:srgbClr val="1F2937"/>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9" name="Connector 32">
            <a:extLst>
              <a:ext uri="{FF2B5EF4-FFF2-40B4-BE49-F238E27FC236}">
                <a16:creationId xmlns:a16="http://schemas.microsoft.com/office/drawing/2014/main" id="{588E968D-5E6A-455F-88D0-7F2DCD7C2B56}"/>
              </a:ext>
            </a:extLst>
          </p:cNvPr>
          <p:cNvCxnSpPr>
            <a:cxnSpLocks/>
          </p:cNvCxnSpPr>
          <p:nvPr/>
        </p:nvCxnSpPr>
        <p:spPr>
          <a:xfrm flipV="1">
            <a:off x="4119087" y="5242559"/>
            <a:ext cx="959350" cy="4852"/>
          </a:xfrm>
          <a:prstGeom prst="line">
            <a:avLst/>
          </a:prstGeom>
          <a:ln w="38100">
            <a:solidFill>
              <a:srgbClr val="10B98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57480" y="891275"/>
            <a:ext cx="4114800" cy="2004904"/>
          </a:xfrm>
          <a:prstGeom prst="roundRect">
            <a:avLst/>
          </a:prstGeom>
          <a:solidFill>
            <a:srgbClr val="FEE2E2"/>
          </a:solidFill>
          <a:ln w="381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68401" y="1011253"/>
            <a:ext cx="2001520" cy="400110"/>
          </a:xfrm>
          <a:prstGeom prst="rect">
            <a:avLst/>
          </a:prstGeom>
          <a:noFill/>
        </p:spPr>
        <p:txBody>
          <a:bodyPr wrap="square">
            <a:spAutoFit/>
          </a:bodyPr>
          <a:lstStyle/>
          <a:p>
            <a:pPr algn="ctr">
              <a:defRPr sz="1800" b="1">
                <a:solidFill>
                  <a:srgbClr val="DC2626"/>
                </a:solidFill>
              </a:defRPr>
            </a:pPr>
            <a:r>
              <a:rPr sz="2000" dirty="0" err="1">
                <a:latin typeface="メイリオ" panose="020B0604030504040204" pitchFamily="50" charset="-128"/>
                <a:ea typeface="メイリオ" panose="020B0604030504040204" pitchFamily="50" charset="-128"/>
              </a:rPr>
              <a:t>リスク要因</a:t>
            </a:r>
            <a:endParaRPr sz="2000" dirty="0">
              <a:latin typeface="メイリオ" panose="020B0604030504040204" pitchFamily="50" charset="-128"/>
              <a:ea typeface="メイリオ" panose="020B0604030504040204" pitchFamily="50" charset="-128"/>
            </a:endParaRPr>
          </a:p>
        </p:txBody>
      </p:sp>
      <p:sp>
        <p:nvSpPr>
          <p:cNvPr id="6" name="Rounded Rectangle 5"/>
          <p:cNvSpPr/>
          <p:nvPr/>
        </p:nvSpPr>
        <p:spPr>
          <a:xfrm>
            <a:off x="387770" y="1452880"/>
            <a:ext cx="3566160" cy="384274"/>
          </a:xfrm>
          <a:prstGeom prst="roundRect">
            <a:avLst/>
          </a:prstGeom>
          <a:solidFill>
            <a:srgbClr val="FEF2F2"/>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18756" y="1498600"/>
            <a:ext cx="2242603" cy="338554"/>
          </a:xfrm>
          <a:prstGeom prst="rect">
            <a:avLst/>
          </a:prstGeom>
          <a:noFill/>
        </p:spPr>
        <p:txBody>
          <a:bodyPr wrap="square">
            <a:spAutoFit/>
          </a:bodyPr>
          <a:lstStyle/>
          <a:p>
            <a:pPr algn="ctr">
              <a:defRPr sz="1400" b="1">
                <a:solidFill>
                  <a:srgbClr val="DC2626"/>
                </a:solidFill>
              </a:defRPr>
            </a:pPr>
            <a:r>
              <a:rPr sz="1600" dirty="0" err="1">
                <a:latin typeface="メイリオ" panose="020B0604030504040204" pitchFamily="50" charset="-128"/>
                <a:ea typeface="メイリオ" panose="020B0604030504040204" pitchFamily="50" charset="-128"/>
              </a:rPr>
              <a:t>信頼関係の希薄化</a:t>
            </a:r>
            <a:endParaRPr sz="1600" dirty="0">
              <a:latin typeface="メイリオ" panose="020B0604030504040204" pitchFamily="50" charset="-128"/>
              <a:ea typeface="メイリオ" panose="020B0604030504040204" pitchFamily="50" charset="-128"/>
            </a:endParaRPr>
          </a:p>
        </p:txBody>
      </p:sp>
      <p:sp>
        <p:nvSpPr>
          <p:cNvPr id="8" name="Rounded Rectangle 7"/>
          <p:cNvSpPr/>
          <p:nvPr/>
        </p:nvSpPr>
        <p:spPr>
          <a:xfrm>
            <a:off x="397927" y="1925319"/>
            <a:ext cx="3566160" cy="338554"/>
          </a:xfrm>
          <a:prstGeom prst="roundRect">
            <a:avLst/>
          </a:prstGeom>
          <a:solidFill>
            <a:srgbClr val="FEF2F2"/>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83733" y="1925319"/>
            <a:ext cx="2319867" cy="338554"/>
          </a:xfrm>
          <a:prstGeom prst="rect">
            <a:avLst/>
          </a:prstGeom>
          <a:noFill/>
        </p:spPr>
        <p:txBody>
          <a:bodyPr wrap="square">
            <a:spAutoFit/>
          </a:bodyPr>
          <a:lstStyle/>
          <a:p>
            <a:pPr algn="ctr">
              <a:defRPr sz="1400" b="1">
                <a:solidFill>
                  <a:srgbClr val="DC2626"/>
                </a:solidFill>
              </a:defRPr>
            </a:pPr>
            <a:r>
              <a:rPr sz="1600" dirty="0" err="1">
                <a:latin typeface="メイリオ" panose="020B0604030504040204" pitchFamily="50" charset="-128"/>
                <a:ea typeface="メイリオ" panose="020B0604030504040204" pitchFamily="50" charset="-128"/>
              </a:rPr>
              <a:t>説明責任の不透明化</a:t>
            </a:r>
            <a:endParaRPr sz="1600" dirty="0">
              <a:latin typeface="メイリオ" panose="020B0604030504040204" pitchFamily="50" charset="-128"/>
              <a:ea typeface="メイリオ" panose="020B0604030504040204" pitchFamily="50" charset="-128"/>
            </a:endParaRPr>
          </a:p>
        </p:txBody>
      </p:sp>
      <p:sp>
        <p:nvSpPr>
          <p:cNvPr id="10" name="Rounded Rectangle 9"/>
          <p:cNvSpPr/>
          <p:nvPr/>
        </p:nvSpPr>
        <p:spPr>
          <a:xfrm>
            <a:off x="381092" y="2358401"/>
            <a:ext cx="3566160" cy="338554"/>
          </a:xfrm>
          <a:prstGeom prst="roundRect">
            <a:avLst/>
          </a:prstGeom>
          <a:solidFill>
            <a:srgbClr val="FEF2F2"/>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68401" y="2360503"/>
            <a:ext cx="2092958" cy="338554"/>
          </a:xfrm>
          <a:prstGeom prst="rect">
            <a:avLst/>
          </a:prstGeom>
          <a:noFill/>
        </p:spPr>
        <p:txBody>
          <a:bodyPr wrap="square">
            <a:spAutoFit/>
          </a:bodyPr>
          <a:lstStyle/>
          <a:p>
            <a:pPr algn="ctr">
              <a:defRPr sz="1400" b="1">
                <a:solidFill>
                  <a:srgbClr val="DC2626"/>
                </a:solidFill>
              </a:defRPr>
            </a:pPr>
            <a:r>
              <a:rPr lang="ja-JP" altLang="en-US" sz="1600" dirty="0">
                <a:latin typeface="メイリオ" panose="020B0604030504040204" pitchFamily="50" charset="-128"/>
                <a:ea typeface="メイリオ" panose="020B0604030504040204" pitchFamily="50" charset="-128"/>
              </a:rPr>
              <a:t>同意形成の形骸化</a:t>
            </a:r>
            <a:endParaRPr sz="1600" dirty="0">
              <a:latin typeface="メイリオ" panose="020B0604030504040204" pitchFamily="50" charset="-128"/>
              <a:ea typeface="メイリオ" panose="020B0604030504040204" pitchFamily="50" charset="-128"/>
            </a:endParaRPr>
          </a:p>
        </p:txBody>
      </p:sp>
      <p:sp>
        <p:nvSpPr>
          <p:cNvPr id="13" name="Rounded Rectangle 12"/>
          <p:cNvSpPr/>
          <p:nvPr/>
        </p:nvSpPr>
        <p:spPr>
          <a:xfrm>
            <a:off x="4987214" y="873446"/>
            <a:ext cx="4114800" cy="2013368"/>
          </a:xfrm>
          <a:prstGeom prst="roundRect">
            <a:avLst/>
          </a:prstGeom>
          <a:solidFill>
            <a:srgbClr val="DCFCE7"/>
          </a:solidFill>
          <a:ln w="381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56775" y="1027009"/>
            <a:ext cx="697628" cy="400110"/>
          </a:xfrm>
          <a:prstGeom prst="rect">
            <a:avLst/>
          </a:prstGeom>
          <a:noFill/>
        </p:spPr>
        <p:txBody>
          <a:bodyPr wrap="none">
            <a:spAutoFit/>
          </a:bodyPr>
          <a:lstStyle/>
          <a:p>
            <a:pPr algn="ctr">
              <a:defRPr sz="1800" b="1">
                <a:solidFill>
                  <a:srgbClr val="16A34A"/>
                </a:solidFill>
              </a:defRPr>
            </a:pPr>
            <a:r>
              <a:rPr sz="2000" dirty="0" err="1">
                <a:latin typeface="メイリオ" panose="020B0604030504040204" pitchFamily="50" charset="-128"/>
                <a:ea typeface="メイリオ" panose="020B0604030504040204" pitchFamily="50" charset="-128"/>
              </a:rPr>
              <a:t>対策</a:t>
            </a:r>
            <a:endParaRPr sz="2000" dirty="0">
              <a:latin typeface="メイリオ" panose="020B0604030504040204" pitchFamily="50" charset="-128"/>
              <a:ea typeface="メイリオ" panose="020B0604030504040204" pitchFamily="50" charset="-128"/>
            </a:endParaRPr>
          </a:p>
        </p:txBody>
      </p:sp>
      <p:sp>
        <p:nvSpPr>
          <p:cNvPr id="15" name="Rounded Rectangle 14"/>
          <p:cNvSpPr/>
          <p:nvPr/>
        </p:nvSpPr>
        <p:spPr>
          <a:xfrm>
            <a:off x="5215158" y="1449696"/>
            <a:ext cx="3566160" cy="358989"/>
          </a:xfrm>
          <a:prstGeom prst="roundRect">
            <a:avLst/>
          </a:prstGeom>
          <a:solidFill>
            <a:srgbClr val="F0FDF4"/>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890524" y="1486038"/>
            <a:ext cx="2215427" cy="338554"/>
          </a:xfrm>
          <a:prstGeom prst="rect">
            <a:avLst/>
          </a:prstGeom>
          <a:noFill/>
        </p:spPr>
        <p:txBody>
          <a:bodyPr wrap="square">
            <a:spAutoFit/>
          </a:bodyPr>
          <a:lstStyle/>
          <a:p>
            <a:pPr algn="ctr">
              <a:defRPr sz="1400" b="1">
                <a:solidFill>
                  <a:srgbClr val="16A34A"/>
                </a:solidFill>
              </a:defRPr>
            </a:pPr>
            <a:r>
              <a:rPr sz="1400" dirty="0"/>
              <a:t>「</a:t>
            </a:r>
            <a:r>
              <a:rPr sz="1600" dirty="0" err="1">
                <a:latin typeface="メイリオ" panose="020B0604030504040204" pitchFamily="50" charset="-128"/>
                <a:ea typeface="メイリオ" panose="020B0604030504040204" pitchFamily="50" charset="-128"/>
              </a:rPr>
              <a:t>医師確認済」表示</a:t>
            </a:r>
            <a:endParaRPr sz="1600" dirty="0">
              <a:latin typeface="メイリオ" panose="020B0604030504040204" pitchFamily="50" charset="-128"/>
              <a:ea typeface="メイリオ" panose="020B0604030504040204" pitchFamily="50" charset="-128"/>
            </a:endParaRPr>
          </a:p>
        </p:txBody>
      </p:sp>
      <p:sp>
        <p:nvSpPr>
          <p:cNvPr id="17" name="Rounded Rectangle 16"/>
          <p:cNvSpPr/>
          <p:nvPr/>
        </p:nvSpPr>
        <p:spPr>
          <a:xfrm>
            <a:off x="5202935" y="1893727"/>
            <a:ext cx="3566160" cy="346102"/>
          </a:xfrm>
          <a:prstGeom prst="roundRect">
            <a:avLst/>
          </a:prstGeom>
          <a:solidFill>
            <a:srgbClr val="F0FDF4"/>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73990" y="1925319"/>
            <a:ext cx="2743200" cy="338554"/>
          </a:xfrm>
          <a:prstGeom prst="rect">
            <a:avLst/>
          </a:prstGeom>
          <a:noFill/>
        </p:spPr>
        <p:txBody>
          <a:bodyPr wrap="square">
            <a:spAutoFit/>
          </a:bodyPr>
          <a:lstStyle/>
          <a:p>
            <a:pPr algn="ctr">
              <a:defRPr sz="1400" b="1">
                <a:solidFill>
                  <a:srgbClr val="16A34A"/>
                </a:solidFill>
              </a:defRPr>
            </a:pPr>
            <a:r>
              <a:rPr sz="1600" dirty="0">
                <a:latin typeface="メイリオ" panose="020B0604030504040204" pitchFamily="50" charset="-128"/>
                <a:ea typeface="メイリオ" panose="020B0604030504040204" pitchFamily="50" charset="-128"/>
              </a:rPr>
              <a:t>AI/</a:t>
            </a:r>
            <a:r>
              <a:rPr sz="1600" dirty="0" err="1">
                <a:latin typeface="メイリオ" panose="020B0604030504040204" pitchFamily="50" charset="-128"/>
                <a:ea typeface="メイリオ" panose="020B0604030504040204" pitchFamily="50" charset="-128"/>
              </a:rPr>
              <a:t>医師判断の明確化</a:t>
            </a:r>
            <a:endParaRPr sz="1600" dirty="0">
              <a:latin typeface="メイリオ" panose="020B0604030504040204" pitchFamily="50" charset="-128"/>
              <a:ea typeface="メイリオ" panose="020B0604030504040204" pitchFamily="50" charset="-128"/>
            </a:endParaRPr>
          </a:p>
        </p:txBody>
      </p:sp>
      <p:sp>
        <p:nvSpPr>
          <p:cNvPr id="19" name="Rounded Rectangle 18"/>
          <p:cNvSpPr/>
          <p:nvPr/>
        </p:nvSpPr>
        <p:spPr>
          <a:xfrm>
            <a:off x="5222509" y="2340356"/>
            <a:ext cx="3566160" cy="358989"/>
          </a:xfrm>
          <a:prstGeom prst="roundRect">
            <a:avLst/>
          </a:prstGeom>
          <a:solidFill>
            <a:srgbClr val="F0FDF4"/>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736131" y="2373844"/>
            <a:ext cx="2615661" cy="338554"/>
          </a:xfrm>
          <a:prstGeom prst="rect">
            <a:avLst/>
          </a:prstGeom>
          <a:noFill/>
        </p:spPr>
        <p:txBody>
          <a:bodyPr wrap="square">
            <a:spAutoFit/>
          </a:bodyPr>
          <a:lstStyle/>
          <a:p>
            <a:pPr algn="ctr">
              <a:defRPr sz="1400" b="1">
                <a:solidFill>
                  <a:srgbClr val="16A34A"/>
                </a:solidFill>
              </a:defRPr>
            </a:pPr>
            <a:r>
              <a:rPr sz="1600" dirty="0" err="1">
                <a:latin typeface="メイリオ" panose="020B0604030504040204" pitchFamily="50" charset="-128"/>
                <a:ea typeface="メイリオ" panose="020B0604030504040204" pitchFamily="50" charset="-128"/>
              </a:rPr>
              <a:t>信頼を生むUXデザイン</a:t>
            </a:r>
            <a:endParaRPr sz="1600" dirty="0">
              <a:latin typeface="メイリオ" panose="020B0604030504040204" pitchFamily="50" charset="-128"/>
              <a:ea typeface="メイリオ" panose="020B0604030504040204" pitchFamily="50" charset="-128"/>
            </a:endParaRPr>
          </a:p>
        </p:txBody>
      </p:sp>
      <p:sp>
        <p:nvSpPr>
          <p:cNvPr id="22" name="Rounded Rectangle 21"/>
          <p:cNvSpPr/>
          <p:nvPr/>
        </p:nvSpPr>
        <p:spPr>
          <a:xfrm>
            <a:off x="9775512" y="839889"/>
            <a:ext cx="2178799" cy="2011680"/>
          </a:xfrm>
          <a:prstGeom prst="roundRect">
            <a:avLst/>
          </a:prstGeom>
          <a:solidFill>
            <a:srgbClr val="DDD6FE"/>
          </a:solidFill>
          <a:ln w="381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932565" y="1072117"/>
            <a:ext cx="1884280" cy="1384995"/>
          </a:xfrm>
          <a:prstGeom prst="rect">
            <a:avLst/>
          </a:prstGeom>
          <a:noFill/>
        </p:spPr>
        <p:txBody>
          <a:bodyPr wrap="square">
            <a:spAutoFit/>
          </a:bodyPr>
          <a:lstStyle/>
          <a:p>
            <a:pPr algn="ctr">
              <a:defRPr sz="1200">
                <a:solidFill>
                  <a:srgbClr val="7C3AED"/>
                </a:solidFill>
              </a:defRPr>
            </a:pPr>
            <a:r>
              <a:rPr sz="2000" b="1" dirty="0" err="1">
                <a:latin typeface="メイリオ" panose="020B0604030504040204" pitchFamily="50" charset="-128"/>
                <a:ea typeface="メイリオ" panose="020B0604030504040204" pitchFamily="50" charset="-128"/>
              </a:rPr>
              <a:t>効果</a:t>
            </a:r>
            <a:endParaRPr sz="2000" b="1" dirty="0">
              <a:latin typeface="メイリオ" panose="020B0604030504040204" pitchFamily="50" charset="-128"/>
              <a:ea typeface="メイリオ" panose="020B0604030504040204" pitchFamily="50" charset="-128"/>
            </a:endParaRPr>
          </a:p>
          <a:p>
            <a:pPr algn="ctr">
              <a:defRPr sz="1200">
                <a:solidFill>
                  <a:srgbClr val="7C3AED"/>
                </a:solidFill>
              </a:defRPr>
            </a:pPr>
            <a:endParaRPr lang="en-US" sz="1600" dirty="0">
              <a:latin typeface="メイリオ" panose="020B0604030504040204" pitchFamily="50" charset="-128"/>
              <a:ea typeface="メイリオ" panose="020B0604030504040204" pitchFamily="50" charset="-128"/>
            </a:endParaRPr>
          </a:p>
          <a:p>
            <a:pPr algn="ctr">
              <a:defRPr sz="1200">
                <a:solidFill>
                  <a:srgbClr val="7C3AED"/>
                </a:solidFill>
              </a:defRPr>
            </a:pPr>
            <a:r>
              <a:rPr sz="1600" b="1" dirty="0" err="1">
                <a:latin typeface="メイリオ" panose="020B0604030504040204" pitchFamily="50" charset="-128"/>
                <a:ea typeface="メイリオ" panose="020B0604030504040204" pitchFamily="50" charset="-128"/>
              </a:rPr>
              <a:t>新たな</a:t>
            </a:r>
            <a:endParaRPr lang="en-US" sz="1600" b="1" dirty="0">
              <a:latin typeface="メイリオ" panose="020B0604030504040204" pitchFamily="50" charset="-128"/>
              <a:ea typeface="メイリオ" panose="020B0604030504040204" pitchFamily="50" charset="-128"/>
            </a:endParaRPr>
          </a:p>
          <a:p>
            <a:pPr algn="ctr">
              <a:defRPr sz="1200">
                <a:solidFill>
                  <a:srgbClr val="7C3AED"/>
                </a:solidFill>
              </a:defRPr>
            </a:pPr>
            <a:r>
              <a:rPr sz="1600" b="1" dirty="0" err="1">
                <a:latin typeface="メイリオ" panose="020B0604030504040204" pitchFamily="50" charset="-128"/>
                <a:ea typeface="メイリオ" panose="020B0604030504040204" pitchFamily="50" charset="-128"/>
              </a:rPr>
              <a:t>信頼関係の</a:t>
            </a:r>
            <a:endParaRPr sz="1600" b="1" dirty="0">
              <a:latin typeface="メイリオ" panose="020B0604030504040204" pitchFamily="50" charset="-128"/>
              <a:ea typeface="メイリオ" panose="020B0604030504040204" pitchFamily="50" charset="-128"/>
            </a:endParaRPr>
          </a:p>
          <a:p>
            <a:pPr algn="ctr">
              <a:defRPr sz="1200">
                <a:solidFill>
                  <a:srgbClr val="7C3AED"/>
                </a:solidFill>
              </a:defRPr>
            </a:pPr>
            <a:r>
              <a:rPr sz="1600" b="1" dirty="0" err="1">
                <a:latin typeface="メイリオ" panose="020B0604030504040204" pitchFamily="50" charset="-128"/>
                <a:ea typeface="メイリオ" panose="020B0604030504040204" pitchFamily="50" charset="-128"/>
              </a:rPr>
              <a:t>構築</a:t>
            </a:r>
            <a:endParaRPr sz="1600" b="1" dirty="0">
              <a:latin typeface="メイリオ" panose="020B0604030504040204" pitchFamily="50" charset="-128"/>
              <a:ea typeface="メイリオ" panose="020B0604030504040204" pitchFamily="50" charset="-128"/>
            </a:endParaRPr>
          </a:p>
        </p:txBody>
      </p:sp>
      <p:sp>
        <p:nvSpPr>
          <p:cNvPr id="24" name="Rounded Rectangle 23"/>
          <p:cNvSpPr/>
          <p:nvPr/>
        </p:nvSpPr>
        <p:spPr>
          <a:xfrm>
            <a:off x="157480" y="3034449"/>
            <a:ext cx="11796831" cy="3747349"/>
          </a:xfrm>
          <a:prstGeom prst="roundRect">
            <a:avLst/>
          </a:prstGeom>
          <a:solidFill>
            <a:srgbClr val="E0F2FE"/>
          </a:solidFill>
          <a:ln w="254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259622" y="3125890"/>
            <a:ext cx="1723550" cy="400110"/>
          </a:xfrm>
          <a:prstGeom prst="rect">
            <a:avLst/>
          </a:prstGeom>
          <a:noFill/>
        </p:spPr>
        <p:txBody>
          <a:bodyPr wrap="none">
            <a:spAutoFit/>
          </a:bodyPr>
          <a:lstStyle/>
          <a:p>
            <a:pPr algn="ctr">
              <a:defRPr sz="1600" b="1">
                <a:solidFill>
                  <a:srgbClr val="0369A1"/>
                </a:solidFill>
              </a:defRPr>
            </a:pPr>
            <a:r>
              <a:rPr sz="2000" dirty="0" err="1">
                <a:latin typeface="メイリオ" panose="020B0604030504040204" pitchFamily="50" charset="-128"/>
                <a:ea typeface="メイリオ" panose="020B0604030504040204" pitchFamily="50" charset="-128"/>
              </a:rPr>
              <a:t>実装イメージ</a:t>
            </a:r>
            <a:endParaRPr sz="2000" dirty="0">
              <a:latin typeface="メイリオ" panose="020B0604030504040204" pitchFamily="50" charset="-128"/>
              <a:ea typeface="メイリオ" panose="020B0604030504040204" pitchFamily="50" charset="-128"/>
            </a:endParaRPr>
          </a:p>
        </p:txBody>
      </p:sp>
      <p:sp>
        <p:nvSpPr>
          <p:cNvPr id="26" name="Rounded Rectangle 25"/>
          <p:cNvSpPr/>
          <p:nvPr/>
        </p:nvSpPr>
        <p:spPr>
          <a:xfrm>
            <a:off x="1092197" y="3674530"/>
            <a:ext cx="4572000" cy="2560320"/>
          </a:xfrm>
          <a:prstGeom prst="roundRect">
            <a:avLst/>
          </a:prstGeom>
          <a:solidFill>
            <a:srgbClr val="FFFFFF"/>
          </a:solidFill>
          <a:ln w="25400">
            <a:solidFill>
              <a:srgbClr val="6B72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1092197" y="3674530"/>
            <a:ext cx="4572000" cy="365760"/>
          </a:xfrm>
          <a:prstGeom prst="roundRect">
            <a:avLst/>
          </a:prstGeom>
          <a:solidFill>
            <a:srgbClr val="1E40A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259942" y="3674531"/>
            <a:ext cx="2236510" cy="400110"/>
          </a:xfrm>
          <a:prstGeom prst="rect">
            <a:avLst/>
          </a:prstGeom>
          <a:noFill/>
        </p:spPr>
        <p:txBody>
          <a:bodyPr wrap="none">
            <a:spAutoFit/>
          </a:bodyPr>
          <a:lstStyle/>
          <a:p>
            <a:pPr algn="ctr">
              <a:defRPr sz="1200" b="1">
                <a:solidFill>
                  <a:srgbClr val="FFFFFF"/>
                </a:solidFill>
              </a:defRPr>
            </a:pPr>
            <a:r>
              <a:rPr sz="2000" dirty="0" err="1">
                <a:latin typeface="メイリオ" panose="020B0604030504040204" pitchFamily="50" charset="-128"/>
                <a:ea typeface="メイリオ" panose="020B0604030504040204" pitchFamily="50" charset="-128"/>
              </a:rPr>
              <a:t>診療支援システム</a:t>
            </a:r>
            <a:endParaRPr sz="2000" dirty="0">
              <a:latin typeface="メイリオ" panose="020B0604030504040204" pitchFamily="50" charset="-128"/>
              <a:ea typeface="メイリオ" panose="020B0604030504040204" pitchFamily="50" charset="-128"/>
            </a:endParaRPr>
          </a:p>
        </p:txBody>
      </p:sp>
      <p:sp>
        <p:nvSpPr>
          <p:cNvPr id="29" name="Rounded Rectangle 28"/>
          <p:cNvSpPr/>
          <p:nvPr/>
        </p:nvSpPr>
        <p:spPr>
          <a:xfrm>
            <a:off x="1275077" y="4223170"/>
            <a:ext cx="4206240" cy="914400"/>
          </a:xfrm>
          <a:prstGeom prst="roundRect">
            <a:avLst/>
          </a:prstGeom>
          <a:solidFill>
            <a:srgbClr val="F3F4F6"/>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1366517" y="4314610"/>
            <a:ext cx="1097280" cy="274320"/>
          </a:xfrm>
          <a:prstGeom prst="roundRect">
            <a:avLst/>
          </a:prstGeom>
          <a:solidFill>
            <a:srgbClr val="FBBF24"/>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284215" y="4314610"/>
            <a:ext cx="1261885" cy="338554"/>
          </a:xfrm>
          <a:prstGeom prst="rect">
            <a:avLst/>
          </a:prstGeom>
          <a:noFill/>
        </p:spPr>
        <p:txBody>
          <a:bodyPr wrap="none">
            <a:spAutoFit/>
          </a:bodyPr>
          <a:lstStyle/>
          <a:p>
            <a:pPr algn="ctr">
              <a:defRPr sz="900" b="1">
                <a:solidFill>
                  <a:srgbClr val="FFFFFF"/>
                </a:solidFill>
              </a:defRPr>
            </a:pPr>
            <a:r>
              <a:rPr sz="1600" dirty="0" err="1">
                <a:latin typeface="メイリオ" panose="020B0604030504040204" pitchFamily="50" charset="-128"/>
                <a:ea typeface="メイリオ" panose="020B0604030504040204" pitchFamily="50" charset="-128"/>
              </a:rPr>
              <a:t>AI分析結果</a:t>
            </a:r>
            <a:endParaRPr sz="1600" dirty="0">
              <a:latin typeface="メイリオ" panose="020B0604030504040204" pitchFamily="50" charset="-128"/>
              <a:ea typeface="メイリオ" panose="020B0604030504040204" pitchFamily="50" charset="-128"/>
            </a:endParaRPr>
          </a:p>
        </p:txBody>
      </p:sp>
      <p:sp>
        <p:nvSpPr>
          <p:cNvPr id="32" name="TextBox 31"/>
          <p:cNvSpPr txBox="1"/>
          <p:nvPr/>
        </p:nvSpPr>
        <p:spPr>
          <a:xfrm>
            <a:off x="1366517" y="4628335"/>
            <a:ext cx="2441694" cy="584775"/>
          </a:xfrm>
          <a:prstGeom prst="rect">
            <a:avLst/>
          </a:prstGeom>
          <a:noFill/>
        </p:spPr>
        <p:txBody>
          <a:bodyPr wrap="none">
            <a:spAutoFit/>
          </a:bodyPr>
          <a:lstStyle/>
          <a:p>
            <a:pPr>
              <a:defRPr sz="1000">
                <a:solidFill>
                  <a:srgbClr val="333333"/>
                </a:solidFill>
              </a:defRPr>
            </a:pPr>
            <a:r>
              <a:rPr sz="1600" dirty="0" err="1">
                <a:latin typeface="メイリオ" panose="020B0604030504040204" pitchFamily="50" charset="-128"/>
                <a:ea typeface="メイリオ" panose="020B0604030504040204" pitchFamily="50" charset="-128"/>
              </a:rPr>
              <a:t>推奨診断：急性上気道炎</a:t>
            </a:r>
            <a:endParaRPr sz="1600" dirty="0">
              <a:latin typeface="メイリオ" panose="020B0604030504040204" pitchFamily="50" charset="-128"/>
              <a:ea typeface="メイリオ" panose="020B0604030504040204" pitchFamily="50" charset="-128"/>
            </a:endParaRPr>
          </a:p>
          <a:p>
            <a:pPr>
              <a:defRPr sz="1000">
                <a:solidFill>
                  <a:srgbClr val="333333"/>
                </a:solidFill>
              </a:defRPr>
            </a:pPr>
            <a:r>
              <a:rPr sz="1600" dirty="0">
                <a:latin typeface="メイリオ" panose="020B0604030504040204" pitchFamily="50" charset="-128"/>
                <a:ea typeface="メイリオ" panose="020B0604030504040204" pitchFamily="50" charset="-128"/>
              </a:rPr>
              <a:t>確信度：85%</a:t>
            </a:r>
          </a:p>
        </p:txBody>
      </p:sp>
      <p:sp>
        <p:nvSpPr>
          <p:cNvPr id="33" name="Rounded Rectangle 32"/>
          <p:cNvSpPr/>
          <p:nvPr/>
        </p:nvSpPr>
        <p:spPr>
          <a:xfrm>
            <a:off x="1275077" y="5320450"/>
            <a:ext cx="4206240" cy="548640"/>
          </a:xfrm>
          <a:prstGeom prst="roundRect">
            <a:avLst/>
          </a:prstGeom>
          <a:solidFill>
            <a:srgbClr val="DCFCE7"/>
          </a:solidFill>
          <a:ln w="254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457957" y="5457610"/>
            <a:ext cx="274320" cy="274320"/>
          </a:xfrm>
          <a:prstGeom prst="ellipse">
            <a:avLst/>
          </a:prstGeom>
          <a:solidFill>
            <a:srgbClr val="16A34A"/>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823718" y="5320450"/>
            <a:ext cx="3262432" cy="584775"/>
          </a:xfrm>
          <a:prstGeom prst="rect">
            <a:avLst/>
          </a:prstGeom>
          <a:noFill/>
        </p:spPr>
        <p:txBody>
          <a:bodyPr wrap="none">
            <a:spAutoFit/>
          </a:bodyPr>
          <a:lstStyle/>
          <a:p>
            <a:pPr>
              <a:defRPr sz="1100" b="1">
                <a:solidFill>
                  <a:srgbClr val="16A34A"/>
                </a:solidFill>
              </a:defRPr>
            </a:pPr>
            <a:r>
              <a:rPr sz="1600" dirty="0" err="1">
                <a:latin typeface="メイリオ" panose="020B0604030504040204" pitchFamily="50" charset="-128"/>
                <a:ea typeface="メイリオ" panose="020B0604030504040204" pitchFamily="50" charset="-128"/>
              </a:rPr>
              <a:t>医師確認済</a:t>
            </a:r>
            <a:endParaRPr sz="1600" dirty="0">
              <a:latin typeface="メイリオ" panose="020B0604030504040204" pitchFamily="50" charset="-128"/>
              <a:ea typeface="メイリオ" panose="020B0604030504040204" pitchFamily="50" charset="-128"/>
            </a:endParaRPr>
          </a:p>
          <a:p>
            <a:pPr>
              <a:defRPr sz="900">
                <a:solidFill>
                  <a:srgbClr val="333333"/>
                </a:solidFill>
              </a:defRPr>
            </a:pPr>
            <a:r>
              <a:rPr sz="1600" dirty="0" err="1">
                <a:latin typeface="メイリオ" panose="020B0604030504040204" pitchFamily="50" charset="-128"/>
                <a:ea typeface="メイリオ" panose="020B0604030504040204" pitchFamily="50" charset="-128"/>
              </a:rPr>
              <a:t>最終診断は医師が判断しています</a:t>
            </a:r>
            <a:endParaRPr sz="1600" dirty="0">
              <a:latin typeface="メイリオ" panose="020B0604030504040204" pitchFamily="50" charset="-128"/>
              <a:ea typeface="メイリオ" panose="020B0604030504040204" pitchFamily="50" charset="-128"/>
            </a:endParaRPr>
          </a:p>
        </p:txBody>
      </p:sp>
      <p:sp>
        <p:nvSpPr>
          <p:cNvPr id="36" name="Rounded Rectangle 35"/>
          <p:cNvSpPr/>
          <p:nvPr/>
        </p:nvSpPr>
        <p:spPr>
          <a:xfrm>
            <a:off x="6121397" y="3752091"/>
            <a:ext cx="4572000" cy="2560320"/>
          </a:xfrm>
          <a:prstGeom prst="roundRect">
            <a:avLst/>
          </a:prstGeom>
          <a:solidFill>
            <a:srgbClr val="FFFFFF"/>
          </a:solidFill>
          <a:ln w="25400">
            <a:solidFill>
              <a:srgbClr val="6B72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6121397" y="3674530"/>
            <a:ext cx="4572000" cy="365760"/>
          </a:xfrm>
          <a:prstGeom prst="roundRect">
            <a:avLst/>
          </a:prstGeom>
          <a:solidFill>
            <a:srgbClr val="7C3AE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160902" y="3674531"/>
            <a:ext cx="2492991" cy="400110"/>
          </a:xfrm>
          <a:prstGeom prst="rect">
            <a:avLst/>
          </a:prstGeom>
          <a:noFill/>
        </p:spPr>
        <p:txBody>
          <a:bodyPr wrap="none">
            <a:spAutoFit/>
          </a:bodyPr>
          <a:lstStyle/>
          <a:p>
            <a:pPr algn="ctr">
              <a:defRPr sz="1200" b="1">
                <a:solidFill>
                  <a:srgbClr val="FFFFFF"/>
                </a:solidFill>
              </a:defRPr>
            </a:pPr>
            <a:r>
              <a:rPr sz="2000" dirty="0" err="1">
                <a:latin typeface="メイリオ" panose="020B0604030504040204" pitchFamily="50" charset="-128"/>
                <a:ea typeface="メイリオ" panose="020B0604030504040204" pitchFamily="50" charset="-128"/>
              </a:rPr>
              <a:t>患者様向け説明画面</a:t>
            </a:r>
            <a:endParaRPr sz="2000" dirty="0">
              <a:latin typeface="メイリオ" panose="020B0604030504040204" pitchFamily="50" charset="-128"/>
              <a:ea typeface="メイリオ" panose="020B0604030504040204" pitchFamily="50" charset="-128"/>
            </a:endParaRPr>
          </a:p>
        </p:txBody>
      </p:sp>
      <p:sp>
        <p:nvSpPr>
          <p:cNvPr id="39" name="TextBox 38"/>
          <p:cNvSpPr txBox="1"/>
          <p:nvPr/>
        </p:nvSpPr>
        <p:spPr>
          <a:xfrm>
            <a:off x="6304277" y="4223170"/>
            <a:ext cx="4075155" cy="1077218"/>
          </a:xfrm>
          <a:prstGeom prst="rect">
            <a:avLst/>
          </a:prstGeom>
          <a:noFill/>
        </p:spPr>
        <p:txBody>
          <a:bodyPr wrap="none">
            <a:spAutoFit/>
          </a:bodyPr>
          <a:lstStyle/>
          <a:p>
            <a:pPr>
              <a:defRPr sz="1100" b="1">
                <a:solidFill>
                  <a:srgbClr val="333333"/>
                </a:solidFill>
              </a:defRPr>
            </a:pPr>
            <a:r>
              <a:rPr sz="1600" dirty="0" err="1">
                <a:latin typeface="メイリオ" panose="020B0604030504040204" pitchFamily="50" charset="-128"/>
                <a:ea typeface="メイリオ" panose="020B0604030504040204" pitchFamily="50" charset="-128"/>
              </a:rPr>
              <a:t>診断について</a:t>
            </a:r>
            <a:endParaRPr sz="1600" dirty="0">
              <a:latin typeface="メイリオ" panose="020B0604030504040204" pitchFamily="50" charset="-128"/>
              <a:ea typeface="メイリオ" panose="020B0604030504040204" pitchFamily="50" charset="-128"/>
            </a:endParaRPr>
          </a:p>
          <a:p>
            <a:pPr>
              <a:defRPr sz="900">
                <a:solidFill>
                  <a:srgbClr val="333333"/>
                </a:solidFill>
              </a:defRPr>
            </a:pPr>
            <a:r>
              <a:rPr sz="1600" dirty="0">
                <a:latin typeface="メイリオ" panose="020B0604030504040204" pitchFamily="50" charset="-128"/>
                <a:ea typeface="メイリオ" panose="020B0604030504040204" pitchFamily="50" charset="-128"/>
              </a:rPr>
              <a:t>• </a:t>
            </a:r>
            <a:r>
              <a:rPr sz="1600" dirty="0" err="1">
                <a:latin typeface="メイリオ" panose="020B0604030504040204" pitchFamily="50" charset="-128"/>
                <a:ea typeface="メイリオ" panose="020B0604030504040204" pitchFamily="50" charset="-128"/>
              </a:rPr>
              <a:t>AIは診断の補助として使用されています</a:t>
            </a:r>
            <a:endParaRPr sz="1600" dirty="0">
              <a:latin typeface="メイリオ" panose="020B0604030504040204" pitchFamily="50" charset="-128"/>
              <a:ea typeface="メイリオ" panose="020B0604030504040204" pitchFamily="50" charset="-128"/>
            </a:endParaRPr>
          </a:p>
          <a:p>
            <a:pPr>
              <a:defRPr sz="900">
                <a:solidFill>
                  <a:srgbClr val="333333"/>
                </a:solidFill>
              </a:defRPr>
            </a:pPr>
            <a:r>
              <a:rPr sz="1600" dirty="0">
                <a:latin typeface="メイリオ" panose="020B0604030504040204" pitchFamily="50" charset="-128"/>
                <a:ea typeface="メイリオ" panose="020B0604030504040204" pitchFamily="50" charset="-128"/>
              </a:rPr>
              <a:t>• </a:t>
            </a:r>
            <a:r>
              <a:rPr sz="1600" dirty="0" err="1">
                <a:latin typeface="メイリオ" panose="020B0604030504040204" pitchFamily="50" charset="-128"/>
                <a:ea typeface="メイリオ" panose="020B0604030504040204" pitchFamily="50" charset="-128"/>
              </a:rPr>
              <a:t>最終的な診断は医師が行っています</a:t>
            </a:r>
            <a:endParaRPr sz="1600" dirty="0">
              <a:latin typeface="メイリオ" panose="020B0604030504040204" pitchFamily="50" charset="-128"/>
              <a:ea typeface="メイリオ" panose="020B0604030504040204" pitchFamily="50" charset="-128"/>
            </a:endParaRPr>
          </a:p>
          <a:p>
            <a:pPr>
              <a:defRPr sz="900">
                <a:solidFill>
                  <a:srgbClr val="333333"/>
                </a:solidFill>
              </a:defRPr>
            </a:pPr>
            <a:r>
              <a:rPr sz="1600" dirty="0">
                <a:latin typeface="メイリオ" panose="020B0604030504040204" pitchFamily="50" charset="-128"/>
                <a:ea typeface="メイリオ" panose="020B0604030504040204" pitchFamily="50" charset="-128"/>
              </a:rPr>
              <a:t>• </a:t>
            </a:r>
            <a:r>
              <a:rPr sz="1600" dirty="0" err="1">
                <a:latin typeface="メイリオ" panose="020B0604030504040204" pitchFamily="50" charset="-128"/>
                <a:ea typeface="メイリオ" panose="020B0604030504040204" pitchFamily="50" charset="-128"/>
              </a:rPr>
              <a:t>ご不明な点はお気軽にお尋ねください</a:t>
            </a:r>
            <a:endParaRPr sz="1600" dirty="0">
              <a:latin typeface="メイリオ" panose="020B0604030504040204" pitchFamily="50" charset="-128"/>
              <a:ea typeface="メイリオ" panose="020B0604030504040204" pitchFamily="50" charset="-128"/>
            </a:endParaRPr>
          </a:p>
        </p:txBody>
      </p:sp>
      <p:sp>
        <p:nvSpPr>
          <p:cNvPr id="40" name="Rounded Rectangle 39"/>
          <p:cNvSpPr/>
          <p:nvPr/>
        </p:nvSpPr>
        <p:spPr>
          <a:xfrm>
            <a:off x="6304277" y="5411890"/>
            <a:ext cx="4206240" cy="731520"/>
          </a:xfrm>
          <a:prstGeom prst="roundRect">
            <a:avLst/>
          </a:prstGeom>
          <a:solidFill>
            <a:srgbClr val="FEF3C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263221" y="5411891"/>
            <a:ext cx="4288353" cy="830997"/>
          </a:xfrm>
          <a:prstGeom prst="rect">
            <a:avLst/>
          </a:prstGeom>
          <a:noFill/>
        </p:spPr>
        <p:txBody>
          <a:bodyPr wrap="none">
            <a:spAutoFit/>
          </a:bodyPr>
          <a:lstStyle/>
          <a:p>
            <a:pPr algn="ctr">
              <a:defRPr sz="1000" b="1">
                <a:solidFill>
                  <a:srgbClr val="F59E0B"/>
                </a:solidFill>
              </a:defRPr>
            </a:pPr>
            <a:r>
              <a:rPr sz="1600" dirty="0" err="1">
                <a:latin typeface="メイリオ" panose="020B0604030504040204" pitchFamily="50" charset="-128"/>
                <a:ea typeface="メイリオ" panose="020B0604030504040204" pitchFamily="50" charset="-128"/>
              </a:rPr>
              <a:t>責任の所在</a:t>
            </a:r>
            <a:endParaRPr sz="1600" dirty="0">
              <a:latin typeface="メイリオ" panose="020B0604030504040204" pitchFamily="50" charset="-128"/>
              <a:ea typeface="メイリオ" panose="020B0604030504040204" pitchFamily="50" charset="-128"/>
            </a:endParaRPr>
          </a:p>
          <a:p>
            <a:pPr>
              <a:defRPr sz="800">
                <a:solidFill>
                  <a:srgbClr val="333333"/>
                </a:solidFill>
              </a:defRPr>
            </a:pPr>
            <a:r>
              <a:rPr sz="1600" dirty="0" err="1">
                <a:latin typeface="メイリオ" panose="020B0604030504040204" pitchFamily="50" charset="-128"/>
                <a:ea typeface="メイリオ" panose="020B0604030504040204" pitchFamily="50" charset="-128"/>
              </a:rPr>
              <a:t>診断・治療の最終責任は担当医師にあります</a:t>
            </a:r>
            <a:endParaRPr sz="1600" dirty="0">
              <a:latin typeface="メイリオ" panose="020B0604030504040204" pitchFamily="50" charset="-128"/>
              <a:ea typeface="メイリオ" panose="020B0604030504040204" pitchFamily="50" charset="-128"/>
            </a:endParaRPr>
          </a:p>
          <a:p>
            <a:pPr>
              <a:defRPr sz="800">
                <a:solidFill>
                  <a:srgbClr val="333333"/>
                </a:solidFill>
              </a:defRPr>
            </a:pPr>
            <a:r>
              <a:rPr sz="1600" dirty="0" err="1">
                <a:latin typeface="メイリオ" panose="020B0604030504040204" pitchFamily="50" charset="-128"/>
                <a:ea typeface="メイリオ" panose="020B0604030504040204" pitchFamily="50" charset="-128"/>
              </a:rPr>
              <a:t>AIはあくまで診療を支援するツールです</a:t>
            </a:r>
            <a:endParaRPr sz="1600" dirty="0">
              <a:latin typeface="メイリオ" panose="020B0604030504040204" pitchFamily="50" charset="-128"/>
              <a:ea typeface="メイリオ" panose="020B0604030504040204" pitchFamily="50" charset="-128"/>
            </a:endParaRPr>
          </a:p>
        </p:txBody>
      </p:sp>
      <p:sp>
        <p:nvSpPr>
          <p:cNvPr id="42" name="TextBox 41"/>
          <p:cNvSpPr txBox="1"/>
          <p:nvPr/>
        </p:nvSpPr>
        <p:spPr>
          <a:xfrm>
            <a:off x="919757" y="6379298"/>
            <a:ext cx="10084812" cy="338554"/>
          </a:xfrm>
          <a:prstGeom prst="rect">
            <a:avLst/>
          </a:prstGeom>
          <a:noFill/>
        </p:spPr>
        <p:txBody>
          <a:bodyPr wrap="none">
            <a:spAutoFit/>
          </a:bodyPr>
          <a:lstStyle/>
          <a:p>
            <a:pPr>
              <a:defRPr sz="1200" b="1">
                <a:solidFill>
                  <a:srgbClr val="333333"/>
                </a:solidFill>
              </a:defRPr>
            </a:pPr>
            <a:r>
              <a:rPr sz="1600" dirty="0" err="1">
                <a:latin typeface="メイリオ" panose="020B0604030504040204" pitchFamily="50" charset="-128"/>
                <a:ea typeface="メイリオ" panose="020B0604030504040204" pitchFamily="50" charset="-128"/>
              </a:rPr>
              <a:t>期待される効果：医師の役割が曖昧化するリスクを低減し、AI時代における新たな信頼関係の再構築を実現</a:t>
            </a:r>
            <a:endParaRPr sz="1600" dirty="0">
              <a:latin typeface="メイリオ" panose="020B0604030504040204" pitchFamily="50" charset="-128"/>
              <a:ea typeface="メイリオ" panose="020B0604030504040204" pitchFamily="50" charset="-128"/>
            </a:endParaRPr>
          </a:p>
        </p:txBody>
      </p:sp>
      <p:sp>
        <p:nvSpPr>
          <p:cNvPr id="43" name="タイトル 1">
            <a:extLst>
              <a:ext uri="{FF2B5EF4-FFF2-40B4-BE49-F238E27FC236}">
                <a16:creationId xmlns:a16="http://schemas.microsoft.com/office/drawing/2014/main" id="{99F3E13E-EF65-A226-CD51-C7FD85231FDF}"/>
              </a:ext>
            </a:extLst>
          </p:cNvPr>
          <p:cNvSpPr>
            <a:spLocks noGrp="1"/>
          </p:cNvSpPr>
          <p:nvPr>
            <p:ph type="title"/>
          </p:nvPr>
        </p:nvSpPr>
        <p:spPr>
          <a:xfrm>
            <a:off x="66572" y="31839"/>
            <a:ext cx="12058856" cy="850722"/>
          </a:xfrm>
        </p:spPr>
        <p:txBody>
          <a:bodyPr vert="horz">
            <a:normAutofit/>
          </a:bodyPr>
          <a:lstStyle/>
          <a:p>
            <a:r>
              <a:rPr kumimoji="1" lang="ja-JP" altLang="en-US" dirty="0">
                <a:latin typeface="Trebuchet MS" panose="020B0603020202020204" pitchFamily="34" charset="0"/>
                <a:ea typeface="Meiryo UI" panose="020B0604030504040204" pitchFamily="50" charset="-128"/>
              </a:rPr>
              <a:t>生成</a:t>
            </a:r>
            <a:r>
              <a:rPr kumimoji="1" lang="en-US" altLang="ja-JP" dirty="0">
                <a:latin typeface="Trebuchet MS" panose="020B0603020202020204" pitchFamily="34" charset="0"/>
                <a:ea typeface="Meiryo UI" panose="020B0604030504040204" pitchFamily="50" charset="-128"/>
              </a:rPr>
              <a:t>AI</a:t>
            </a:r>
            <a:r>
              <a:rPr kumimoji="1" lang="ja-JP" altLang="en-US" dirty="0">
                <a:latin typeface="Trebuchet MS" panose="020B0603020202020204" pitchFamily="34" charset="0"/>
                <a:ea typeface="Meiryo UI" panose="020B0604030504040204" pitchFamily="50" charset="-128"/>
              </a:rPr>
              <a:t>導入による医師</a:t>
            </a:r>
            <a:r>
              <a:rPr kumimoji="1" lang="en-US" altLang="ja-JP" dirty="0">
                <a:latin typeface="Trebuchet MS" panose="020B0603020202020204" pitchFamily="34" charset="0"/>
                <a:ea typeface="Meiryo UI" panose="020B0604030504040204" pitchFamily="50" charset="-128"/>
              </a:rPr>
              <a:t>‐</a:t>
            </a:r>
            <a:r>
              <a:rPr kumimoji="1" lang="ja-JP" altLang="en-US" dirty="0">
                <a:latin typeface="Trebuchet MS" panose="020B0603020202020204" pitchFamily="34" charset="0"/>
                <a:ea typeface="Meiryo UI" panose="020B0604030504040204" pitchFamily="50" charset="-128"/>
              </a:rPr>
              <a:t>患者関係の変容リスクと対策</a:t>
            </a:r>
            <a:endParaRPr kumimoji="1" lang="en-US" dirty="0">
              <a:latin typeface="Trebuchet MS" panose="020B0603020202020204" pitchFamily="34" charset="0"/>
              <a:ea typeface="Meiryo UI" panose="020B0604030504040204" pitchFamily="50" charset="-128"/>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983D50E8-BE12-B6D7-F4A3-08AE5A560AC0}"/>
              </a:ext>
            </a:extLst>
          </p:cNvPr>
          <p:cNvSpPr>
            <a:spLocks noGrp="1"/>
          </p:cNvSpPr>
          <p:nvPr>
            <p:ph type="sldNum" sz="quarter" idx="12"/>
          </p:nvPr>
        </p:nvSpPr>
        <p:spPr>
          <a:xfrm>
            <a:off x="8044356" y="6314407"/>
            <a:ext cx="2743200" cy="365125"/>
          </a:xfrm>
        </p:spPr>
        <p:txBody>
          <a:bodyPr/>
          <a:lstStyle/>
          <a:p>
            <a:fld id="{77C61476-8A35-4B46-AE1F-AEB8558ADE59}" type="slidenum">
              <a:rPr lang="en-US" smtClean="0"/>
              <a:t>7</a:t>
            </a:fld>
            <a:endParaRPr lang="en-US"/>
          </a:p>
        </p:txBody>
      </p:sp>
      <p:pic>
        <p:nvPicPr>
          <p:cNvPr id="5" name="図 4">
            <a:extLst>
              <a:ext uri="{FF2B5EF4-FFF2-40B4-BE49-F238E27FC236}">
                <a16:creationId xmlns:a16="http://schemas.microsoft.com/office/drawing/2014/main" id="{FA17DDCF-295A-96AC-9534-0C9534B3B5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953111"/>
            <a:ext cx="10549156" cy="5701252"/>
          </a:xfrm>
          <a:prstGeom prst="rect">
            <a:avLst/>
          </a:prstGeom>
        </p:spPr>
      </p:pic>
      <p:sp>
        <p:nvSpPr>
          <p:cNvPr id="4" name="タイトル 1">
            <a:extLst>
              <a:ext uri="{FF2B5EF4-FFF2-40B4-BE49-F238E27FC236}">
                <a16:creationId xmlns:a16="http://schemas.microsoft.com/office/drawing/2014/main" id="{B3AE0FE7-CE8F-846D-3D1A-365AB83F4AFB}"/>
              </a:ext>
            </a:extLst>
          </p:cNvPr>
          <p:cNvSpPr>
            <a:spLocks noGrp="1"/>
          </p:cNvSpPr>
          <p:nvPr>
            <p:ph type="title"/>
          </p:nvPr>
        </p:nvSpPr>
        <p:spPr>
          <a:xfrm>
            <a:off x="66572" y="0"/>
            <a:ext cx="12058856" cy="850722"/>
          </a:xfrm>
        </p:spPr>
        <p:txBody>
          <a:bodyPr vert="horz">
            <a:normAutofit/>
          </a:bodyPr>
          <a:lstStyle/>
          <a:p>
            <a:r>
              <a:rPr kumimoji="1" lang="ja-JP" altLang="en-US" dirty="0">
                <a:latin typeface="Trebuchet MS" panose="020B0603020202020204" pitchFamily="34" charset="0"/>
                <a:ea typeface="Meiryo UI" panose="020B0604030504040204" pitchFamily="50" charset="-128"/>
              </a:rPr>
              <a:t>電子カルテプロトタイプ画面</a:t>
            </a:r>
            <a:endParaRPr kumimoji="1" lang="en-US" dirty="0">
              <a:latin typeface="Trebuchet MS" panose="020B0603020202020204" pitchFamily="34" charset="0"/>
              <a:ea typeface="Meiryo UI" panose="020B0604030504040204" pitchFamily="50" charset="-128"/>
            </a:endParaRPr>
          </a:p>
        </p:txBody>
      </p:sp>
      <p:sp>
        <p:nvSpPr>
          <p:cNvPr id="8" name="正方形/長方形 7">
            <a:extLst>
              <a:ext uri="{FF2B5EF4-FFF2-40B4-BE49-F238E27FC236}">
                <a16:creationId xmlns:a16="http://schemas.microsoft.com/office/drawing/2014/main" id="{B52E79EA-51A6-13F2-B6CF-A6878BCA969C}"/>
              </a:ext>
            </a:extLst>
          </p:cNvPr>
          <p:cNvSpPr/>
          <p:nvPr/>
        </p:nvSpPr>
        <p:spPr>
          <a:xfrm>
            <a:off x="10272332" y="3041011"/>
            <a:ext cx="1286852" cy="767593"/>
          </a:xfrm>
          <a:prstGeom prst="rect">
            <a:avLst/>
          </a:prstGeom>
          <a:solidFill>
            <a:srgbClr val="EF9BA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chemeClr val="tx1"/>
                </a:solidFill>
                <a:latin typeface="メイリオ" panose="020B0604030504040204" pitchFamily="50" charset="-128"/>
                <a:ea typeface="メイリオ" panose="020B0604030504040204" pitchFamily="50" charset="-128"/>
              </a:rPr>
              <a:t>鑑別疾患</a:t>
            </a:r>
            <a:endParaRPr kumimoji="1" lang="en-US" altLang="ja-JP" sz="16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600" dirty="0">
                <a:solidFill>
                  <a:schemeClr val="tx1"/>
                </a:solidFill>
                <a:latin typeface="メイリオ" panose="020B0604030504040204" pitchFamily="50" charset="-128"/>
                <a:ea typeface="メイリオ" panose="020B0604030504040204" pitchFamily="50" charset="-128"/>
              </a:rPr>
              <a:t>候補を提示</a:t>
            </a:r>
          </a:p>
        </p:txBody>
      </p:sp>
      <p:sp>
        <p:nvSpPr>
          <p:cNvPr id="9" name="矢印: 右 8">
            <a:extLst>
              <a:ext uri="{FF2B5EF4-FFF2-40B4-BE49-F238E27FC236}">
                <a16:creationId xmlns:a16="http://schemas.microsoft.com/office/drawing/2014/main" id="{68278C30-9DE8-09FF-028A-90C3666F2EAD}"/>
              </a:ext>
            </a:extLst>
          </p:cNvPr>
          <p:cNvSpPr/>
          <p:nvPr/>
        </p:nvSpPr>
        <p:spPr>
          <a:xfrm rot="10800000">
            <a:off x="8514838" y="3147969"/>
            <a:ext cx="1757494" cy="553673"/>
          </a:xfrm>
          <a:prstGeom prst="rightArrow">
            <a:avLst/>
          </a:prstGeom>
          <a:solidFill>
            <a:srgbClr val="EF9BA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D31342A5-C030-7760-DC7A-BDC14B326720}"/>
              </a:ext>
            </a:extLst>
          </p:cNvPr>
          <p:cNvSpPr/>
          <p:nvPr/>
        </p:nvSpPr>
        <p:spPr>
          <a:xfrm>
            <a:off x="10272332" y="6008994"/>
            <a:ext cx="1286852" cy="767593"/>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chemeClr val="tx1"/>
                </a:solidFill>
                <a:latin typeface="メイリオ" panose="020B0604030504040204" pitchFamily="50" charset="-128"/>
                <a:ea typeface="メイリオ" panose="020B0604030504040204" pitchFamily="50" charset="-128"/>
              </a:rPr>
              <a:t>医師判断が必要と明示</a:t>
            </a:r>
            <a:endParaRPr kumimoji="1" lang="en-US" altLang="ja-JP" sz="1600" dirty="0">
              <a:solidFill>
                <a:schemeClr val="tx1"/>
              </a:solidFill>
              <a:latin typeface="メイリオ" panose="020B0604030504040204" pitchFamily="50" charset="-128"/>
              <a:ea typeface="メイリオ" panose="020B0604030504040204" pitchFamily="50" charset="-128"/>
            </a:endParaRPr>
          </a:p>
        </p:txBody>
      </p:sp>
      <p:sp>
        <p:nvSpPr>
          <p:cNvPr id="11" name="矢印: 右 10">
            <a:extLst>
              <a:ext uri="{FF2B5EF4-FFF2-40B4-BE49-F238E27FC236}">
                <a16:creationId xmlns:a16="http://schemas.microsoft.com/office/drawing/2014/main" id="{F317BF86-99E0-1B9F-5AB6-B242051D4075}"/>
              </a:ext>
            </a:extLst>
          </p:cNvPr>
          <p:cNvSpPr/>
          <p:nvPr/>
        </p:nvSpPr>
        <p:spPr>
          <a:xfrm rot="10800000">
            <a:off x="8514832" y="6165704"/>
            <a:ext cx="1757497" cy="553673"/>
          </a:xfrm>
          <a:prstGeom prst="rightArrow">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3CB3205A-E503-E6F3-8AA5-8A31A205FC69}"/>
              </a:ext>
            </a:extLst>
          </p:cNvPr>
          <p:cNvSpPr/>
          <p:nvPr/>
        </p:nvSpPr>
        <p:spPr>
          <a:xfrm>
            <a:off x="10272332" y="5184193"/>
            <a:ext cx="1286852" cy="767593"/>
          </a:xfrm>
          <a:prstGeom prst="rect">
            <a:avLst/>
          </a:prstGeom>
          <a:solidFill>
            <a:srgbClr val="FBBB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chemeClr val="tx1"/>
                </a:solidFill>
                <a:latin typeface="メイリオ" panose="020B0604030504040204" pitchFamily="50" charset="-128"/>
                <a:ea typeface="メイリオ" panose="020B0604030504040204" pitchFamily="50" charset="-128"/>
              </a:rPr>
              <a:t>要確認事項を提示</a:t>
            </a:r>
          </a:p>
        </p:txBody>
      </p:sp>
      <p:sp>
        <p:nvSpPr>
          <p:cNvPr id="13" name="矢印: 右 12">
            <a:extLst>
              <a:ext uri="{FF2B5EF4-FFF2-40B4-BE49-F238E27FC236}">
                <a16:creationId xmlns:a16="http://schemas.microsoft.com/office/drawing/2014/main" id="{933D4C6D-DF71-D9A0-5481-560E64B86C5F}"/>
              </a:ext>
            </a:extLst>
          </p:cNvPr>
          <p:cNvSpPr/>
          <p:nvPr/>
        </p:nvSpPr>
        <p:spPr>
          <a:xfrm rot="10800000">
            <a:off x="8514835" y="5309272"/>
            <a:ext cx="1757496" cy="553673"/>
          </a:xfrm>
          <a:prstGeom prst="rightArrow">
            <a:avLst/>
          </a:prstGeom>
          <a:solidFill>
            <a:srgbClr val="FBBB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02430F0B-031F-BEE7-6409-FBE7301DE65C}"/>
              </a:ext>
            </a:extLst>
          </p:cNvPr>
          <p:cNvSpPr/>
          <p:nvPr/>
        </p:nvSpPr>
        <p:spPr>
          <a:xfrm>
            <a:off x="10272332" y="4359392"/>
            <a:ext cx="1286852" cy="767593"/>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chemeClr val="tx1"/>
                </a:solidFill>
                <a:latin typeface="メイリオ" panose="020B0604030504040204" pitchFamily="50" charset="-128"/>
                <a:ea typeface="メイリオ" panose="020B0604030504040204" pitchFamily="50" charset="-128"/>
              </a:rPr>
              <a:t>推奨事項を提示</a:t>
            </a:r>
          </a:p>
        </p:txBody>
      </p:sp>
      <p:sp>
        <p:nvSpPr>
          <p:cNvPr id="15" name="矢印: 右 14">
            <a:extLst>
              <a:ext uri="{FF2B5EF4-FFF2-40B4-BE49-F238E27FC236}">
                <a16:creationId xmlns:a16="http://schemas.microsoft.com/office/drawing/2014/main" id="{928BCA4C-3E90-7BFA-724D-9B48D41860FC}"/>
              </a:ext>
            </a:extLst>
          </p:cNvPr>
          <p:cNvSpPr/>
          <p:nvPr/>
        </p:nvSpPr>
        <p:spPr>
          <a:xfrm rot="10800000">
            <a:off x="8514835" y="4486960"/>
            <a:ext cx="1757495" cy="553673"/>
          </a:xfrm>
          <a:prstGeom prst="rightArrow">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3BC225FD-8987-2068-1E41-AE717620E5DC}"/>
              </a:ext>
            </a:extLst>
          </p:cNvPr>
          <p:cNvSpPr/>
          <p:nvPr/>
        </p:nvSpPr>
        <p:spPr>
          <a:xfrm>
            <a:off x="10240174" y="1679707"/>
            <a:ext cx="1286852" cy="767593"/>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chemeClr val="tx1"/>
                </a:solidFill>
                <a:latin typeface="メイリオ" panose="020B0604030504040204" pitchFamily="50" charset="-128"/>
                <a:ea typeface="メイリオ" panose="020B0604030504040204" pitchFamily="50" charset="-128"/>
              </a:rPr>
              <a:t>重要所見を自動抽出</a:t>
            </a:r>
            <a:endParaRPr kumimoji="1" lang="en-US" altLang="ja-JP" sz="1600" dirty="0">
              <a:solidFill>
                <a:schemeClr val="tx1"/>
              </a:solidFill>
              <a:latin typeface="メイリオ" panose="020B0604030504040204" pitchFamily="50" charset="-128"/>
              <a:ea typeface="メイリオ" panose="020B0604030504040204" pitchFamily="50" charset="-128"/>
            </a:endParaRPr>
          </a:p>
        </p:txBody>
      </p:sp>
      <p:sp>
        <p:nvSpPr>
          <p:cNvPr id="17" name="矢印: 右 16">
            <a:extLst>
              <a:ext uri="{FF2B5EF4-FFF2-40B4-BE49-F238E27FC236}">
                <a16:creationId xmlns:a16="http://schemas.microsoft.com/office/drawing/2014/main" id="{BC90AD04-BA9A-8CD7-C960-84CD5465C288}"/>
              </a:ext>
            </a:extLst>
          </p:cNvPr>
          <p:cNvSpPr/>
          <p:nvPr/>
        </p:nvSpPr>
        <p:spPr>
          <a:xfrm rot="10800000">
            <a:off x="8514838" y="1787613"/>
            <a:ext cx="1725335" cy="553673"/>
          </a:xfrm>
          <a:prstGeom prst="rightArrow">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997062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C5766-225D-4770-1B6D-16F417D4285E}"/>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187C99C-107F-45D0-E8E7-EF625CD7360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04" imgH="405" progId="TCLayout.ActiveDocument.1">
                  <p:embed/>
                </p:oleObj>
              </mc:Choice>
              <mc:Fallback>
                <p:oleObj name="think-cellスライド" r:id="rId3" imgW="404" imgH="405" progId="TCLayout.ActiveDocument.1">
                  <p:embed/>
                  <p:pic>
                    <p:nvPicPr>
                      <p:cNvPr id="3" name="think-cell data - do not delete" hidden="1">
                        <a:extLst>
                          <a:ext uri="{FF2B5EF4-FFF2-40B4-BE49-F238E27FC236}">
                            <a16:creationId xmlns:a16="http://schemas.microsoft.com/office/drawing/2014/main" id="{A187C99C-107F-45D0-E8E7-EF625CD7360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04DD5B17-85EB-35D6-22BD-564F085DFBBE}"/>
              </a:ext>
            </a:extLst>
          </p:cNvPr>
          <p:cNvSpPr>
            <a:spLocks noGrp="1"/>
          </p:cNvSpPr>
          <p:nvPr>
            <p:ph type="title"/>
          </p:nvPr>
        </p:nvSpPr>
        <p:spPr>
          <a:xfrm>
            <a:off x="838200" y="10993"/>
            <a:ext cx="10515600" cy="748211"/>
          </a:xfrm>
        </p:spPr>
        <p:txBody>
          <a:bodyPr vert="horz"/>
          <a:lstStyle/>
          <a:p>
            <a:r>
              <a:rPr kumimoji="1" lang="ja-JP" altLang="en-US" dirty="0">
                <a:latin typeface="Trebuchet MS" panose="020B0603020202020204" pitchFamily="34" charset="0"/>
                <a:ea typeface="Meiryo UI" panose="020B0604030504040204" pitchFamily="50" charset="-128"/>
              </a:rPr>
              <a:t>対策技術について </a:t>
            </a:r>
            <a:r>
              <a:rPr kumimoji="1" lang="en-US" altLang="ja-JP" dirty="0">
                <a:latin typeface="Trebuchet MS" panose="020B0603020202020204" pitchFamily="34" charset="0"/>
                <a:ea typeface="Meiryo UI" panose="020B0604030504040204" pitchFamily="50" charset="-128"/>
              </a:rPr>
              <a:t>(1/5)</a:t>
            </a:r>
            <a:endParaRPr kumimoji="1" lang="en-US" dirty="0">
              <a:latin typeface="Trebuchet MS" panose="020B0603020202020204" pitchFamily="34" charset="0"/>
              <a:ea typeface="Meiryo UI" panose="020B0604030504040204" pitchFamily="50" charset="-128"/>
            </a:endParaRPr>
          </a:p>
        </p:txBody>
      </p:sp>
      <p:grpSp>
        <p:nvGrpSpPr>
          <p:cNvPr id="5" name="グループ化 4">
            <a:extLst>
              <a:ext uri="{FF2B5EF4-FFF2-40B4-BE49-F238E27FC236}">
                <a16:creationId xmlns:a16="http://schemas.microsoft.com/office/drawing/2014/main" id="{A722F5AC-7569-52F2-502C-6954FEA9FF26}"/>
              </a:ext>
            </a:extLst>
          </p:cNvPr>
          <p:cNvGrpSpPr/>
          <p:nvPr/>
        </p:nvGrpSpPr>
        <p:grpSpPr>
          <a:xfrm>
            <a:off x="838200" y="687019"/>
            <a:ext cx="10626041" cy="336349"/>
            <a:chOff x="653442" y="1983554"/>
            <a:chExt cx="3469984" cy="336349"/>
          </a:xfrm>
        </p:grpSpPr>
        <p:sp>
          <p:nvSpPr>
            <p:cNvPr id="6" name="ee4pHeader2">
              <a:extLst>
                <a:ext uri="{FF2B5EF4-FFF2-40B4-BE49-F238E27FC236}">
                  <a16:creationId xmlns:a16="http://schemas.microsoft.com/office/drawing/2014/main" id="{643D0F83-7049-BC03-A07A-303447B80EC1}"/>
                </a:ext>
              </a:extLst>
            </p:cNvPr>
            <p:cNvSpPr txBox="1"/>
            <p:nvPr/>
          </p:nvSpPr>
          <p:spPr>
            <a:xfrm>
              <a:off x="653442" y="1983554"/>
              <a:ext cx="3151498" cy="307777"/>
            </a:xfrm>
            <a:prstGeom prst="rect">
              <a:avLst/>
            </a:prstGeom>
          </p:spPr>
          <p:txBody>
            <a:bodyPr vert="horz" wrap="square" lIns="0" tIns="0" rIns="0" bIns="0" rtlCol="0" anchor="b"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2000" b="0" i="0" u="none" strike="noStrike" kern="1200" cap="none" spc="0" normalizeH="0" baseline="0" noProof="0" dirty="0">
                  <a:ln>
                    <a:noFill/>
                  </a:ln>
                  <a:effectLst/>
                  <a:uLnTx/>
                  <a:uFillTx/>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対策技術の概要</a:t>
              </a:r>
            </a:p>
          </p:txBody>
        </p:sp>
        <p:cxnSp>
          <p:nvCxnSpPr>
            <p:cNvPr id="7" name="Straight Connector 34">
              <a:extLst>
                <a:ext uri="{FF2B5EF4-FFF2-40B4-BE49-F238E27FC236}">
                  <a16:creationId xmlns:a16="http://schemas.microsoft.com/office/drawing/2014/main" id="{1483F909-74D7-9C11-33EE-D6300D66335B}"/>
                </a:ext>
              </a:extLst>
            </p:cNvPr>
            <p:cNvCxnSpPr>
              <a:cxnSpLocks/>
            </p:cNvCxnSpPr>
            <p:nvPr/>
          </p:nvCxnSpPr>
          <p:spPr>
            <a:xfrm>
              <a:off x="653442" y="2319903"/>
              <a:ext cx="3469984" cy="0"/>
            </a:xfrm>
            <a:prstGeom prst="line">
              <a:avLst/>
            </a:prstGeom>
            <a:ln w="9525" cap="flat"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1" name="正方形/長方形 10">
            <a:extLst>
              <a:ext uri="{FF2B5EF4-FFF2-40B4-BE49-F238E27FC236}">
                <a16:creationId xmlns:a16="http://schemas.microsoft.com/office/drawing/2014/main" id="{5D3E7975-DBF1-619B-194A-065F38BF7926}"/>
              </a:ext>
            </a:extLst>
          </p:cNvPr>
          <p:cNvSpPr/>
          <p:nvPr/>
        </p:nvSpPr>
        <p:spPr>
          <a:xfrm>
            <a:off x="486826" y="1043114"/>
            <a:ext cx="11328787" cy="5657001"/>
          </a:xfrm>
          <a:prstGeom prst="rect">
            <a:avLst/>
          </a:prstGeom>
          <a:noFill/>
          <a:ln w="9525" cap="rnd" cmpd="sng" algn="ctr">
            <a:solidFill>
              <a:srgbClr val="9A9A9A"/>
            </a:solidFill>
            <a:prstDash val="solid"/>
            <a:round/>
            <a:headEnd type="none" w="med" len="med"/>
            <a:tailEnd type="none" w="med" len="me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defRPr/>
            </a:pPr>
            <a:r>
              <a:rPr kumimoji="1" lang="ja-JP" altLang="en-US" sz="1600" dirty="0">
                <a:solidFill>
                  <a:schemeClr val="tx1"/>
                </a:solidFill>
                <a:latin typeface="Trebuchet MS" panose="020B0603020202020204" pitchFamily="34" charset="0"/>
                <a:ea typeface="Meiryo UI" panose="020B0604030504040204" pitchFamily="50" charset="-128"/>
              </a:rPr>
              <a:t>本提案では、生成</a:t>
            </a:r>
            <a:r>
              <a:rPr kumimoji="1" lang="en-US" altLang="ja-JP" sz="1600" dirty="0">
                <a:solidFill>
                  <a:schemeClr val="tx1"/>
                </a:solidFill>
                <a:latin typeface="Trebuchet MS" panose="020B0603020202020204" pitchFamily="34" charset="0"/>
                <a:ea typeface="Meiryo UI" panose="020B0604030504040204" pitchFamily="50" charset="-128"/>
              </a:rPr>
              <a:t>AI</a:t>
            </a:r>
            <a:r>
              <a:rPr kumimoji="1" lang="ja-JP" altLang="en-US" sz="1600" dirty="0">
                <a:solidFill>
                  <a:schemeClr val="tx1"/>
                </a:solidFill>
                <a:latin typeface="Trebuchet MS" panose="020B0603020202020204" pitchFamily="34" charset="0"/>
                <a:ea typeface="Meiryo UI" panose="020B0604030504040204" pitchFamily="50" charset="-128"/>
              </a:rPr>
              <a:t>に伴う医療現場での深刻リスク（</a:t>
            </a:r>
            <a:r>
              <a:rPr kumimoji="1" lang="ja-JP" altLang="en-US" sz="1600" b="1" dirty="0">
                <a:solidFill>
                  <a:schemeClr val="tx1"/>
                </a:solidFill>
                <a:latin typeface="Trebuchet MS" panose="020B0603020202020204" pitchFamily="34" charset="0"/>
                <a:ea typeface="Meiryo UI" panose="020B0604030504040204" pitchFamily="50" charset="-128"/>
              </a:rPr>
              <a:t>①誤情報による誤診、 ②個人情報流出、 ③</a:t>
            </a:r>
            <a:r>
              <a:rPr lang="ja-JP" altLang="en-US"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医師</a:t>
            </a:r>
            <a:r>
              <a:rPr lang="en-US" altLang="ja-JP"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a:t>
            </a:r>
            <a:r>
              <a:rPr lang="ja-JP" altLang="en-US"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患者関係の変容</a:t>
            </a:r>
            <a:r>
              <a:rPr kumimoji="1" lang="ja-JP" altLang="en-US" sz="1600" dirty="0">
                <a:solidFill>
                  <a:schemeClr val="tx1"/>
                </a:solidFill>
                <a:latin typeface="Trebuchet MS" panose="020B0603020202020204" pitchFamily="34" charset="0"/>
                <a:ea typeface="Meiryo UI" panose="020B0604030504040204" pitchFamily="50" charset="-128"/>
              </a:rPr>
              <a:t>）構造的原因が「</a:t>
            </a:r>
            <a:r>
              <a:rPr kumimoji="1" lang="en-US" altLang="ja-JP" sz="1600" dirty="0">
                <a:solidFill>
                  <a:schemeClr val="tx1"/>
                </a:solidFill>
                <a:latin typeface="Trebuchet MS" panose="020B0603020202020204" pitchFamily="34" charset="0"/>
                <a:ea typeface="Meiryo UI" panose="020B0604030504040204" pitchFamily="50" charset="-128"/>
              </a:rPr>
              <a:t>AI</a:t>
            </a:r>
            <a:r>
              <a:rPr kumimoji="1" lang="ja-JP" altLang="en-US" sz="1600" dirty="0">
                <a:solidFill>
                  <a:schemeClr val="tx1"/>
                </a:solidFill>
                <a:latin typeface="Trebuchet MS" panose="020B0603020202020204" pitchFamily="34" charset="0"/>
                <a:ea typeface="Meiryo UI" panose="020B0604030504040204" pitchFamily="50" charset="-128"/>
              </a:rPr>
              <a:t>の入出力経路の不可視性」にあると捉え、“出力”ではなく“経路”を守るという新たなセキュリティ原則に基づいた対策技術を提案する。技術的には以下の</a:t>
            </a:r>
            <a:r>
              <a:rPr kumimoji="1" lang="en-US" altLang="ja-JP" sz="1600" dirty="0">
                <a:solidFill>
                  <a:schemeClr val="tx1"/>
                </a:solidFill>
                <a:latin typeface="Trebuchet MS" panose="020B0603020202020204" pitchFamily="34" charset="0"/>
                <a:ea typeface="Meiryo UI" panose="020B0604030504040204" pitchFamily="50" charset="-128"/>
              </a:rPr>
              <a:t>3</a:t>
            </a:r>
            <a:r>
              <a:rPr kumimoji="1" lang="ja-JP" altLang="en-US" sz="1600" dirty="0">
                <a:solidFill>
                  <a:schemeClr val="tx1"/>
                </a:solidFill>
                <a:latin typeface="Trebuchet MS" panose="020B0603020202020204" pitchFamily="34" charset="0"/>
                <a:ea typeface="Meiryo UI" panose="020B0604030504040204" pitchFamily="50" charset="-128"/>
              </a:rPr>
              <a:t>要素で構成される。</a:t>
            </a:r>
            <a:endParaRPr kumimoji="1" lang="en-US" altLang="ja-JP" sz="1600" dirty="0">
              <a:solidFill>
                <a:schemeClr val="tx1"/>
              </a:solidFill>
              <a:latin typeface="Trebuchet MS" panose="020B0603020202020204" pitchFamily="34" charset="0"/>
              <a:ea typeface="Meiryo UI" panose="020B0604030504040204" pitchFamily="50" charset="-128"/>
            </a:endParaRPr>
          </a:p>
          <a:p>
            <a:pPr lvl="0">
              <a:defRPr/>
            </a:pPr>
            <a:endParaRPr kumimoji="1" lang="ja-JP" altLang="en-US" sz="1600" dirty="0">
              <a:solidFill>
                <a:schemeClr val="tx1"/>
              </a:solidFill>
              <a:latin typeface="Trebuchet MS" panose="020B0603020202020204" pitchFamily="34" charset="0"/>
              <a:ea typeface="Meiryo UI" panose="020B0604030504040204" pitchFamily="50" charset="-128"/>
            </a:endParaRPr>
          </a:p>
          <a:p>
            <a:pPr>
              <a:defRPr/>
            </a:pPr>
            <a:r>
              <a:rPr kumimoji="1" lang="ja-JP" altLang="en-US" sz="1600" b="1" dirty="0">
                <a:solidFill>
                  <a:schemeClr val="tx1"/>
                </a:solidFill>
                <a:latin typeface="Trebuchet MS" panose="020B0603020202020204" pitchFamily="34" charset="0"/>
                <a:ea typeface="Meiryo UI" panose="020B0604030504040204" pitchFamily="50" charset="-128"/>
              </a:rPr>
              <a:t>（</a:t>
            </a:r>
            <a:r>
              <a:rPr kumimoji="1" lang="en-US" altLang="ja-JP" sz="1600" b="1" dirty="0">
                <a:solidFill>
                  <a:schemeClr val="tx1"/>
                </a:solidFill>
                <a:latin typeface="Trebuchet MS" panose="020B0603020202020204" pitchFamily="34" charset="0"/>
                <a:ea typeface="Meiryo UI" panose="020B0604030504040204" pitchFamily="50" charset="-128"/>
              </a:rPr>
              <a:t>1</a:t>
            </a:r>
            <a:r>
              <a:rPr kumimoji="1" lang="ja-JP" altLang="en-US" sz="1600" b="1" dirty="0">
                <a:solidFill>
                  <a:schemeClr val="tx1"/>
                </a:solidFill>
                <a:latin typeface="Trebuchet MS" panose="020B0603020202020204" pitchFamily="34" charset="0"/>
                <a:ea typeface="Meiryo UI" panose="020B0604030504040204" pitchFamily="50" charset="-128"/>
              </a:rPr>
              <a:t>）</a:t>
            </a:r>
            <a:r>
              <a:rPr lang="ja-JP" altLang="en-US"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誤診誘導（致死的ハルシネーション）</a:t>
            </a:r>
            <a:endParaRPr kumimoji="1" lang="en-US" altLang="ja-JP" sz="1600" b="1" dirty="0">
              <a:solidFill>
                <a:schemeClr val="tx1"/>
              </a:solidFill>
              <a:latin typeface="Trebuchet MS" panose="020B0603020202020204" pitchFamily="34" charset="0"/>
              <a:ea typeface="Meiryo UI" panose="020B0604030504040204" pitchFamily="50" charset="-128"/>
            </a:endParaRPr>
          </a:p>
          <a:p>
            <a:r>
              <a:rPr lang="ja-JP" altLang="en-US" sz="1600" dirty="0">
                <a:solidFill>
                  <a:schemeClr val="tx1"/>
                </a:solidFill>
                <a:latin typeface="メイリオ" panose="020B0604030504040204" pitchFamily="50" charset="-128"/>
                <a:ea typeface="メイリオ" panose="020B0604030504040204" pitchFamily="50" charset="-128"/>
              </a:rPr>
              <a:t>　</a:t>
            </a:r>
            <a:r>
              <a:rPr lang="ja-JP" altLang="ja-JP" sz="1600" dirty="0">
                <a:solidFill>
                  <a:schemeClr val="tx1"/>
                </a:solidFill>
                <a:latin typeface="メイリオ" panose="020B0604030504040204" pitchFamily="50" charset="-128"/>
                <a:ea typeface="メイリオ" panose="020B0604030504040204" pitchFamily="50" charset="-128"/>
              </a:rPr>
              <a:t>医療ガイドラインや学術文献を参照する</a:t>
            </a:r>
            <a:r>
              <a:rPr lang="en-US" altLang="ja-JP" sz="1600" dirty="0">
                <a:solidFill>
                  <a:schemeClr val="tx1"/>
                </a:solidFill>
                <a:latin typeface="メイリオ" panose="020B0604030504040204" pitchFamily="50" charset="-128"/>
                <a:ea typeface="メイリオ" panose="020B0604030504040204" pitchFamily="50" charset="-128"/>
              </a:rPr>
              <a:t>RAG</a:t>
            </a:r>
            <a:r>
              <a:rPr lang="ja-JP" altLang="ja-JP" sz="1600" dirty="0">
                <a:solidFill>
                  <a:schemeClr val="tx1"/>
                </a:solidFill>
                <a:latin typeface="メイリオ" panose="020B0604030504040204" pitchFamily="50" charset="-128"/>
                <a:ea typeface="メイリオ" panose="020B0604030504040204" pitchFamily="50" charset="-128"/>
              </a:rPr>
              <a:t>（</a:t>
            </a:r>
            <a:r>
              <a:rPr lang="en-US" altLang="ja-JP" sz="1600" dirty="0">
                <a:solidFill>
                  <a:schemeClr val="tx1"/>
                </a:solidFill>
                <a:latin typeface="メイリオ" panose="020B0604030504040204" pitchFamily="50" charset="-128"/>
                <a:ea typeface="メイリオ" panose="020B0604030504040204" pitchFamily="50" charset="-128"/>
              </a:rPr>
              <a:t>Retrieval-Augmented Generation</a:t>
            </a:r>
            <a:r>
              <a:rPr lang="ja-JP" altLang="ja-JP" sz="1600" dirty="0">
                <a:solidFill>
                  <a:schemeClr val="tx1"/>
                </a:solidFill>
                <a:latin typeface="メイリオ" panose="020B0604030504040204" pitchFamily="50" charset="-128"/>
                <a:ea typeface="メイリオ" panose="020B0604030504040204" pitchFamily="50" charset="-128"/>
              </a:rPr>
              <a:t>）を導入し、</a:t>
            </a:r>
            <a:r>
              <a:rPr lang="ja-JP" altLang="ja-JP" sz="1600" b="1" dirty="0">
                <a:solidFill>
                  <a:srgbClr val="C00000"/>
                </a:solidFill>
                <a:latin typeface="メイリオ" panose="020B0604030504040204" pitchFamily="50" charset="-128"/>
                <a:ea typeface="メイリオ" panose="020B0604030504040204" pitchFamily="50" charset="-128"/>
              </a:rPr>
              <a:t>生成内容の事実性を担保する。</a:t>
            </a:r>
            <a:r>
              <a:rPr lang="ja-JP" altLang="ja-JP" sz="1600" dirty="0">
                <a:solidFill>
                  <a:schemeClr val="tx1"/>
                </a:solidFill>
                <a:latin typeface="メイリオ" panose="020B0604030504040204" pitchFamily="50" charset="-128"/>
                <a:ea typeface="メイリオ" panose="020B0604030504040204" pitchFamily="50" charset="-128"/>
              </a:rPr>
              <a:t>加えて、</a:t>
            </a:r>
            <a:r>
              <a:rPr lang="en-US" altLang="ja-JP" sz="1600" b="1" dirty="0">
                <a:solidFill>
                  <a:srgbClr val="C00000"/>
                </a:solidFill>
                <a:latin typeface="メイリオ" panose="020B0604030504040204" pitchFamily="50" charset="-128"/>
                <a:ea typeface="メイリオ" panose="020B0604030504040204" pitchFamily="50" charset="-128"/>
              </a:rPr>
              <a:t>AI</a:t>
            </a:r>
            <a:r>
              <a:rPr lang="ja-JP" altLang="ja-JP" sz="1600" b="1" dirty="0">
                <a:solidFill>
                  <a:srgbClr val="C00000"/>
                </a:solidFill>
                <a:latin typeface="メイリオ" panose="020B0604030504040204" pitchFamily="50" charset="-128"/>
                <a:ea typeface="メイリオ" panose="020B0604030504040204" pitchFamily="50" charset="-128"/>
              </a:rPr>
              <a:t>出力と医師の評価・治療計画（</a:t>
            </a:r>
            <a:r>
              <a:rPr lang="en-US" altLang="ja-JP" sz="1600" b="1" dirty="0">
                <a:solidFill>
                  <a:srgbClr val="C00000"/>
                </a:solidFill>
                <a:latin typeface="メイリオ" panose="020B0604030504040204" pitchFamily="50" charset="-128"/>
                <a:ea typeface="メイリオ" panose="020B0604030504040204" pitchFamily="50" charset="-128"/>
              </a:rPr>
              <a:t>A</a:t>
            </a:r>
            <a:r>
              <a:rPr lang="ja-JP" altLang="ja-JP" sz="1600" b="1" dirty="0">
                <a:solidFill>
                  <a:srgbClr val="C00000"/>
                </a:solidFill>
                <a:latin typeface="メイリオ" panose="020B0604030504040204" pitchFamily="50" charset="-128"/>
                <a:ea typeface="メイリオ" panose="020B0604030504040204" pitchFamily="50" charset="-128"/>
              </a:rPr>
              <a:t>と</a:t>
            </a:r>
            <a:r>
              <a:rPr lang="en-US" altLang="ja-JP" sz="1600" b="1" dirty="0">
                <a:solidFill>
                  <a:srgbClr val="C00000"/>
                </a:solidFill>
                <a:latin typeface="メイリオ" panose="020B0604030504040204" pitchFamily="50" charset="-128"/>
                <a:ea typeface="メイリオ" panose="020B0604030504040204" pitchFamily="50" charset="-128"/>
              </a:rPr>
              <a:t>P</a:t>
            </a:r>
            <a:r>
              <a:rPr lang="ja-JP" altLang="ja-JP" sz="1600" b="1" dirty="0">
                <a:solidFill>
                  <a:srgbClr val="C00000"/>
                </a:solidFill>
                <a:latin typeface="メイリオ" panose="020B0604030504040204" pitchFamily="50" charset="-128"/>
                <a:ea typeface="メイリオ" panose="020B0604030504040204" pitchFamily="50" charset="-128"/>
              </a:rPr>
              <a:t>）の整合性を自動チェック</a:t>
            </a:r>
            <a:r>
              <a:rPr lang="ja-JP" altLang="ja-JP" sz="1600" dirty="0">
                <a:solidFill>
                  <a:schemeClr val="tx1"/>
                </a:solidFill>
                <a:latin typeface="メイリオ" panose="020B0604030504040204" pitchFamily="50" charset="-128"/>
                <a:ea typeface="メイリオ" panose="020B0604030504040204" pitchFamily="50" charset="-128"/>
              </a:rPr>
              <a:t>する仕組みにより、臨床判断の一貫性を確保する。さらに、第三の対策として、</a:t>
            </a:r>
            <a:r>
              <a:rPr lang="ja-JP" altLang="ja-JP" sz="1600" b="1" dirty="0">
                <a:solidFill>
                  <a:srgbClr val="C00000"/>
                </a:solidFill>
                <a:latin typeface="メイリオ" panose="020B0604030504040204" pitchFamily="50" charset="-128"/>
                <a:ea typeface="メイリオ" panose="020B0604030504040204" pitchFamily="50" charset="-128"/>
              </a:rPr>
              <a:t>出力の根拠を明示する</a:t>
            </a:r>
            <a:r>
              <a:rPr lang="en-US" altLang="ja-JP" sz="1600" b="1" dirty="0">
                <a:solidFill>
                  <a:srgbClr val="C00000"/>
                </a:solidFill>
                <a:latin typeface="メイリオ" panose="020B0604030504040204" pitchFamily="50" charset="-128"/>
                <a:ea typeface="メイリオ" panose="020B0604030504040204" pitchFamily="50" charset="-128"/>
              </a:rPr>
              <a:t>Explainability</a:t>
            </a:r>
            <a:r>
              <a:rPr lang="ja-JP" altLang="ja-JP" sz="1600" b="1" dirty="0">
                <a:solidFill>
                  <a:srgbClr val="C00000"/>
                </a:solidFill>
                <a:latin typeface="メイリオ" panose="020B0604030504040204" pitchFamily="50" charset="-128"/>
                <a:ea typeface="メイリオ" panose="020B0604030504040204" pitchFamily="50" charset="-128"/>
              </a:rPr>
              <a:t>機能</a:t>
            </a:r>
            <a:r>
              <a:rPr lang="ja-JP" altLang="ja-JP" sz="1600" dirty="0">
                <a:solidFill>
                  <a:schemeClr val="tx1"/>
                </a:solidFill>
                <a:latin typeface="メイリオ" panose="020B0604030504040204" pitchFamily="50" charset="-128"/>
                <a:ea typeface="メイリオ" panose="020B0604030504040204" pitchFamily="50" charset="-128"/>
              </a:rPr>
              <a:t>を実装する。具体的には、診療ガイドラインとの対応箇所の表示、過去症例との類似性スコア、逐語解説などを組み合わせ、</a:t>
            </a:r>
            <a:r>
              <a:rPr lang="en-US" altLang="ja-JP" sz="1600" dirty="0">
                <a:solidFill>
                  <a:schemeClr val="tx1"/>
                </a:solidFill>
                <a:latin typeface="メイリオ" panose="020B0604030504040204" pitchFamily="50" charset="-128"/>
                <a:ea typeface="メイリオ" panose="020B0604030504040204" pitchFamily="50" charset="-128"/>
              </a:rPr>
              <a:t>AI</a:t>
            </a:r>
            <a:r>
              <a:rPr lang="ja-JP" altLang="ja-JP" sz="1600" dirty="0">
                <a:solidFill>
                  <a:schemeClr val="tx1"/>
                </a:solidFill>
                <a:latin typeface="メイリオ" panose="020B0604030504040204" pitchFamily="50" charset="-128"/>
                <a:ea typeface="メイリオ" panose="020B0604030504040204" pitchFamily="50" charset="-128"/>
              </a:rPr>
              <a:t>が導き出した診断・治療提案の背景情報を提示する。</a:t>
            </a:r>
            <a:endParaRPr kumimoji="1" lang="en-US" altLang="ja-JP" sz="1600" dirty="0">
              <a:solidFill>
                <a:schemeClr val="tx1"/>
              </a:solidFill>
              <a:latin typeface="Trebuchet MS" panose="020B0603020202020204" pitchFamily="34" charset="0"/>
              <a:ea typeface="Meiryo UI" panose="020B0604030504040204" pitchFamily="50" charset="-128"/>
            </a:endParaRPr>
          </a:p>
          <a:p>
            <a:pPr>
              <a:defRPr/>
            </a:pPr>
            <a:r>
              <a:rPr kumimoji="1" lang="ja-JP" altLang="en-US" sz="1600" b="1" dirty="0">
                <a:solidFill>
                  <a:schemeClr val="tx1"/>
                </a:solidFill>
                <a:latin typeface="Trebuchet MS" panose="020B0603020202020204" pitchFamily="34" charset="0"/>
                <a:ea typeface="Meiryo UI" panose="020B0604030504040204" pitchFamily="50" charset="-128"/>
              </a:rPr>
              <a:t>（</a:t>
            </a:r>
            <a:r>
              <a:rPr kumimoji="1" lang="en-US" altLang="ja-JP" sz="1600" b="1" dirty="0">
                <a:solidFill>
                  <a:schemeClr val="tx1"/>
                </a:solidFill>
                <a:latin typeface="Trebuchet MS" panose="020B0603020202020204" pitchFamily="34" charset="0"/>
                <a:ea typeface="Meiryo UI" panose="020B0604030504040204" pitchFamily="50" charset="-128"/>
              </a:rPr>
              <a:t>2</a:t>
            </a:r>
            <a:r>
              <a:rPr kumimoji="1" lang="ja-JP" altLang="en-US" sz="1600" b="1" dirty="0">
                <a:solidFill>
                  <a:schemeClr val="tx1"/>
                </a:solidFill>
                <a:latin typeface="Trebuchet MS" panose="020B0603020202020204" pitchFamily="34" charset="0"/>
                <a:ea typeface="Meiryo UI" panose="020B0604030504040204" pitchFamily="50" charset="-128"/>
              </a:rPr>
              <a:t>）</a:t>
            </a:r>
            <a:r>
              <a:rPr lang="ja-JP" altLang="en-US"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個人情報流出（クラウド</a:t>
            </a:r>
            <a:r>
              <a:rPr lang="en-US" altLang="ja-JP"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LLM</a:t>
            </a:r>
            <a:r>
              <a:rPr lang="ja-JP" altLang="en-US"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送信による漏洩リスク）</a:t>
            </a:r>
            <a:endParaRPr kumimoji="1" lang="ja-JP" altLang="en-US" sz="1600" b="1" dirty="0">
              <a:solidFill>
                <a:schemeClr val="tx1"/>
              </a:solidFill>
              <a:latin typeface="Trebuchet MS" panose="020B0603020202020204" pitchFamily="34" charset="0"/>
              <a:ea typeface="Meiryo UI" panose="020B0604030504040204" pitchFamily="50" charset="-128"/>
            </a:endParaRPr>
          </a:p>
          <a:p>
            <a:pPr>
              <a:defRPr/>
            </a:pPr>
            <a:r>
              <a:rPr kumimoji="1" lang="en-US" altLang="ja-JP" sz="1600" dirty="0">
                <a:solidFill>
                  <a:schemeClr val="tx1"/>
                </a:solidFill>
                <a:latin typeface="Trebuchet MS" panose="020B0603020202020204" pitchFamily="34" charset="0"/>
                <a:ea typeface="Meiryo UI" panose="020B0604030504040204" pitchFamily="50" charset="-128"/>
              </a:rPr>
              <a:t>Gemma3‐12B</a:t>
            </a:r>
            <a:r>
              <a:rPr kumimoji="1" lang="ja-JP" altLang="en-US" sz="1600" dirty="0">
                <a:solidFill>
                  <a:schemeClr val="tx1"/>
                </a:solidFill>
                <a:latin typeface="Trebuchet MS" panose="020B0603020202020204" pitchFamily="34" charset="0"/>
                <a:ea typeface="Meiryo UI" panose="020B0604030504040204" pitchFamily="50" charset="-128"/>
              </a:rPr>
              <a:t>を、</a:t>
            </a:r>
            <a:r>
              <a:rPr kumimoji="1" lang="ja-JP" altLang="en-US" sz="1600" b="1" dirty="0">
                <a:solidFill>
                  <a:srgbClr val="C00000"/>
                </a:solidFill>
                <a:latin typeface="Trebuchet MS" panose="020B0603020202020204" pitchFamily="34" charset="0"/>
                <a:ea typeface="Meiryo UI" panose="020B0604030504040204" pitchFamily="50" charset="-128"/>
              </a:rPr>
              <a:t>病院内の</a:t>
            </a:r>
            <a:r>
              <a:rPr kumimoji="1" lang="en-US" altLang="ja-JP" sz="1600" b="1" dirty="0">
                <a:solidFill>
                  <a:srgbClr val="C00000"/>
                </a:solidFill>
                <a:latin typeface="Trebuchet MS" panose="020B0603020202020204" pitchFamily="34" charset="0"/>
                <a:ea typeface="Meiryo UI" panose="020B0604030504040204" pitchFamily="50" charset="-128"/>
              </a:rPr>
              <a:t>GPU</a:t>
            </a:r>
            <a:r>
              <a:rPr kumimoji="1" lang="ja-JP" altLang="en-US" sz="1600" b="1" dirty="0">
                <a:solidFill>
                  <a:srgbClr val="C00000"/>
                </a:solidFill>
                <a:latin typeface="Trebuchet MS" panose="020B0603020202020204" pitchFamily="34" charset="0"/>
                <a:ea typeface="Meiryo UI" panose="020B0604030504040204" pitchFamily="50" charset="-128"/>
              </a:rPr>
              <a:t>搭載サーバ上に構築・稼働</a:t>
            </a:r>
            <a:r>
              <a:rPr kumimoji="1" lang="ja-JP" altLang="en-US" sz="1600" dirty="0">
                <a:solidFill>
                  <a:schemeClr val="tx1"/>
                </a:solidFill>
                <a:latin typeface="Trebuchet MS" panose="020B0603020202020204" pitchFamily="34" charset="0"/>
                <a:ea typeface="Meiryo UI" panose="020B0604030504040204" pitchFamily="50" charset="-128"/>
              </a:rPr>
              <a:t>させ、外部通信を物理的に遮断する。これにより個人情報を含むプロンプトや出力が外部クラウドに送信される経路を完全に遮断する。モデル自体はオープンウェイトであり、商用利用・ファインチューニングも可能である。医療向け応答の適合性は必要に応じて</a:t>
            </a:r>
            <a:r>
              <a:rPr kumimoji="1" lang="en-US" altLang="ja-JP" sz="1600" dirty="0" err="1">
                <a:solidFill>
                  <a:schemeClr val="tx1"/>
                </a:solidFill>
                <a:latin typeface="Trebuchet MS" panose="020B0603020202020204" pitchFamily="34" charset="0"/>
                <a:ea typeface="Meiryo UI" panose="020B0604030504040204" pitchFamily="50" charset="-128"/>
              </a:rPr>
              <a:t>LoRA</a:t>
            </a:r>
            <a:r>
              <a:rPr kumimoji="1" lang="ja-JP" altLang="en-US" sz="1600" dirty="0">
                <a:solidFill>
                  <a:schemeClr val="tx1"/>
                </a:solidFill>
                <a:latin typeface="Trebuchet MS" panose="020B0603020202020204" pitchFamily="34" charset="0"/>
                <a:ea typeface="Meiryo UI" panose="020B0604030504040204" pitchFamily="50" charset="-128"/>
              </a:rPr>
              <a:t>での軽微な追加学習（最大</a:t>
            </a:r>
            <a:r>
              <a:rPr kumimoji="1" lang="en-US" altLang="ja-JP" sz="1600" dirty="0">
                <a:solidFill>
                  <a:schemeClr val="tx1"/>
                </a:solidFill>
                <a:latin typeface="Trebuchet MS" panose="020B0603020202020204" pitchFamily="34" charset="0"/>
                <a:ea typeface="Meiryo UI" panose="020B0604030504040204" pitchFamily="50" charset="-128"/>
              </a:rPr>
              <a:t>100K</a:t>
            </a:r>
            <a:r>
              <a:rPr kumimoji="1" lang="ja-JP" altLang="en-US" sz="1600" dirty="0">
                <a:solidFill>
                  <a:schemeClr val="tx1"/>
                </a:solidFill>
                <a:latin typeface="Trebuchet MS" panose="020B0603020202020204" pitchFamily="34" charset="0"/>
                <a:ea typeface="Meiryo UI" panose="020B0604030504040204" pitchFamily="50" charset="-128"/>
              </a:rPr>
              <a:t>トークン）を予定している。</a:t>
            </a:r>
            <a:endParaRPr kumimoji="1" lang="en-US" altLang="ja-JP" sz="1600" dirty="0">
              <a:solidFill>
                <a:schemeClr val="tx1"/>
              </a:solidFill>
              <a:latin typeface="Trebuchet MS" panose="020B0603020202020204" pitchFamily="34" charset="0"/>
              <a:ea typeface="Meiryo UI" panose="020B0604030504040204" pitchFamily="50" charset="-128"/>
            </a:endParaRPr>
          </a:p>
          <a:p>
            <a:pPr>
              <a:defRPr/>
            </a:pPr>
            <a:r>
              <a:rPr kumimoji="1" lang="ja-JP" altLang="en-US" sz="1600" b="1" dirty="0">
                <a:solidFill>
                  <a:schemeClr val="tx1"/>
                </a:solidFill>
                <a:latin typeface="Trebuchet MS" panose="020B0603020202020204" pitchFamily="34" charset="0"/>
                <a:ea typeface="Meiryo UI" panose="020B0604030504040204" pitchFamily="50" charset="-128"/>
              </a:rPr>
              <a:t>（</a:t>
            </a:r>
            <a:r>
              <a:rPr kumimoji="1" lang="en-US" altLang="ja-JP" sz="1600" b="1" dirty="0">
                <a:solidFill>
                  <a:schemeClr val="tx1"/>
                </a:solidFill>
                <a:latin typeface="Trebuchet MS" panose="020B0603020202020204" pitchFamily="34" charset="0"/>
                <a:ea typeface="Meiryo UI" panose="020B0604030504040204" pitchFamily="50" charset="-128"/>
              </a:rPr>
              <a:t>3</a:t>
            </a:r>
            <a:r>
              <a:rPr kumimoji="1" lang="ja-JP" altLang="en-US" sz="1600" b="1" dirty="0">
                <a:solidFill>
                  <a:schemeClr val="tx1"/>
                </a:solidFill>
                <a:latin typeface="Trebuchet MS" panose="020B0603020202020204" pitchFamily="34" charset="0"/>
                <a:ea typeface="Meiryo UI" panose="020B0604030504040204" pitchFamily="50" charset="-128"/>
              </a:rPr>
              <a:t>）</a:t>
            </a:r>
            <a:r>
              <a:rPr lang="ja-JP" altLang="en-US"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医師</a:t>
            </a:r>
            <a:r>
              <a:rPr lang="en-US" altLang="ja-JP"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a:t>
            </a:r>
            <a:r>
              <a:rPr lang="ja-JP" altLang="en-US"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患者関係の変容</a:t>
            </a:r>
            <a:endParaRPr kumimoji="1" lang="ja-JP" altLang="en-US" sz="1600" b="1" dirty="0">
              <a:solidFill>
                <a:schemeClr val="tx1"/>
              </a:solidFill>
              <a:latin typeface="Trebuchet MS" panose="020B0603020202020204" pitchFamily="34" charset="0"/>
              <a:ea typeface="Meiryo UI" panose="020B0604030504040204" pitchFamily="50" charset="-128"/>
            </a:endParaRPr>
          </a:p>
          <a:p>
            <a:pPr>
              <a:defRPr/>
            </a:pPr>
            <a:r>
              <a:rPr lang="en-US" altLang="ja-JP" sz="1600" dirty="0">
                <a:solidFill>
                  <a:schemeClr val="tx1"/>
                </a:solidFill>
                <a:latin typeface="メイリオ" panose="020B0604030504040204" pitchFamily="50" charset="-128"/>
                <a:ea typeface="メイリオ" panose="020B0604030504040204" pitchFamily="50" charset="-128"/>
              </a:rPr>
              <a:t>AI</a:t>
            </a:r>
            <a:r>
              <a:rPr lang="ja-JP" altLang="ja-JP" sz="1600" dirty="0">
                <a:solidFill>
                  <a:schemeClr val="tx1"/>
                </a:solidFill>
                <a:latin typeface="メイリオ" panose="020B0604030504040204" pitchFamily="50" charset="-128"/>
                <a:ea typeface="メイリオ" panose="020B0604030504040204" pitchFamily="50" charset="-128"/>
              </a:rPr>
              <a:t>の出力結果に</a:t>
            </a:r>
            <a:r>
              <a:rPr lang="ja-JP" altLang="ja-JP" sz="1600" b="1" dirty="0">
                <a:solidFill>
                  <a:srgbClr val="C00000"/>
                </a:solidFill>
                <a:latin typeface="メイリオ" panose="020B0604030504040204" pitchFamily="50" charset="-128"/>
                <a:ea typeface="メイリオ" panose="020B0604030504040204" pitchFamily="50" charset="-128"/>
              </a:rPr>
              <a:t>「医師による確認済」ラベルを明示</a:t>
            </a:r>
            <a:r>
              <a:rPr lang="ja-JP" altLang="ja-JP" sz="1600" dirty="0">
                <a:solidFill>
                  <a:schemeClr val="tx1"/>
                </a:solidFill>
                <a:latin typeface="メイリオ" panose="020B0604030504040204" pitchFamily="50" charset="-128"/>
                <a:ea typeface="メイリオ" panose="020B0604030504040204" pitchFamily="50" charset="-128"/>
              </a:rPr>
              <a:t>し、説明責任の所在を明らかにする</a:t>
            </a:r>
            <a:r>
              <a:rPr lang="en-US" altLang="ja-JP" sz="1600" dirty="0">
                <a:solidFill>
                  <a:schemeClr val="tx1"/>
                </a:solidFill>
                <a:latin typeface="メイリオ" panose="020B0604030504040204" pitchFamily="50" charset="-128"/>
                <a:ea typeface="メイリオ" panose="020B0604030504040204" pitchFamily="50" charset="-128"/>
              </a:rPr>
              <a:t>UI</a:t>
            </a:r>
            <a:r>
              <a:rPr lang="ja-JP" altLang="ja-JP" sz="1600" dirty="0">
                <a:solidFill>
                  <a:schemeClr val="tx1"/>
                </a:solidFill>
                <a:latin typeface="メイリオ" panose="020B0604030504040204" pitchFamily="50" charset="-128"/>
                <a:ea typeface="メイリオ" panose="020B0604030504040204" pitchFamily="50" charset="-128"/>
              </a:rPr>
              <a:t>を設計する。また、患者向けには「</a:t>
            </a:r>
            <a:r>
              <a:rPr lang="en-US" altLang="ja-JP" sz="1600" dirty="0">
                <a:solidFill>
                  <a:schemeClr val="tx1"/>
                </a:solidFill>
                <a:latin typeface="メイリオ" panose="020B0604030504040204" pitchFamily="50" charset="-128"/>
                <a:ea typeface="メイリオ" panose="020B0604030504040204" pitchFamily="50" charset="-128"/>
              </a:rPr>
              <a:t>AI</a:t>
            </a:r>
            <a:r>
              <a:rPr lang="ja-JP" altLang="ja-JP" sz="1600" dirty="0">
                <a:solidFill>
                  <a:schemeClr val="tx1"/>
                </a:solidFill>
                <a:latin typeface="メイリオ" panose="020B0604030504040204" pitchFamily="50" charset="-128"/>
                <a:ea typeface="メイリオ" panose="020B0604030504040204" pitchFamily="50" charset="-128"/>
              </a:rPr>
              <a:t>が補助的に使われていること」と</a:t>
            </a:r>
            <a:r>
              <a:rPr lang="ja-JP" altLang="ja-JP" sz="1600" b="1" dirty="0">
                <a:solidFill>
                  <a:srgbClr val="C00000"/>
                </a:solidFill>
                <a:latin typeface="メイリオ" panose="020B0604030504040204" pitchFamily="50" charset="-128"/>
                <a:ea typeface="メイリオ" panose="020B0604030504040204" pitchFamily="50" charset="-128"/>
              </a:rPr>
              <a:t>「最終判断は医師であること」を可視化する情報提供モジュール</a:t>
            </a:r>
            <a:r>
              <a:rPr lang="ja-JP" altLang="ja-JP" sz="1600" dirty="0">
                <a:solidFill>
                  <a:schemeClr val="tx1"/>
                </a:solidFill>
                <a:latin typeface="メイリオ" panose="020B0604030504040204" pitchFamily="50" charset="-128"/>
                <a:ea typeface="メイリオ" panose="020B0604030504040204" pitchFamily="50" charset="-128"/>
              </a:rPr>
              <a:t>を開発し、誤解の回避と納得感の向上を図る。これらの仕組みにより、医師の役割が曖昧化するリスクを低減し、</a:t>
            </a:r>
            <a:r>
              <a:rPr lang="en-US" altLang="ja-JP" sz="1600" dirty="0">
                <a:solidFill>
                  <a:schemeClr val="tx1"/>
                </a:solidFill>
                <a:latin typeface="メイリオ" panose="020B0604030504040204" pitchFamily="50" charset="-128"/>
                <a:ea typeface="メイリオ" panose="020B0604030504040204" pitchFamily="50" charset="-128"/>
              </a:rPr>
              <a:t>AI</a:t>
            </a:r>
            <a:r>
              <a:rPr lang="ja-JP" altLang="ja-JP" sz="1600" dirty="0">
                <a:solidFill>
                  <a:schemeClr val="tx1"/>
                </a:solidFill>
                <a:latin typeface="メイリオ" panose="020B0604030504040204" pitchFamily="50" charset="-128"/>
                <a:ea typeface="メイリオ" panose="020B0604030504040204" pitchFamily="50" charset="-128"/>
              </a:rPr>
              <a:t>時代における新たな信頼関係の再構築を実現する。</a:t>
            </a:r>
            <a:endParaRPr lang="en-US" altLang="ja-JP" sz="1600" dirty="0">
              <a:solidFill>
                <a:schemeClr val="tx1"/>
              </a:solidFill>
              <a:latin typeface="メイリオ" panose="020B0604030504040204" pitchFamily="50" charset="-128"/>
              <a:ea typeface="メイリオ" panose="020B0604030504040204" pitchFamily="50" charset="-128"/>
            </a:endParaRPr>
          </a:p>
          <a:p>
            <a:pPr>
              <a:defRPr/>
            </a:pPr>
            <a:endParaRPr kumimoji="1" lang="ja-JP" altLang="en-US" sz="1600" dirty="0">
              <a:solidFill>
                <a:schemeClr val="tx1"/>
              </a:solidFill>
              <a:latin typeface="Trebuchet MS" panose="020B0603020202020204" pitchFamily="34" charset="0"/>
              <a:ea typeface="Meiryo UI" panose="020B0604030504040204" pitchFamily="50" charset="-128"/>
            </a:endParaRPr>
          </a:p>
          <a:p>
            <a:pPr lvl="0">
              <a:defRPr/>
            </a:pPr>
            <a:r>
              <a:rPr kumimoji="1" lang="ja-JP" altLang="en-US" sz="1600" dirty="0">
                <a:solidFill>
                  <a:schemeClr val="tx1"/>
                </a:solidFill>
                <a:latin typeface="Trebuchet MS" panose="020B0603020202020204" pitchFamily="34" charset="0"/>
                <a:ea typeface="Meiryo UI" panose="020B0604030504040204" pitchFamily="50" charset="-128"/>
              </a:rPr>
              <a:t>これら</a:t>
            </a:r>
            <a:r>
              <a:rPr kumimoji="1" lang="en-US" altLang="ja-JP" sz="1600" dirty="0">
                <a:solidFill>
                  <a:schemeClr val="tx1"/>
                </a:solidFill>
                <a:latin typeface="Trebuchet MS" panose="020B0603020202020204" pitchFamily="34" charset="0"/>
                <a:ea typeface="Meiryo UI" panose="020B0604030504040204" pitchFamily="50" charset="-128"/>
              </a:rPr>
              <a:t>3</a:t>
            </a:r>
            <a:r>
              <a:rPr kumimoji="1" lang="ja-JP" altLang="en-US" sz="1600" dirty="0">
                <a:solidFill>
                  <a:schemeClr val="tx1"/>
                </a:solidFill>
                <a:latin typeface="Trebuchet MS" panose="020B0603020202020204" pitchFamily="34" charset="0"/>
                <a:ea typeface="Meiryo UI" panose="020B0604030504040204" pitchFamily="50" charset="-128"/>
              </a:rPr>
              <a:t>要素を統合することで、「出力だけでなく、入力から保存まで」の経路全体をセキュアに保つアーキテクチャを実現し、医療現場への生成</a:t>
            </a:r>
            <a:r>
              <a:rPr kumimoji="1" lang="en-US" altLang="ja-JP" sz="1600" dirty="0">
                <a:solidFill>
                  <a:schemeClr val="tx1"/>
                </a:solidFill>
                <a:latin typeface="Trebuchet MS" panose="020B0603020202020204" pitchFamily="34" charset="0"/>
                <a:ea typeface="Meiryo UI" panose="020B0604030504040204" pitchFamily="50" charset="-128"/>
              </a:rPr>
              <a:t>AI</a:t>
            </a:r>
            <a:r>
              <a:rPr kumimoji="1" lang="ja-JP" altLang="en-US" sz="1600" dirty="0">
                <a:solidFill>
                  <a:schemeClr val="tx1"/>
                </a:solidFill>
                <a:latin typeface="Trebuchet MS" panose="020B0603020202020204" pitchFamily="34" charset="0"/>
                <a:ea typeface="Meiryo UI" panose="020B0604030504040204" pitchFamily="50" charset="-128"/>
              </a:rPr>
              <a:t>導入における核心的リスクを抑制する。</a:t>
            </a:r>
            <a:endParaRPr kumimoji="1" lang="en-US" sz="1600" b="0" i="0" u="none" strike="noStrike" kern="1200" cap="none" spc="0" normalizeH="0" baseline="0" noProof="0" dirty="0">
              <a:ln>
                <a:noFill/>
              </a:ln>
              <a:solidFill>
                <a:schemeClr val="tx1"/>
              </a:solidFill>
              <a:effectLst/>
              <a:uLnTx/>
              <a:uFillTx/>
              <a:latin typeface="Trebuchet MS" panose="020B0603020202020204" pitchFamily="34" charset="0"/>
              <a:ea typeface="Meiryo UI" panose="020B0604030504040204" pitchFamily="50" charset="-128"/>
            </a:endParaRPr>
          </a:p>
        </p:txBody>
      </p:sp>
    </p:spTree>
    <p:extLst>
      <p:ext uri="{BB962C8B-B14F-4D97-AF65-F5344CB8AC3E}">
        <p14:creationId xmlns:p14="http://schemas.microsoft.com/office/powerpoint/2010/main" val="25108681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9494D-46BE-946A-9D02-B80FD74F7FD9}"/>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619AD71-E516-FE68-9C93-F17A96D53D3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04" imgH="405" progId="TCLayout.ActiveDocument.1">
                  <p:embed/>
                </p:oleObj>
              </mc:Choice>
              <mc:Fallback>
                <p:oleObj name="think-cellスライド" r:id="rId3" imgW="404" imgH="405" progId="TCLayout.ActiveDocument.1">
                  <p:embed/>
                  <p:pic>
                    <p:nvPicPr>
                      <p:cNvPr id="3" name="think-cell data - do not delete" hidden="1">
                        <a:extLst>
                          <a:ext uri="{FF2B5EF4-FFF2-40B4-BE49-F238E27FC236}">
                            <a16:creationId xmlns:a16="http://schemas.microsoft.com/office/drawing/2014/main" id="{5619AD71-E516-FE68-9C93-F17A96D53D3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382F0946-6D2D-35F5-61E6-AFF9270F0BDE}"/>
              </a:ext>
            </a:extLst>
          </p:cNvPr>
          <p:cNvSpPr>
            <a:spLocks noGrp="1"/>
          </p:cNvSpPr>
          <p:nvPr>
            <p:ph type="title"/>
          </p:nvPr>
        </p:nvSpPr>
        <p:spPr>
          <a:xfrm>
            <a:off x="893420" y="28777"/>
            <a:ext cx="10515600" cy="725079"/>
          </a:xfrm>
        </p:spPr>
        <p:txBody>
          <a:bodyPr vert="horz"/>
          <a:lstStyle/>
          <a:p>
            <a:r>
              <a:rPr kumimoji="1" lang="ja-JP" altLang="en-US" dirty="0">
                <a:latin typeface="Trebuchet MS" panose="020B0603020202020204" pitchFamily="34" charset="0"/>
                <a:ea typeface="Meiryo UI" panose="020B0604030504040204" pitchFamily="50" charset="-128"/>
              </a:rPr>
              <a:t>対策技術について </a:t>
            </a:r>
            <a:r>
              <a:rPr kumimoji="1" lang="en-US" altLang="ja-JP" dirty="0">
                <a:latin typeface="Trebuchet MS" panose="020B0603020202020204" pitchFamily="34" charset="0"/>
                <a:ea typeface="Meiryo UI" panose="020B0604030504040204" pitchFamily="50" charset="-128"/>
              </a:rPr>
              <a:t>(2/5)</a:t>
            </a:r>
            <a:endParaRPr kumimoji="1" lang="en-US" dirty="0">
              <a:latin typeface="Trebuchet MS" panose="020B0603020202020204" pitchFamily="34" charset="0"/>
              <a:ea typeface="Meiryo UI" panose="020B0604030504040204" pitchFamily="50" charset="-128"/>
            </a:endParaRPr>
          </a:p>
        </p:txBody>
      </p:sp>
      <p:grpSp>
        <p:nvGrpSpPr>
          <p:cNvPr id="16" name="グループ化 15">
            <a:extLst>
              <a:ext uri="{FF2B5EF4-FFF2-40B4-BE49-F238E27FC236}">
                <a16:creationId xmlns:a16="http://schemas.microsoft.com/office/drawing/2014/main" id="{D2B6F7BF-FD40-3756-9F98-AEC1DB49F30F}"/>
              </a:ext>
            </a:extLst>
          </p:cNvPr>
          <p:cNvGrpSpPr/>
          <p:nvPr/>
        </p:nvGrpSpPr>
        <p:grpSpPr>
          <a:xfrm>
            <a:off x="1040624" y="882963"/>
            <a:ext cx="10626041" cy="336349"/>
            <a:chOff x="653442" y="1983554"/>
            <a:chExt cx="3469984" cy="336349"/>
          </a:xfrm>
        </p:grpSpPr>
        <p:sp>
          <p:nvSpPr>
            <p:cNvPr id="18" name="ee4pHeader2">
              <a:extLst>
                <a:ext uri="{FF2B5EF4-FFF2-40B4-BE49-F238E27FC236}">
                  <a16:creationId xmlns:a16="http://schemas.microsoft.com/office/drawing/2014/main" id="{5D11A344-8828-F3C0-8E05-304654A91F04}"/>
                </a:ext>
              </a:extLst>
            </p:cNvPr>
            <p:cNvSpPr txBox="1"/>
            <p:nvPr/>
          </p:nvSpPr>
          <p:spPr>
            <a:xfrm>
              <a:off x="653442" y="1983554"/>
              <a:ext cx="3151498" cy="307777"/>
            </a:xfrm>
            <a:prstGeom prst="rect">
              <a:avLst/>
            </a:prstGeom>
          </p:spPr>
          <p:txBody>
            <a:bodyPr vert="horz" wrap="square" lIns="0" tIns="0" rIns="0" bIns="0" rtlCol="0" anchor="b"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2000" b="0" i="0" u="none" strike="noStrike" kern="1200" cap="none" spc="0" normalizeH="0" baseline="0" noProof="0" dirty="0">
                  <a:ln>
                    <a:noFill/>
                  </a:ln>
                  <a:effectLst/>
                  <a:uLnTx/>
                  <a:uFillTx/>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対策技術の妥当性・目標</a:t>
              </a:r>
              <a:endParaRPr kumimoji="0" lang="en-US" altLang="ja-JP" sz="2000" b="0" i="0" u="none" strike="noStrike" kern="1200" cap="none" spc="0" normalizeH="0" baseline="0" noProof="0" dirty="0">
                <a:ln>
                  <a:noFill/>
                </a:ln>
                <a:effectLst/>
                <a:uLnTx/>
                <a:uFillTx/>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endParaRPr>
            </a:p>
          </p:txBody>
        </p:sp>
        <p:cxnSp>
          <p:nvCxnSpPr>
            <p:cNvPr id="19" name="Straight Connector 34">
              <a:extLst>
                <a:ext uri="{FF2B5EF4-FFF2-40B4-BE49-F238E27FC236}">
                  <a16:creationId xmlns:a16="http://schemas.microsoft.com/office/drawing/2014/main" id="{514B4AAD-813D-CA9E-D16A-D3293084D27D}"/>
                </a:ext>
              </a:extLst>
            </p:cNvPr>
            <p:cNvCxnSpPr>
              <a:cxnSpLocks/>
            </p:cNvCxnSpPr>
            <p:nvPr/>
          </p:nvCxnSpPr>
          <p:spPr>
            <a:xfrm>
              <a:off x="653442" y="2319903"/>
              <a:ext cx="3469984" cy="0"/>
            </a:xfrm>
            <a:prstGeom prst="line">
              <a:avLst/>
            </a:prstGeom>
            <a:ln w="9525" cap="flat"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7" name="正方形/長方形 16">
            <a:extLst>
              <a:ext uri="{FF2B5EF4-FFF2-40B4-BE49-F238E27FC236}">
                <a16:creationId xmlns:a16="http://schemas.microsoft.com/office/drawing/2014/main" id="{690BEE7B-C77F-1D90-BB5B-8713816ABB4C}"/>
              </a:ext>
            </a:extLst>
          </p:cNvPr>
          <p:cNvSpPr/>
          <p:nvPr/>
        </p:nvSpPr>
        <p:spPr>
          <a:xfrm>
            <a:off x="2294905" y="1247886"/>
            <a:ext cx="9617461" cy="5161788"/>
          </a:xfrm>
          <a:prstGeom prst="rect">
            <a:avLst/>
          </a:prstGeom>
          <a:noFill/>
          <a:ln w="9525" cap="rnd" cmpd="sng" algn="ctr">
            <a:solidFill>
              <a:srgbClr val="9A9A9A"/>
            </a:solidFill>
            <a:prstDash val="solid"/>
            <a:round/>
            <a:headEnd type="none" w="med" len="med"/>
            <a:tailEnd type="none" w="med" len="me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tabLst>
                <a:tab pos="266700" algn="l"/>
              </a:tabLst>
              <a:defRPr/>
            </a:pPr>
            <a:r>
              <a:rPr kumimoji="1" lang="ja-JP" altLang="en-US" sz="1600" dirty="0">
                <a:solidFill>
                  <a:schemeClr val="tx1"/>
                </a:solidFill>
                <a:latin typeface="Trebuchet MS" panose="020B0603020202020204" pitchFamily="34" charset="0"/>
                <a:ea typeface="Meiryo UI" panose="020B0604030504040204" pitchFamily="50" charset="-128"/>
              </a:rPr>
              <a:t>本提案で採用する「入出力経路を守る」技術は、既存の“出力監視”や“単語置換”型の対策と異なり、リスクの根本構造に対する直接的な制御を行うものである。以下に、</a:t>
            </a:r>
            <a:r>
              <a:rPr kumimoji="1" lang="en-US" altLang="ja-JP" sz="1600" dirty="0">
                <a:solidFill>
                  <a:schemeClr val="tx1"/>
                </a:solidFill>
                <a:latin typeface="Trebuchet MS" panose="020B0603020202020204" pitchFamily="34" charset="0"/>
                <a:ea typeface="Meiryo UI" panose="020B0604030504040204" pitchFamily="50" charset="-128"/>
              </a:rPr>
              <a:t>3</a:t>
            </a:r>
            <a:r>
              <a:rPr kumimoji="1" lang="ja-JP" altLang="en-US" sz="1600" dirty="0">
                <a:solidFill>
                  <a:schemeClr val="tx1"/>
                </a:solidFill>
                <a:latin typeface="Trebuchet MS" panose="020B0603020202020204" pitchFamily="34" charset="0"/>
                <a:ea typeface="Meiryo UI" panose="020B0604030504040204" pitchFamily="50" charset="-128"/>
              </a:rPr>
              <a:t>大リスクごとに対策技術の妥当性とリスク低減の根拠を記す。</a:t>
            </a:r>
          </a:p>
          <a:p>
            <a:pPr lvl="0">
              <a:tabLst>
                <a:tab pos="266700" algn="l"/>
              </a:tabLst>
              <a:defRPr/>
            </a:pPr>
            <a:r>
              <a:rPr kumimoji="1" lang="ja-JP" altLang="en-US" sz="1600" b="1" dirty="0">
                <a:solidFill>
                  <a:schemeClr val="tx1"/>
                </a:solidFill>
                <a:latin typeface="Trebuchet MS" panose="020B0603020202020204" pitchFamily="34" charset="0"/>
                <a:ea typeface="Meiryo UI" panose="020B0604030504040204" pitchFamily="50" charset="-128"/>
              </a:rPr>
              <a:t>（</a:t>
            </a:r>
            <a:r>
              <a:rPr kumimoji="1" lang="en-US" altLang="ja-JP" sz="1600" b="1" dirty="0">
                <a:solidFill>
                  <a:schemeClr val="tx1"/>
                </a:solidFill>
                <a:latin typeface="Trebuchet MS" panose="020B0603020202020204" pitchFamily="34" charset="0"/>
                <a:ea typeface="Meiryo UI" panose="020B0604030504040204" pitchFamily="50" charset="-128"/>
              </a:rPr>
              <a:t>1</a:t>
            </a:r>
            <a:r>
              <a:rPr kumimoji="1" lang="ja-JP" altLang="en-US" sz="1600" b="1" dirty="0">
                <a:solidFill>
                  <a:schemeClr val="tx1"/>
                </a:solidFill>
                <a:latin typeface="Trebuchet MS" panose="020B0603020202020204" pitchFamily="34" charset="0"/>
                <a:ea typeface="Meiryo UI" panose="020B0604030504040204" pitchFamily="50" charset="-128"/>
              </a:rPr>
              <a:t>）誤診誘導（致死的ハルシネーション）</a:t>
            </a:r>
            <a:endParaRPr kumimoji="1" lang="en-US" altLang="ja-JP" sz="1600" b="1" dirty="0">
              <a:solidFill>
                <a:schemeClr val="tx1"/>
              </a:solidFill>
              <a:latin typeface="Trebuchet MS" panose="020B0603020202020204" pitchFamily="34" charset="0"/>
              <a:ea typeface="Meiryo UI" panose="020B0604030504040204" pitchFamily="50" charset="-128"/>
            </a:endParaRPr>
          </a:p>
          <a:p>
            <a:pPr>
              <a:tabLst>
                <a:tab pos="266700" algn="l"/>
              </a:tabLst>
              <a:defRPr/>
            </a:pPr>
            <a:r>
              <a:rPr lang="ja-JP" altLang="en-US" sz="1600" dirty="0">
                <a:solidFill>
                  <a:schemeClr val="tx1"/>
                </a:solidFill>
                <a:latin typeface="メイリオ" panose="020B0604030504040204" pitchFamily="50" charset="-128"/>
                <a:ea typeface="メイリオ" panose="020B0604030504040204" pitchFamily="50" charset="-128"/>
              </a:rPr>
              <a:t>　</a:t>
            </a:r>
            <a:r>
              <a:rPr lang="ja-JP" altLang="ja-JP" sz="1600" dirty="0">
                <a:solidFill>
                  <a:schemeClr val="tx1"/>
                </a:solidFill>
                <a:latin typeface="メイリオ" panose="020B0604030504040204" pitchFamily="50" charset="-128"/>
                <a:ea typeface="メイリオ" panose="020B0604030504040204" pitchFamily="50" charset="-128"/>
              </a:rPr>
              <a:t>生成</a:t>
            </a:r>
            <a:r>
              <a:rPr lang="en-US" altLang="ja-JP" sz="1600" dirty="0">
                <a:solidFill>
                  <a:schemeClr val="tx1"/>
                </a:solidFill>
                <a:latin typeface="メイリオ" panose="020B0604030504040204" pitchFamily="50" charset="-128"/>
                <a:ea typeface="メイリオ" panose="020B0604030504040204" pitchFamily="50" charset="-128"/>
              </a:rPr>
              <a:t>AI</a:t>
            </a:r>
            <a:r>
              <a:rPr lang="ja-JP" altLang="ja-JP" sz="1600" dirty="0">
                <a:solidFill>
                  <a:schemeClr val="tx1"/>
                </a:solidFill>
                <a:latin typeface="メイリオ" panose="020B0604030504040204" pitchFamily="50" charset="-128"/>
                <a:ea typeface="メイリオ" panose="020B0604030504040204" pitchFamily="50" charset="-128"/>
              </a:rPr>
              <a:t>の誤情報による致死的誤診リスクに対して、</a:t>
            </a:r>
            <a:r>
              <a:rPr lang="en-US" altLang="ja-JP" sz="1600" dirty="0">
                <a:solidFill>
                  <a:schemeClr val="tx1"/>
                </a:solidFill>
                <a:latin typeface="メイリオ" panose="020B0604030504040204" pitchFamily="50" charset="-128"/>
                <a:ea typeface="メイリオ" panose="020B0604030504040204" pitchFamily="50" charset="-128"/>
              </a:rPr>
              <a:t>RAG</a:t>
            </a:r>
            <a:r>
              <a:rPr lang="ja-JP" altLang="ja-JP" sz="1600" dirty="0">
                <a:solidFill>
                  <a:schemeClr val="tx1"/>
                </a:solidFill>
                <a:latin typeface="メイリオ" panose="020B0604030504040204" pitchFamily="50" charset="-128"/>
                <a:ea typeface="メイリオ" panose="020B0604030504040204" pitchFamily="50" charset="-128"/>
              </a:rPr>
              <a:t>を活用した事実性補強、医師の診断・治療計画との整合性チェック、さらに出力根拠の明示による三重の対策を講じる。これにより、</a:t>
            </a:r>
            <a:r>
              <a:rPr lang="en-US" altLang="ja-JP" sz="1600" dirty="0">
                <a:solidFill>
                  <a:schemeClr val="tx1"/>
                </a:solidFill>
                <a:latin typeface="メイリオ" panose="020B0604030504040204" pitchFamily="50" charset="-128"/>
                <a:ea typeface="メイリオ" panose="020B0604030504040204" pitchFamily="50" charset="-128"/>
              </a:rPr>
              <a:t>AI</a:t>
            </a:r>
            <a:r>
              <a:rPr lang="ja-JP" altLang="ja-JP" sz="1600" dirty="0">
                <a:solidFill>
                  <a:schemeClr val="tx1"/>
                </a:solidFill>
                <a:latin typeface="メイリオ" panose="020B0604030504040204" pitchFamily="50" charset="-128"/>
                <a:ea typeface="メイリオ" panose="020B0604030504040204" pitchFamily="50" charset="-128"/>
              </a:rPr>
              <a:t>の出力内容に対し</a:t>
            </a:r>
            <a:r>
              <a:rPr lang="ja-JP" altLang="ja-JP" sz="1600" b="1" dirty="0">
                <a:solidFill>
                  <a:srgbClr val="C00000"/>
                </a:solidFill>
                <a:latin typeface="メイリオ" panose="020B0604030504040204" pitchFamily="50" charset="-128"/>
                <a:ea typeface="メイリオ" panose="020B0604030504040204" pitchFamily="50" charset="-128"/>
              </a:rPr>
              <a:t>「出典」「妥当性」「判断理由」が明確化</a:t>
            </a:r>
            <a:r>
              <a:rPr lang="ja-JP" altLang="ja-JP" sz="1600" dirty="0">
                <a:solidFill>
                  <a:schemeClr val="tx1"/>
                </a:solidFill>
                <a:latin typeface="メイリオ" panose="020B0604030504040204" pitchFamily="50" charset="-128"/>
                <a:ea typeface="メイリオ" panose="020B0604030504040204" pitchFamily="50" charset="-128"/>
              </a:rPr>
              <a:t>され、医師による批判的思考を促す設計が実現可能となる。</a:t>
            </a:r>
            <a:endParaRPr lang="en-US" altLang="ja-JP" sz="1600" dirty="0">
              <a:solidFill>
                <a:schemeClr val="tx1"/>
              </a:solidFill>
              <a:latin typeface="メイリオ" panose="020B0604030504040204" pitchFamily="50" charset="-128"/>
              <a:ea typeface="メイリオ" panose="020B0604030504040204" pitchFamily="50" charset="-128"/>
            </a:endParaRPr>
          </a:p>
          <a:p>
            <a:pPr>
              <a:tabLst>
                <a:tab pos="266700" algn="l"/>
              </a:tabLst>
              <a:defRPr/>
            </a:pPr>
            <a:r>
              <a:rPr kumimoji="1" lang="ja-JP" altLang="en-US" sz="1600" b="1" dirty="0">
                <a:solidFill>
                  <a:schemeClr val="tx1"/>
                </a:solidFill>
                <a:latin typeface="Trebuchet MS" panose="020B0603020202020204" pitchFamily="34" charset="0"/>
                <a:ea typeface="Meiryo UI" panose="020B0604030504040204" pitchFamily="50" charset="-128"/>
              </a:rPr>
              <a:t>（</a:t>
            </a:r>
            <a:r>
              <a:rPr kumimoji="1" lang="en-US" altLang="ja-JP" sz="1600" b="1" dirty="0">
                <a:solidFill>
                  <a:schemeClr val="tx1"/>
                </a:solidFill>
                <a:latin typeface="Trebuchet MS" panose="020B0603020202020204" pitchFamily="34" charset="0"/>
                <a:ea typeface="Meiryo UI" panose="020B0604030504040204" pitchFamily="50" charset="-128"/>
              </a:rPr>
              <a:t>2</a:t>
            </a:r>
            <a:r>
              <a:rPr kumimoji="1" lang="ja-JP" altLang="en-US" sz="1600" b="1" dirty="0">
                <a:solidFill>
                  <a:schemeClr val="tx1"/>
                </a:solidFill>
                <a:latin typeface="Trebuchet MS" panose="020B0603020202020204" pitchFamily="34" charset="0"/>
                <a:ea typeface="Meiryo UI" panose="020B0604030504040204" pitchFamily="50" charset="-128"/>
              </a:rPr>
              <a:t>）</a:t>
            </a:r>
            <a:r>
              <a:rPr lang="ja-JP" altLang="en-US"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個人情報流出（クラウド</a:t>
            </a:r>
            <a:r>
              <a:rPr lang="en-US" altLang="ja-JP"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LLM</a:t>
            </a:r>
            <a:r>
              <a:rPr lang="ja-JP" altLang="en-US"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送信による漏洩リスク）</a:t>
            </a:r>
            <a:endParaRPr kumimoji="1" lang="ja-JP" altLang="en-US" sz="1600" b="1" dirty="0">
              <a:solidFill>
                <a:schemeClr val="tx1"/>
              </a:solidFill>
              <a:latin typeface="Trebuchet MS" panose="020B0603020202020204" pitchFamily="34" charset="0"/>
              <a:ea typeface="Meiryo UI" panose="020B0604030504040204" pitchFamily="50" charset="-128"/>
            </a:endParaRPr>
          </a:p>
          <a:p>
            <a:pPr>
              <a:tabLst>
                <a:tab pos="266700" algn="l"/>
              </a:tabLst>
              <a:defRPr/>
            </a:pPr>
            <a:r>
              <a:rPr lang="ja-JP" altLang="en-US" sz="1600" dirty="0">
                <a:solidFill>
                  <a:schemeClr val="tx1"/>
                </a:solidFill>
                <a:latin typeface="メイリオ" panose="020B0604030504040204" pitchFamily="50" charset="-128"/>
                <a:ea typeface="メイリオ" panose="020B0604030504040204" pitchFamily="50" charset="-128"/>
              </a:rPr>
              <a:t>　</a:t>
            </a:r>
            <a:r>
              <a:rPr lang="ja-JP" altLang="ja-JP" sz="1600" dirty="0">
                <a:solidFill>
                  <a:schemeClr val="tx1"/>
                </a:solidFill>
                <a:latin typeface="メイリオ" panose="020B0604030504040204" pitchFamily="50" charset="-128"/>
                <a:ea typeface="メイリオ" panose="020B0604030504040204" pitchFamily="50" charset="-128"/>
              </a:rPr>
              <a:t>クラウド型生成</a:t>
            </a:r>
            <a:r>
              <a:rPr lang="en-US" altLang="ja-JP" sz="1600" dirty="0">
                <a:solidFill>
                  <a:schemeClr val="tx1"/>
                </a:solidFill>
                <a:latin typeface="メイリオ" panose="020B0604030504040204" pitchFamily="50" charset="-128"/>
                <a:ea typeface="メイリオ" panose="020B0604030504040204" pitchFamily="50" charset="-128"/>
              </a:rPr>
              <a:t>AI</a:t>
            </a:r>
            <a:r>
              <a:rPr lang="ja-JP" altLang="ja-JP" sz="1600" dirty="0">
                <a:solidFill>
                  <a:schemeClr val="tx1"/>
                </a:solidFill>
                <a:latin typeface="メイリオ" panose="020B0604030504040204" pitchFamily="50" charset="-128"/>
                <a:ea typeface="メイリオ" panose="020B0604030504040204" pitchFamily="50" charset="-128"/>
              </a:rPr>
              <a:t>による診療情報の漏洩リスクに対し、本提案では</a:t>
            </a:r>
            <a:r>
              <a:rPr lang="en-US" altLang="ja-JP" sz="1600" dirty="0">
                <a:solidFill>
                  <a:schemeClr val="tx1"/>
                </a:solidFill>
                <a:latin typeface="メイリオ" panose="020B0604030504040204" pitchFamily="50" charset="-128"/>
                <a:ea typeface="メイリオ" panose="020B0604030504040204" pitchFamily="50" charset="-128"/>
              </a:rPr>
              <a:t>Gemma3-12B</a:t>
            </a:r>
            <a:r>
              <a:rPr lang="ja-JP" altLang="ja-JP" sz="1600" dirty="0">
                <a:solidFill>
                  <a:schemeClr val="tx1"/>
                </a:solidFill>
                <a:latin typeface="メイリオ" panose="020B0604030504040204" pitchFamily="50" charset="-128"/>
                <a:ea typeface="メイリオ" panose="020B0604030504040204" pitchFamily="50" charset="-128"/>
              </a:rPr>
              <a:t>を病院内サーバ上でローカル運用し、外部通信を遮断する構成を採用する。これによりプロンプト・出力が外部クラウドを経由する経路を完全に遮断し、</a:t>
            </a:r>
            <a:r>
              <a:rPr lang="ja-JP" altLang="ja-JP" sz="1600" b="1" dirty="0">
                <a:solidFill>
                  <a:srgbClr val="C00000"/>
                </a:solidFill>
                <a:latin typeface="メイリオ" panose="020B0604030504040204" pitchFamily="50" charset="-128"/>
                <a:ea typeface="メイリオ" panose="020B0604030504040204" pitchFamily="50" charset="-128"/>
              </a:rPr>
              <a:t>法令遵守（個人情報保護法・次世代医療基盤法）にも適合可能</a:t>
            </a:r>
            <a:r>
              <a:rPr lang="ja-JP" altLang="ja-JP" sz="1600" dirty="0">
                <a:solidFill>
                  <a:schemeClr val="tx1"/>
                </a:solidFill>
                <a:latin typeface="メイリオ" panose="020B0604030504040204" pitchFamily="50" charset="-128"/>
                <a:ea typeface="メイリオ" panose="020B0604030504040204" pitchFamily="50" charset="-128"/>
              </a:rPr>
              <a:t>となる。</a:t>
            </a:r>
            <a:r>
              <a:rPr lang="en-US" altLang="ja-JP" sz="1600" dirty="0">
                <a:solidFill>
                  <a:schemeClr val="tx1"/>
                </a:solidFill>
                <a:latin typeface="メイリオ" panose="020B0604030504040204" pitchFamily="50" charset="-128"/>
                <a:ea typeface="メイリオ" panose="020B0604030504040204" pitchFamily="50" charset="-128"/>
              </a:rPr>
              <a:t>RTX 5090</a:t>
            </a:r>
            <a:r>
              <a:rPr lang="ja-JP" altLang="ja-JP" sz="1600" dirty="0">
                <a:solidFill>
                  <a:schemeClr val="tx1"/>
                </a:solidFill>
                <a:latin typeface="メイリオ" panose="020B0604030504040204" pitchFamily="50" charset="-128"/>
                <a:ea typeface="メイリオ" panose="020B0604030504040204" pitchFamily="50" charset="-128"/>
              </a:rPr>
              <a:t>クラスでの実行が現実的であり、</a:t>
            </a:r>
            <a:r>
              <a:rPr lang="en-US" altLang="ja-JP" sz="1600" dirty="0" err="1">
                <a:solidFill>
                  <a:schemeClr val="tx1"/>
                </a:solidFill>
                <a:latin typeface="メイリオ" panose="020B0604030504040204" pitchFamily="50" charset="-128"/>
                <a:ea typeface="メイリオ" panose="020B0604030504040204" pitchFamily="50" charset="-128"/>
              </a:rPr>
              <a:t>LoRA</a:t>
            </a:r>
            <a:r>
              <a:rPr lang="ja-JP" altLang="ja-JP" sz="1600" dirty="0">
                <a:solidFill>
                  <a:schemeClr val="tx1"/>
                </a:solidFill>
                <a:latin typeface="メイリオ" panose="020B0604030504040204" pitchFamily="50" charset="-128"/>
                <a:ea typeface="メイリオ" panose="020B0604030504040204" pitchFamily="50" charset="-128"/>
              </a:rPr>
              <a:t>による軽微な専門性強化も想定された現実的かつ妥当な構成である。</a:t>
            </a:r>
            <a:endParaRPr kumimoji="1" lang="ja-JP" altLang="en-US" sz="1600" dirty="0">
              <a:solidFill>
                <a:schemeClr val="tx1"/>
              </a:solidFill>
              <a:latin typeface="Trebuchet MS" panose="020B0603020202020204" pitchFamily="34" charset="0"/>
              <a:ea typeface="Meiryo UI" panose="020B0604030504040204" pitchFamily="50" charset="-128"/>
            </a:endParaRPr>
          </a:p>
          <a:p>
            <a:pPr lvl="0">
              <a:tabLst>
                <a:tab pos="266700" algn="l"/>
              </a:tabLst>
              <a:defRPr/>
            </a:pPr>
            <a:r>
              <a:rPr kumimoji="1" lang="ja-JP" altLang="en-US" sz="1600" b="1" dirty="0">
                <a:solidFill>
                  <a:schemeClr val="tx1"/>
                </a:solidFill>
                <a:latin typeface="Trebuchet MS" panose="020B0603020202020204" pitchFamily="34" charset="0"/>
                <a:ea typeface="Meiryo UI" panose="020B0604030504040204" pitchFamily="50" charset="-128"/>
              </a:rPr>
              <a:t>（</a:t>
            </a:r>
            <a:r>
              <a:rPr kumimoji="1" lang="en-US" altLang="ja-JP" sz="1600" b="1" dirty="0">
                <a:solidFill>
                  <a:schemeClr val="tx1"/>
                </a:solidFill>
                <a:latin typeface="Trebuchet MS" panose="020B0603020202020204" pitchFamily="34" charset="0"/>
                <a:ea typeface="Meiryo UI" panose="020B0604030504040204" pitchFamily="50" charset="-128"/>
              </a:rPr>
              <a:t>3</a:t>
            </a:r>
            <a:r>
              <a:rPr kumimoji="1" lang="ja-JP" altLang="en-US" sz="1600" b="1" dirty="0">
                <a:solidFill>
                  <a:schemeClr val="tx1"/>
                </a:solidFill>
                <a:latin typeface="Trebuchet MS" panose="020B0603020202020204" pitchFamily="34" charset="0"/>
                <a:ea typeface="Meiryo UI" panose="020B0604030504040204" pitchFamily="50" charset="-128"/>
              </a:rPr>
              <a:t>）</a:t>
            </a:r>
            <a:r>
              <a:rPr lang="ja-JP" altLang="en-US"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医師</a:t>
            </a:r>
            <a:r>
              <a:rPr lang="en-US" altLang="ja-JP"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a:t>
            </a:r>
            <a:r>
              <a:rPr lang="ja-JP" altLang="en-US"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患者関係の変容</a:t>
            </a:r>
            <a:endParaRPr lang="en-US" altLang="ja-JP"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endParaRPr>
          </a:p>
          <a:p>
            <a:pPr>
              <a:tabLst>
                <a:tab pos="266700" algn="l"/>
              </a:tabLst>
              <a:defRPr/>
            </a:pPr>
            <a:r>
              <a:rPr lang="ja-JP" altLang="en-US" sz="1600" dirty="0">
                <a:solidFill>
                  <a:schemeClr val="tx1"/>
                </a:solidFill>
                <a:latin typeface="メイリオ" panose="020B0604030504040204" pitchFamily="50" charset="-128"/>
                <a:ea typeface="メイリオ" panose="020B0604030504040204" pitchFamily="50" charset="-128"/>
              </a:rPr>
              <a:t>　</a:t>
            </a:r>
            <a:r>
              <a:rPr lang="en-US" altLang="ja-JP" sz="1600" dirty="0">
                <a:solidFill>
                  <a:schemeClr val="tx1"/>
                </a:solidFill>
                <a:latin typeface="メイリオ" panose="020B0604030504040204" pitchFamily="50" charset="-128"/>
                <a:ea typeface="メイリオ" panose="020B0604030504040204" pitchFamily="50" charset="-128"/>
              </a:rPr>
              <a:t>AI</a:t>
            </a:r>
            <a:r>
              <a:rPr lang="ja-JP" altLang="ja-JP" sz="1600" dirty="0">
                <a:solidFill>
                  <a:schemeClr val="tx1"/>
                </a:solidFill>
                <a:latin typeface="メイリオ" panose="020B0604030504040204" pitchFamily="50" charset="-128"/>
                <a:ea typeface="メイリオ" panose="020B0604030504040204" pitchFamily="50" charset="-128"/>
              </a:rPr>
              <a:t>導入による医師</a:t>
            </a:r>
            <a:r>
              <a:rPr lang="en-US" altLang="ja-JP" sz="1600" dirty="0">
                <a:solidFill>
                  <a:schemeClr val="tx1"/>
                </a:solidFill>
                <a:latin typeface="メイリオ" panose="020B0604030504040204" pitchFamily="50" charset="-128"/>
                <a:ea typeface="メイリオ" panose="020B0604030504040204" pitchFamily="50" charset="-128"/>
              </a:rPr>
              <a:t>–</a:t>
            </a:r>
            <a:r>
              <a:rPr lang="ja-JP" altLang="ja-JP" sz="1600" dirty="0">
                <a:solidFill>
                  <a:schemeClr val="tx1"/>
                </a:solidFill>
                <a:latin typeface="メイリオ" panose="020B0604030504040204" pitchFamily="50" charset="-128"/>
                <a:ea typeface="メイリオ" panose="020B0604030504040204" pitchFamily="50" charset="-128"/>
              </a:rPr>
              <a:t>患者関係の変容に対しては、「医師確認済」ラベルの明示、</a:t>
            </a:r>
            <a:r>
              <a:rPr lang="en-US" altLang="ja-JP" sz="1600" dirty="0">
                <a:solidFill>
                  <a:schemeClr val="tx1"/>
                </a:solidFill>
                <a:latin typeface="メイリオ" panose="020B0604030504040204" pitchFamily="50" charset="-128"/>
                <a:ea typeface="メイリオ" panose="020B0604030504040204" pitchFamily="50" charset="-128"/>
              </a:rPr>
              <a:t>AI</a:t>
            </a:r>
            <a:r>
              <a:rPr lang="ja-JP" altLang="ja-JP" sz="1600" dirty="0">
                <a:solidFill>
                  <a:schemeClr val="tx1"/>
                </a:solidFill>
                <a:latin typeface="メイリオ" panose="020B0604030504040204" pitchFamily="50" charset="-128"/>
                <a:ea typeface="メイリオ" panose="020B0604030504040204" pitchFamily="50" charset="-128"/>
              </a:rPr>
              <a:t>判断と医師判断の</a:t>
            </a:r>
            <a:r>
              <a:rPr lang="en-US" altLang="ja-JP" sz="1600" dirty="0">
                <a:solidFill>
                  <a:schemeClr val="tx1"/>
                </a:solidFill>
                <a:latin typeface="メイリオ" panose="020B0604030504040204" pitchFamily="50" charset="-128"/>
                <a:ea typeface="メイリオ" panose="020B0604030504040204" pitchFamily="50" charset="-128"/>
              </a:rPr>
              <a:t>UI</a:t>
            </a:r>
            <a:r>
              <a:rPr lang="ja-JP" altLang="ja-JP" sz="1600" dirty="0">
                <a:solidFill>
                  <a:schemeClr val="tx1"/>
                </a:solidFill>
                <a:latin typeface="メイリオ" panose="020B0604030504040204" pitchFamily="50" charset="-128"/>
                <a:ea typeface="メイリオ" panose="020B0604030504040204" pitchFamily="50" charset="-128"/>
              </a:rPr>
              <a:t>上の明確な区別、ならびに患者向け説明モジュールの導入を通じて、</a:t>
            </a:r>
            <a:r>
              <a:rPr lang="ja-JP" altLang="ja-JP" sz="1600" b="1" dirty="0">
                <a:solidFill>
                  <a:srgbClr val="C00000"/>
                </a:solidFill>
                <a:latin typeface="メイリオ" panose="020B0604030504040204" pitchFamily="50" charset="-128"/>
                <a:ea typeface="メイリオ" panose="020B0604030504040204" pitchFamily="50" charset="-128"/>
              </a:rPr>
              <a:t>誤解・不信を防ぐ構造を設計</a:t>
            </a:r>
            <a:r>
              <a:rPr lang="ja-JP" altLang="ja-JP" sz="1600" dirty="0">
                <a:solidFill>
                  <a:schemeClr val="tx1"/>
                </a:solidFill>
                <a:latin typeface="メイリオ" panose="020B0604030504040204" pitchFamily="50" charset="-128"/>
                <a:ea typeface="メイリオ" panose="020B0604030504040204" pitchFamily="50" charset="-128"/>
              </a:rPr>
              <a:t>する。これら</a:t>
            </a:r>
            <a:r>
              <a:rPr lang="ja-JP" altLang="en-US" sz="1600" dirty="0">
                <a:solidFill>
                  <a:schemeClr val="tx1"/>
                </a:solidFill>
                <a:latin typeface="メイリオ" panose="020B0604030504040204" pitchFamily="50" charset="-128"/>
                <a:ea typeface="メイリオ" panose="020B0604030504040204" pitchFamily="50" charset="-128"/>
              </a:rPr>
              <a:t>の設計により</a:t>
            </a:r>
            <a:r>
              <a:rPr lang="ja-JP" altLang="ja-JP" sz="1600" dirty="0">
                <a:solidFill>
                  <a:schemeClr val="tx1"/>
                </a:solidFill>
                <a:latin typeface="メイリオ" panose="020B0604030504040204" pitchFamily="50" charset="-128"/>
                <a:ea typeface="メイリオ" panose="020B0604030504040204" pitchFamily="50" charset="-128"/>
              </a:rPr>
              <a:t>、責任の所在を明確</a:t>
            </a:r>
            <a:r>
              <a:rPr lang="ja-JP" altLang="en-US" sz="1600" dirty="0">
                <a:solidFill>
                  <a:schemeClr val="tx1"/>
                </a:solidFill>
                <a:latin typeface="メイリオ" panose="020B0604030504040204" pitchFamily="50" charset="-128"/>
                <a:ea typeface="メイリオ" panose="020B0604030504040204" pitchFamily="50" charset="-128"/>
              </a:rPr>
              <a:t>にすることができる。</a:t>
            </a:r>
            <a:endParaRPr lang="en-US" altLang="ja-JP" sz="1600" dirty="0">
              <a:solidFill>
                <a:schemeClr val="tx1"/>
              </a:solidFill>
              <a:latin typeface="メイリオ" panose="020B0604030504040204" pitchFamily="50" charset="-128"/>
              <a:ea typeface="メイリオ" panose="020B0604030504040204" pitchFamily="50" charset="-128"/>
            </a:endParaRPr>
          </a:p>
          <a:p>
            <a:pPr>
              <a:tabLst>
                <a:tab pos="266700" algn="l"/>
              </a:tabLst>
              <a:defRPr/>
            </a:pPr>
            <a:endParaRPr kumimoji="1" lang="en-US" altLang="ja-JP" sz="1600" dirty="0">
              <a:solidFill>
                <a:schemeClr val="tx1"/>
              </a:solidFill>
              <a:latin typeface="Trebuchet MS" panose="020B0603020202020204" pitchFamily="34" charset="0"/>
              <a:ea typeface="Meiryo UI" panose="020B0604030504040204" pitchFamily="50" charset="-128"/>
            </a:endParaRPr>
          </a:p>
          <a:p>
            <a:pPr lvl="0">
              <a:tabLst>
                <a:tab pos="266700" algn="l"/>
              </a:tabLst>
              <a:defRPr/>
            </a:pPr>
            <a:r>
              <a:rPr kumimoji="1" lang="ja-JP" altLang="en-US" sz="1600" dirty="0">
                <a:solidFill>
                  <a:schemeClr val="tx1"/>
                </a:solidFill>
                <a:latin typeface="Trebuchet MS" panose="020B0603020202020204" pitchFamily="34" charset="0"/>
                <a:ea typeface="Meiryo UI" panose="020B0604030504040204" pitchFamily="50" charset="-128"/>
              </a:rPr>
              <a:t>以上の通り、本提案は医療現場で既に問題視されているリスクを技術的に封じ込める構造を備えており、実装容易性（</a:t>
            </a:r>
            <a:r>
              <a:rPr kumimoji="1" lang="en-US" altLang="ja-JP" sz="1600" dirty="0">
                <a:solidFill>
                  <a:schemeClr val="tx1"/>
                </a:solidFill>
                <a:latin typeface="Trebuchet MS" panose="020B0603020202020204" pitchFamily="34" charset="0"/>
                <a:ea typeface="Meiryo UI" panose="020B0604030504040204" pitchFamily="50" charset="-128"/>
              </a:rPr>
              <a:t>RTX 5090</a:t>
            </a:r>
            <a:r>
              <a:rPr kumimoji="1" lang="ja-JP" altLang="en-US" sz="1600" dirty="0">
                <a:solidFill>
                  <a:schemeClr val="tx1"/>
                </a:solidFill>
                <a:latin typeface="Trebuchet MS" panose="020B0603020202020204" pitchFamily="34" charset="0"/>
                <a:ea typeface="Meiryo UI" panose="020B0604030504040204" pitchFamily="50" charset="-128"/>
              </a:rPr>
              <a:t>環境で完結）と制度的整合性を両立させている。</a:t>
            </a:r>
            <a:endParaRPr kumimoji="1" lang="en-US" altLang="ja-JP" sz="1600" b="0" i="0" u="none" strike="noStrike" kern="1200" cap="none" spc="0" normalizeH="0" baseline="0" noProof="0" dirty="0">
              <a:ln>
                <a:noFill/>
              </a:ln>
              <a:solidFill>
                <a:schemeClr val="tx1"/>
              </a:solidFill>
              <a:effectLst/>
              <a:uLnTx/>
              <a:uFillTx/>
              <a:latin typeface="Trebuchet MS" panose="020B0603020202020204" pitchFamily="34" charset="0"/>
              <a:ea typeface="Meiryo UI" panose="020B0604030504040204" pitchFamily="50" charset="-128"/>
              <a:cs typeface="+mn-cs"/>
            </a:endParaRPr>
          </a:p>
        </p:txBody>
      </p:sp>
      <p:sp>
        <p:nvSpPr>
          <p:cNvPr id="9" name="正方形/長方形 8">
            <a:extLst>
              <a:ext uri="{FF2B5EF4-FFF2-40B4-BE49-F238E27FC236}">
                <a16:creationId xmlns:a16="http://schemas.microsoft.com/office/drawing/2014/main" id="{C43B9282-7C6E-6779-6F02-FA0506A1C03B}"/>
              </a:ext>
            </a:extLst>
          </p:cNvPr>
          <p:cNvSpPr/>
          <p:nvPr/>
        </p:nvSpPr>
        <p:spPr>
          <a:xfrm>
            <a:off x="838200" y="1247886"/>
            <a:ext cx="1296000" cy="5161792"/>
          </a:xfrm>
          <a:prstGeom prst="rect">
            <a:avLst/>
          </a:prstGeom>
          <a:solidFill>
            <a:schemeClr val="tx2">
              <a:lumMod val="75000"/>
              <a:lumOff val="25000"/>
            </a:schemeClr>
          </a:solidFill>
          <a:ln w="9525" cap="rnd" cmpd="sng" algn="ctr">
            <a:solidFill>
              <a:schemeClr val="tx2">
                <a:lumMod val="75000"/>
                <a:lumOff val="2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kumimoji="1" lang="ja-JP" altLang="en-US" sz="1800" b="0" i="0" u="none" strike="noStrike" kern="1200" cap="none" spc="0" normalizeH="0" baseline="0" noProof="0">
                <a:ln>
                  <a:noFill/>
                </a:ln>
                <a:solidFill>
                  <a:srgbClr val="FFFFFF"/>
                </a:solidFill>
                <a:effectLst/>
                <a:uLnTx/>
                <a:uFillTx/>
                <a:latin typeface="Trebuchet MS" panose="020B0603020202020204" pitchFamily="34" charset="0"/>
                <a:ea typeface="Meiryo UI" panose="020B0604030504040204" pitchFamily="50" charset="-128"/>
                <a:cs typeface="+mn-cs"/>
              </a:rPr>
              <a:t>対策技術の妥当性</a:t>
            </a:r>
            <a:endParaRPr kumimoji="1" lang="en-US" altLang="ja-JP" sz="1800" b="0" i="0" u="none" strike="noStrike" kern="1200" cap="none" spc="0" normalizeH="0" baseline="0" noProof="0">
              <a:ln>
                <a:noFill/>
              </a:ln>
              <a:solidFill>
                <a:srgbClr val="FFFFFF"/>
              </a:solidFill>
              <a:effectLst/>
              <a:uLnTx/>
              <a:uFillTx/>
              <a:latin typeface="Trebuchet MS" panose="020B0603020202020204" pitchFamily="34" charset="0"/>
              <a:ea typeface="Meiryo UI" panose="020B0604030504040204" pitchFamily="50" charset="-128"/>
              <a:cs typeface="+mn-cs"/>
            </a:endParaRPr>
          </a:p>
        </p:txBody>
      </p:sp>
    </p:spTree>
    <p:extLst>
      <p:ext uri="{BB962C8B-B14F-4D97-AF65-F5344CB8AC3E}">
        <p14:creationId xmlns:p14="http://schemas.microsoft.com/office/powerpoint/2010/main" val="18341693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2C168-9D5A-F1C2-294C-A94BD0E6C669}"/>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A0E04B9-019A-6D89-48AA-AB72FE4BF1B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04" imgH="405" progId="TCLayout.ActiveDocument.1">
                  <p:embed/>
                </p:oleObj>
              </mc:Choice>
              <mc:Fallback>
                <p:oleObj name="think-cellスライド" r:id="rId3" imgW="404" imgH="405" progId="TCLayout.ActiveDocument.1">
                  <p:embed/>
                  <p:pic>
                    <p:nvPicPr>
                      <p:cNvPr id="3" name="think-cell data - do not delete" hidden="1">
                        <a:extLst>
                          <a:ext uri="{FF2B5EF4-FFF2-40B4-BE49-F238E27FC236}">
                            <a16:creationId xmlns:a16="http://schemas.microsoft.com/office/drawing/2014/main" id="{EA0E04B9-019A-6D89-48AA-AB72FE4BF1B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E4899D08-CD2A-5A92-1013-0EB4F264BBFA}"/>
              </a:ext>
            </a:extLst>
          </p:cNvPr>
          <p:cNvSpPr>
            <a:spLocks noGrp="1"/>
          </p:cNvSpPr>
          <p:nvPr>
            <p:ph type="title"/>
          </p:nvPr>
        </p:nvSpPr>
        <p:spPr>
          <a:xfrm>
            <a:off x="893420" y="28777"/>
            <a:ext cx="10515600" cy="732060"/>
          </a:xfrm>
        </p:spPr>
        <p:txBody>
          <a:bodyPr vert="horz"/>
          <a:lstStyle/>
          <a:p>
            <a:r>
              <a:rPr kumimoji="1" lang="ja-JP" altLang="en-US" dirty="0">
                <a:latin typeface="Trebuchet MS" panose="020B0603020202020204" pitchFamily="34" charset="0"/>
                <a:ea typeface="Meiryo UI" panose="020B0604030504040204" pitchFamily="50" charset="-128"/>
              </a:rPr>
              <a:t>対策技術について </a:t>
            </a:r>
            <a:r>
              <a:rPr kumimoji="1" lang="en-US" altLang="ja-JP" dirty="0">
                <a:latin typeface="Trebuchet MS" panose="020B0603020202020204" pitchFamily="34" charset="0"/>
                <a:ea typeface="Meiryo UI" panose="020B0604030504040204" pitchFamily="50" charset="-128"/>
              </a:rPr>
              <a:t>(3/5)</a:t>
            </a:r>
            <a:endParaRPr kumimoji="1" lang="en-US" dirty="0">
              <a:latin typeface="Trebuchet MS" panose="020B0603020202020204" pitchFamily="34" charset="0"/>
              <a:ea typeface="Meiryo UI" panose="020B0604030504040204" pitchFamily="50" charset="-128"/>
            </a:endParaRPr>
          </a:p>
        </p:txBody>
      </p:sp>
      <p:grpSp>
        <p:nvGrpSpPr>
          <p:cNvPr id="16" name="グループ化 15">
            <a:extLst>
              <a:ext uri="{FF2B5EF4-FFF2-40B4-BE49-F238E27FC236}">
                <a16:creationId xmlns:a16="http://schemas.microsoft.com/office/drawing/2014/main" id="{99F39534-6D36-A375-C1F4-D35C624EFAA6}"/>
              </a:ext>
            </a:extLst>
          </p:cNvPr>
          <p:cNvGrpSpPr/>
          <p:nvPr/>
        </p:nvGrpSpPr>
        <p:grpSpPr>
          <a:xfrm>
            <a:off x="782979" y="767808"/>
            <a:ext cx="10626041" cy="336349"/>
            <a:chOff x="653442" y="1983554"/>
            <a:chExt cx="3469984" cy="336349"/>
          </a:xfrm>
        </p:grpSpPr>
        <p:sp>
          <p:nvSpPr>
            <p:cNvPr id="18" name="ee4pHeader2">
              <a:extLst>
                <a:ext uri="{FF2B5EF4-FFF2-40B4-BE49-F238E27FC236}">
                  <a16:creationId xmlns:a16="http://schemas.microsoft.com/office/drawing/2014/main" id="{C7656BA2-C809-1BA8-AE23-DEC70AC91730}"/>
                </a:ext>
              </a:extLst>
            </p:cNvPr>
            <p:cNvSpPr txBox="1"/>
            <p:nvPr/>
          </p:nvSpPr>
          <p:spPr>
            <a:xfrm>
              <a:off x="653442" y="1983554"/>
              <a:ext cx="3151498" cy="307777"/>
            </a:xfrm>
            <a:prstGeom prst="rect">
              <a:avLst/>
            </a:prstGeom>
          </p:spPr>
          <p:txBody>
            <a:bodyPr vert="horz" wrap="square" lIns="0" tIns="0" rIns="0" bIns="0" rtlCol="0" anchor="b"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2000" b="0" i="0" u="none" strike="noStrike" kern="1200" cap="none" spc="0" normalizeH="0" baseline="0" noProof="0" dirty="0">
                  <a:ln>
                    <a:noFill/>
                  </a:ln>
                  <a:effectLst/>
                  <a:uLnTx/>
                  <a:uFillTx/>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対策技術の妥当性・目標</a:t>
              </a:r>
              <a:endParaRPr kumimoji="0" lang="en-US" altLang="ja-JP" sz="2000" b="0" i="0" u="none" strike="noStrike" kern="1200" cap="none" spc="0" normalizeH="0" baseline="0" noProof="0" dirty="0">
                <a:ln>
                  <a:noFill/>
                </a:ln>
                <a:effectLst/>
                <a:uLnTx/>
                <a:uFillTx/>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endParaRPr>
            </a:p>
          </p:txBody>
        </p:sp>
        <p:cxnSp>
          <p:nvCxnSpPr>
            <p:cNvPr id="19" name="Straight Connector 34">
              <a:extLst>
                <a:ext uri="{FF2B5EF4-FFF2-40B4-BE49-F238E27FC236}">
                  <a16:creationId xmlns:a16="http://schemas.microsoft.com/office/drawing/2014/main" id="{8ECA654F-E969-3630-D24F-87DBD4C30025}"/>
                </a:ext>
              </a:extLst>
            </p:cNvPr>
            <p:cNvCxnSpPr>
              <a:cxnSpLocks/>
            </p:cNvCxnSpPr>
            <p:nvPr/>
          </p:nvCxnSpPr>
          <p:spPr>
            <a:xfrm>
              <a:off x="653442" y="2319903"/>
              <a:ext cx="3469984" cy="0"/>
            </a:xfrm>
            <a:prstGeom prst="line">
              <a:avLst/>
            </a:prstGeom>
            <a:ln w="9525" cap="flat"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0" name="正方形/長方形 9">
            <a:extLst>
              <a:ext uri="{FF2B5EF4-FFF2-40B4-BE49-F238E27FC236}">
                <a16:creationId xmlns:a16="http://schemas.microsoft.com/office/drawing/2014/main" id="{340044D7-B87F-3A1C-80AF-63A444B9505E}"/>
              </a:ext>
            </a:extLst>
          </p:cNvPr>
          <p:cNvSpPr/>
          <p:nvPr/>
        </p:nvSpPr>
        <p:spPr>
          <a:xfrm>
            <a:off x="838200" y="1193609"/>
            <a:ext cx="1296000" cy="5184566"/>
          </a:xfrm>
          <a:prstGeom prst="rect">
            <a:avLst/>
          </a:prstGeom>
          <a:solidFill>
            <a:schemeClr val="tx2">
              <a:lumMod val="75000"/>
              <a:lumOff val="25000"/>
            </a:schemeClr>
          </a:solidFill>
          <a:ln w="9525" cap="rnd" cmpd="sng" algn="ctr">
            <a:solidFill>
              <a:schemeClr val="tx2">
                <a:lumMod val="75000"/>
                <a:lumOff val="2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a:ln>
                  <a:noFill/>
                </a:ln>
                <a:solidFill>
                  <a:srgbClr val="FFFFFF"/>
                </a:solidFill>
                <a:effectLst/>
                <a:uLnTx/>
                <a:uFillTx/>
                <a:latin typeface="Trebuchet MS" panose="020B0603020202020204" pitchFamily="34" charset="0"/>
                <a:ea typeface="Meiryo UI" panose="020B0604030504040204" pitchFamily="50" charset="-128"/>
                <a:cs typeface="+mn-cs"/>
              </a:rPr>
              <a:t>目標</a:t>
            </a:r>
            <a:endParaRPr kumimoji="1" lang="en-US" altLang="ja-JP" sz="1800" b="0" i="0" u="none" strike="noStrike" kern="1200" cap="none" spc="0" normalizeH="0" baseline="0" noProof="0">
              <a:ln>
                <a:noFill/>
              </a:ln>
              <a:solidFill>
                <a:srgbClr val="FFFFFF"/>
              </a:solidFill>
              <a:effectLst/>
              <a:uLnTx/>
              <a:uFillTx/>
              <a:latin typeface="Trebuchet MS" panose="020B0603020202020204" pitchFamily="34" charset="0"/>
              <a:ea typeface="Meiryo UI" panose="020B0604030504040204" pitchFamily="50" charset="-128"/>
              <a:cs typeface="+mn-cs"/>
            </a:endParaRPr>
          </a:p>
        </p:txBody>
      </p:sp>
      <p:sp>
        <p:nvSpPr>
          <p:cNvPr id="15" name="正方形/長方形 14">
            <a:extLst>
              <a:ext uri="{FF2B5EF4-FFF2-40B4-BE49-F238E27FC236}">
                <a16:creationId xmlns:a16="http://schemas.microsoft.com/office/drawing/2014/main" id="{D2B5AF2E-77F4-45EC-C32B-BC8B7663BB00}"/>
              </a:ext>
            </a:extLst>
          </p:cNvPr>
          <p:cNvSpPr/>
          <p:nvPr/>
        </p:nvSpPr>
        <p:spPr>
          <a:xfrm>
            <a:off x="2307487" y="1193610"/>
            <a:ext cx="9520989" cy="5184563"/>
          </a:xfrm>
          <a:prstGeom prst="rect">
            <a:avLst/>
          </a:prstGeom>
          <a:noFill/>
          <a:ln w="9525" cap="rnd" cmpd="sng" algn="ctr">
            <a:solidFill>
              <a:srgbClr val="9A9A9A"/>
            </a:solidFill>
            <a:prstDash val="solid"/>
            <a:round/>
            <a:headEnd type="none" w="med" len="med"/>
            <a:tailEnd type="none" w="med" len="me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tabLst>
                <a:tab pos="266700" algn="l"/>
              </a:tabLst>
              <a:defRPr/>
            </a:pPr>
            <a:r>
              <a:rPr kumimoji="1" lang="ja-JP" altLang="en-US" sz="1600" dirty="0">
                <a:solidFill>
                  <a:prstClr val="black"/>
                </a:solidFill>
                <a:latin typeface="Trebuchet MS" panose="020B0603020202020204" pitchFamily="34" charset="0"/>
                <a:ea typeface="Meiryo UI" panose="020B0604030504040204" pitchFamily="50" charset="-128"/>
              </a:rPr>
              <a:t>本提案で開発する対策技術は、生成</a:t>
            </a:r>
            <a:r>
              <a:rPr kumimoji="1" lang="en-US" altLang="ja-JP" sz="1600" dirty="0">
                <a:solidFill>
                  <a:prstClr val="black"/>
                </a:solidFill>
                <a:latin typeface="Trebuchet MS" panose="020B0603020202020204" pitchFamily="34" charset="0"/>
                <a:ea typeface="Meiryo UI" panose="020B0604030504040204" pitchFamily="50" charset="-128"/>
              </a:rPr>
              <a:t>AI</a:t>
            </a:r>
            <a:r>
              <a:rPr kumimoji="1" lang="ja-JP" altLang="en-US" sz="1600" dirty="0">
                <a:solidFill>
                  <a:prstClr val="black"/>
                </a:solidFill>
                <a:latin typeface="Trebuchet MS" panose="020B0603020202020204" pitchFamily="34" charset="0"/>
                <a:ea typeface="Meiryo UI" panose="020B0604030504040204" pitchFamily="50" charset="-128"/>
              </a:rPr>
              <a:t>の医療応用に伴う</a:t>
            </a:r>
            <a:r>
              <a:rPr kumimoji="1" lang="en-US" altLang="ja-JP" sz="1600" dirty="0">
                <a:solidFill>
                  <a:prstClr val="black"/>
                </a:solidFill>
                <a:latin typeface="Trebuchet MS" panose="020B0603020202020204" pitchFamily="34" charset="0"/>
                <a:ea typeface="Meiryo UI" panose="020B0604030504040204" pitchFamily="50" charset="-128"/>
              </a:rPr>
              <a:t>3</a:t>
            </a:r>
            <a:r>
              <a:rPr kumimoji="1" lang="ja-JP" altLang="en-US" sz="1600" dirty="0">
                <a:solidFill>
                  <a:prstClr val="black"/>
                </a:solidFill>
                <a:latin typeface="Trebuchet MS" panose="020B0603020202020204" pitchFamily="34" charset="0"/>
                <a:ea typeface="Meiryo UI" panose="020B0604030504040204" pitchFamily="50" charset="-128"/>
              </a:rPr>
              <a:t>大リスク</a:t>
            </a:r>
            <a:r>
              <a:rPr kumimoji="1" lang="ja-JP" altLang="en-US" sz="1600" b="1" dirty="0">
                <a:solidFill>
                  <a:prstClr val="black"/>
                </a:solidFill>
                <a:latin typeface="Trebuchet MS" panose="020B0603020202020204" pitchFamily="34" charset="0"/>
                <a:ea typeface="Meiryo UI" panose="020B0604030504040204" pitchFamily="50" charset="-128"/>
              </a:rPr>
              <a:t>（ ①誤診誘発、②個人情報流出、③医師患者関係の変容</a:t>
            </a:r>
            <a:r>
              <a:rPr kumimoji="1" lang="ja-JP" altLang="en-US" sz="1600" dirty="0">
                <a:solidFill>
                  <a:prstClr val="black"/>
                </a:solidFill>
                <a:latin typeface="Trebuchet MS" panose="020B0603020202020204" pitchFamily="34" charset="0"/>
                <a:ea typeface="Meiryo UI" panose="020B0604030504040204" pitchFamily="50" charset="-128"/>
              </a:rPr>
              <a:t>）に対して、入出力経路の制御を通じた安全性の担保を目指すものである。</a:t>
            </a:r>
            <a:endParaRPr kumimoji="1" lang="en-US" altLang="ja-JP" sz="1600" dirty="0">
              <a:solidFill>
                <a:prstClr val="black"/>
              </a:solidFill>
              <a:latin typeface="Trebuchet MS" panose="020B0603020202020204" pitchFamily="34" charset="0"/>
              <a:ea typeface="Meiryo UI" panose="020B0604030504040204" pitchFamily="50" charset="-128"/>
            </a:endParaRPr>
          </a:p>
          <a:p>
            <a:pPr lvl="0">
              <a:tabLst>
                <a:tab pos="266700" algn="l"/>
              </a:tabLst>
              <a:defRPr/>
            </a:pPr>
            <a:r>
              <a:rPr kumimoji="1" lang="ja-JP" altLang="en-US" sz="1600" dirty="0">
                <a:solidFill>
                  <a:prstClr val="black"/>
                </a:solidFill>
                <a:latin typeface="Trebuchet MS" panose="020B0603020202020204" pitchFamily="34" charset="0"/>
                <a:ea typeface="Meiryo UI" panose="020B0604030504040204" pitchFamily="50" charset="-128"/>
              </a:rPr>
              <a:t>技術的には以下</a:t>
            </a:r>
            <a:r>
              <a:rPr kumimoji="1" lang="en-US" altLang="ja-JP" sz="1600" dirty="0">
                <a:solidFill>
                  <a:prstClr val="black"/>
                </a:solidFill>
                <a:latin typeface="Trebuchet MS" panose="020B0603020202020204" pitchFamily="34" charset="0"/>
                <a:ea typeface="Meiryo UI" panose="020B0604030504040204" pitchFamily="50" charset="-128"/>
              </a:rPr>
              <a:t>3</a:t>
            </a:r>
            <a:r>
              <a:rPr kumimoji="1" lang="ja-JP" altLang="en-US" sz="1600" dirty="0">
                <a:solidFill>
                  <a:prstClr val="black"/>
                </a:solidFill>
                <a:latin typeface="Trebuchet MS" panose="020B0603020202020204" pitchFamily="34" charset="0"/>
                <a:ea typeface="Meiryo UI" panose="020B0604030504040204" pitchFamily="50" charset="-128"/>
              </a:rPr>
              <a:t>つの構成要素に分かれ、それぞれに対して定量的な目標を設定する。</a:t>
            </a:r>
          </a:p>
          <a:p>
            <a:pPr>
              <a:tabLst>
                <a:tab pos="266700" algn="l"/>
              </a:tabLst>
              <a:defRPr/>
            </a:pPr>
            <a:r>
              <a:rPr kumimoji="1" lang="ja-JP" altLang="en-US" sz="1600" b="1" dirty="0">
                <a:solidFill>
                  <a:schemeClr val="tx1"/>
                </a:solidFill>
                <a:latin typeface="Trebuchet MS" panose="020B0603020202020204" pitchFamily="34" charset="0"/>
                <a:ea typeface="Meiryo UI" panose="020B0604030504040204" pitchFamily="50" charset="-128"/>
              </a:rPr>
              <a:t>（</a:t>
            </a:r>
            <a:r>
              <a:rPr kumimoji="1" lang="en-US" altLang="ja-JP" sz="1600" b="1" dirty="0">
                <a:solidFill>
                  <a:schemeClr val="tx1"/>
                </a:solidFill>
                <a:latin typeface="Trebuchet MS" panose="020B0603020202020204" pitchFamily="34" charset="0"/>
                <a:ea typeface="Meiryo UI" panose="020B0604030504040204" pitchFamily="50" charset="-128"/>
              </a:rPr>
              <a:t>1</a:t>
            </a:r>
            <a:r>
              <a:rPr kumimoji="1" lang="ja-JP" altLang="en-US" sz="1600" b="1" dirty="0">
                <a:solidFill>
                  <a:schemeClr val="tx1"/>
                </a:solidFill>
                <a:latin typeface="Trebuchet MS" panose="020B0603020202020204" pitchFamily="34" charset="0"/>
                <a:ea typeface="Meiryo UI" panose="020B0604030504040204" pitchFamily="50" charset="-128"/>
              </a:rPr>
              <a:t>）</a:t>
            </a:r>
            <a:r>
              <a:rPr lang="ja-JP" altLang="en-US"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誤診誘導（致死的ハルシネーション）</a:t>
            </a:r>
            <a:endParaRPr kumimoji="1" lang="ja-JP" altLang="en-US" sz="1600" b="1" dirty="0">
              <a:solidFill>
                <a:prstClr val="black"/>
              </a:solidFill>
              <a:latin typeface="Trebuchet MS" panose="020B0603020202020204" pitchFamily="34" charset="0"/>
              <a:ea typeface="Meiryo UI" panose="020B0604030504040204" pitchFamily="50" charset="-128"/>
            </a:endParaRPr>
          </a:p>
          <a:p>
            <a:pPr lvl="0">
              <a:tabLst>
                <a:tab pos="266700" algn="l"/>
              </a:tabLst>
              <a:defRPr/>
            </a:pPr>
            <a:r>
              <a:rPr lang="ja-JP" altLang="en-US" sz="1600" dirty="0">
                <a:solidFill>
                  <a:schemeClr val="tx1"/>
                </a:solidFill>
                <a:latin typeface="メイリオ" panose="020B0604030504040204" pitchFamily="50" charset="-128"/>
                <a:ea typeface="メイリオ" panose="020B0604030504040204" pitchFamily="50" charset="-128"/>
              </a:rPr>
              <a:t>本技術は、診断補助</a:t>
            </a:r>
            <a:r>
              <a:rPr lang="en-US" altLang="ja-JP" sz="1600" dirty="0">
                <a:solidFill>
                  <a:schemeClr val="tx1"/>
                </a:solidFill>
                <a:latin typeface="メイリオ" panose="020B0604030504040204" pitchFamily="50" charset="-128"/>
                <a:ea typeface="メイリオ" panose="020B0604030504040204" pitchFamily="50" charset="-128"/>
              </a:rPr>
              <a:t>AI</a:t>
            </a:r>
            <a:r>
              <a:rPr lang="ja-JP" altLang="en-US" sz="1600" dirty="0">
                <a:solidFill>
                  <a:schemeClr val="tx1"/>
                </a:solidFill>
                <a:latin typeface="メイリオ" panose="020B0604030504040204" pitchFamily="50" charset="-128"/>
                <a:ea typeface="メイリオ" panose="020B0604030504040204" pitchFamily="50" charset="-128"/>
              </a:rPr>
              <a:t>におけるハルシネーション抑制を目的とし、以下</a:t>
            </a:r>
            <a:r>
              <a:rPr lang="en-US" altLang="ja-JP" sz="1600" dirty="0">
                <a:solidFill>
                  <a:schemeClr val="tx1"/>
                </a:solidFill>
                <a:latin typeface="メイリオ" panose="020B0604030504040204" pitchFamily="50" charset="-128"/>
                <a:ea typeface="メイリオ" panose="020B0604030504040204" pitchFamily="50" charset="-128"/>
              </a:rPr>
              <a:t>3</a:t>
            </a:r>
            <a:r>
              <a:rPr lang="ja-JP" altLang="en-US" sz="1600" dirty="0">
                <a:solidFill>
                  <a:schemeClr val="tx1"/>
                </a:solidFill>
                <a:latin typeface="メイリオ" panose="020B0604030504040204" pitchFamily="50" charset="-128"/>
                <a:ea typeface="メイリオ" panose="020B0604030504040204" pitchFamily="50" charset="-128"/>
              </a:rPr>
              <a:t>要素の達成を目標とする：</a:t>
            </a:r>
            <a:endParaRPr lang="en-US" altLang="ja-JP" sz="1600" dirty="0">
              <a:solidFill>
                <a:schemeClr val="tx1"/>
              </a:solidFill>
              <a:latin typeface="メイリオ" panose="020B0604030504040204" pitchFamily="50" charset="-128"/>
              <a:ea typeface="メイリオ" panose="020B0604030504040204" pitchFamily="50" charset="-128"/>
            </a:endParaRPr>
          </a:p>
          <a:p>
            <a:pPr lvl="1">
              <a:tabLst>
                <a:tab pos="266700" algn="l"/>
              </a:tabLst>
              <a:defRPr/>
            </a:pPr>
            <a:r>
              <a:rPr lang="en-US" altLang="ja-JP" sz="1600" dirty="0">
                <a:solidFill>
                  <a:schemeClr val="tx1"/>
                </a:solidFill>
                <a:latin typeface="メイリオ" panose="020B0604030504040204" pitchFamily="50" charset="-128"/>
                <a:ea typeface="メイリオ" panose="020B0604030504040204" pitchFamily="50" charset="-128"/>
              </a:rPr>
              <a:t>1) </a:t>
            </a:r>
            <a:r>
              <a:rPr lang="ja-JP" altLang="en-US" sz="1600" dirty="0">
                <a:solidFill>
                  <a:schemeClr val="tx1"/>
                </a:solidFill>
                <a:latin typeface="メイリオ" panose="020B0604030504040204" pitchFamily="50" charset="-128"/>
                <a:ea typeface="メイリオ" panose="020B0604030504040204" pitchFamily="50" charset="-128"/>
              </a:rPr>
              <a:t>医療</a:t>
            </a:r>
            <a:r>
              <a:rPr lang="en-US" altLang="ja-JP" sz="1600" dirty="0">
                <a:solidFill>
                  <a:schemeClr val="tx1"/>
                </a:solidFill>
                <a:latin typeface="メイリオ" panose="020B0604030504040204" pitchFamily="50" charset="-128"/>
                <a:ea typeface="メイリオ" panose="020B0604030504040204" pitchFamily="50" charset="-128"/>
              </a:rPr>
              <a:t>RAG</a:t>
            </a:r>
            <a:r>
              <a:rPr lang="ja-JP" altLang="en-US" sz="1600" dirty="0">
                <a:solidFill>
                  <a:schemeClr val="tx1"/>
                </a:solidFill>
                <a:latin typeface="メイリオ" panose="020B0604030504040204" pitchFamily="50" charset="-128"/>
                <a:ea typeface="メイリオ" panose="020B0604030504040204" pitchFamily="50" charset="-128"/>
              </a:rPr>
              <a:t>により</a:t>
            </a:r>
            <a:r>
              <a:rPr lang="ja-JP" altLang="en-US" sz="1600" b="1" dirty="0">
                <a:solidFill>
                  <a:srgbClr val="C00000"/>
                </a:solidFill>
                <a:latin typeface="メイリオ" panose="020B0604030504040204" pitchFamily="50" charset="-128"/>
                <a:ea typeface="メイリオ" panose="020B0604030504040204" pitchFamily="50" charset="-128"/>
              </a:rPr>
              <a:t>出力内容の</a:t>
            </a:r>
            <a:r>
              <a:rPr lang="en-US" altLang="ja-JP" sz="1600" b="1" dirty="0">
                <a:solidFill>
                  <a:srgbClr val="C00000"/>
                </a:solidFill>
                <a:latin typeface="メイリオ" panose="020B0604030504040204" pitchFamily="50" charset="-128"/>
                <a:ea typeface="メイリオ" panose="020B0604030504040204" pitchFamily="50" charset="-128"/>
              </a:rPr>
              <a:t>90%</a:t>
            </a:r>
            <a:r>
              <a:rPr lang="ja-JP" altLang="en-US" sz="1600" b="1" dirty="0">
                <a:solidFill>
                  <a:srgbClr val="C00000"/>
                </a:solidFill>
                <a:latin typeface="メイリオ" panose="020B0604030504040204" pitchFamily="50" charset="-128"/>
                <a:ea typeface="メイリオ" panose="020B0604030504040204" pitchFamily="50" charset="-128"/>
              </a:rPr>
              <a:t>以上が出典付き</a:t>
            </a:r>
            <a:r>
              <a:rPr lang="ja-JP" altLang="en-US" sz="1600" dirty="0">
                <a:solidFill>
                  <a:schemeClr val="tx1"/>
                </a:solidFill>
                <a:latin typeface="メイリオ" panose="020B0604030504040204" pitchFamily="50" charset="-128"/>
                <a:ea typeface="メイリオ" panose="020B0604030504040204" pitchFamily="50" charset="-128"/>
              </a:rPr>
              <a:t>で説明可能であること</a:t>
            </a:r>
            <a:endParaRPr lang="en-US" altLang="ja-JP" sz="1600" dirty="0">
              <a:solidFill>
                <a:schemeClr val="tx1"/>
              </a:solidFill>
              <a:latin typeface="メイリオ" panose="020B0604030504040204" pitchFamily="50" charset="-128"/>
              <a:ea typeface="メイリオ" panose="020B0604030504040204" pitchFamily="50" charset="-128"/>
            </a:endParaRPr>
          </a:p>
          <a:p>
            <a:pPr lvl="1">
              <a:tabLst>
                <a:tab pos="266700" algn="l"/>
              </a:tabLst>
              <a:defRPr/>
            </a:pPr>
            <a:r>
              <a:rPr lang="en-US" altLang="ja-JP" sz="1600" dirty="0">
                <a:solidFill>
                  <a:schemeClr val="tx1"/>
                </a:solidFill>
                <a:latin typeface="メイリオ" panose="020B0604030504040204" pitchFamily="50" charset="-128"/>
                <a:ea typeface="メイリオ" panose="020B0604030504040204" pitchFamily="50" charset="-128"/>
              </a:rPr>
              <a:t>2) AI</a:t>
            </a:r>
            <a:r>
              <a:rPr lang="ja-JP" altLang="en-US" sz="1600" dirty="0">
                <a:solidFill>
                  <a:schemeClr val="tx1"/>
                </a:solidFill>
                <a:latin typeface="メイリオ" panose="020B0604030504040204" pitchFamily="50" charset="-128"/>
                <a:ea typeface="メイリオ" panose="020B0604030504040204" pitchFamily="50" charset="-128"/>
              </a:rPr>
              <a:t>出力と医師</a:t>
            </a:r>
            <a:r>
              <a:rPr lang="en-US" altLang="ja-JP" sz="1600" dirty="0">
                <a:solidFill>
                  <a:schemeClr val="tx1"/>
                </a:solidFill>
                <a:latin typeface="メイリオ" panose="020B0604030504040204" pitchFamily="50" charset="-128"/>
                <a:ea typeface="メイリオ" panose="020B0604030504040204" pitchFamily="50" charset="-128"/>
              </a:rPr>
              <a:t>A/P</a:t>
            </a:r>
            <a:r>
              <a:rPr lang="ja-JP" altLang="en-US" sz="1600" dirty="0">
                <a:solidFill>
                  <a:schemeClr val="tx1"/>
                </a:solidFill>
                <a:latin typeface="メイリオ" panose="020B0604030504040204" pitchFamily="50" charset="-128"/>
                <a:ea typeface="メイリオ" panose="020B0604030504040204" pitchFamily="50" charset="-128"/>
              </a:rPr>
              <a:t>（</a:t>
            </a:r>
            <a:r>
              <a:rPr lang="en-US" altLang="ja-JP" sz="1600" dirty="0">
                <a:solidFill>
                  <a:schemeClr val="tx1"/>
                </a:solidFill>
                <a:latin typeface="メイリオ" panose="020B0604030504040204" pitchFamily="50" charset="-128"/>
                <a:ea typeface="メイリオ" panose="020B0604030504040204" pitchFamily="50" charset="-128"/>
              </a:rPr>
              <a:t>Assessment/Plan</a:t>
            </a:r>
            <a:r>
              <a:rPr lang="ja-JP" altLang="en-US" sz="1600" dirty="0">
                <a:solidFill>
                  <a:schemeClr val="tx1"/>
                </a:solidFill>
                <a:latin typeface="メイリオ" panose="020B0604030504040204" pitchFamily="50" charset="-128"/>
                <a:ea typeface="メイリオ" panose="020B0604030504040204" pitchFamily="50" charset="-128"/>
              </a:rPr>
              <a:t>）の</a:t>
            </a:r>
            <a:r>
              <a:rPr lang="ja-JP" altLang="en-US" sz="1600" b="1" dirty="0">
                <a:solidFill>
                  <a:srgbClr val="C00000"/>
                </a:solidFill>
                <a:latin typeface="メイリオ" panose="020B0604030504040204" pitchFamily="50" charset="-128"/>
                <a:ea typeface="メイリオ" panose="020B0604030504040204" pitchFamily="50" charset="-128"/>
              </a:rPr>
              <a:t>整合性判定精度が</a:t>
            </a:r>
            <a:r>
              <a:rPr lang="en-US" altLang="ja-JP" sz="1600" b="1" dirty="0">
                <a:solidFill>
                  <a:srgbClr val="C00000"/>
                </a:solidFill>
                <a:latin typeface="メイリオ" panose="020B0604030504040204" pitchFamily="50" charset="-128"/>
                <a:ea typeface="メイリオ" panose="020B0604030504040204" pitchFamily="50" charset="-128"/>
              </a:rPr>
              <a:t>F1</a:t>
            </a:r>
            <a:r>
              <a:rPr lang="ja-JP" altLang="en-US" sz="1600" b="1" dirty="0">
                <a:solidFill>
                  <a:srgbClr val="C00000"/>
                </a:solidFill>
                <a:latin typeface="メイリオ" panose="020B0604030504040204" pitchFamily="50" charset="-128"/>
                <a:ea typeface="メイリオ" panose="020B0604030504040204" pitchFamily="50" charset="-128"/>
              </a:rPr>
              <a:t>スコア</a:t>
            </a:r>
            <a:r>
              <a:rPr lang="en-US" altLang="ja-JP" sz="1600" b="1" dirty="0">
                <a:solidFill>
                  <a:srgbClr val="C00000"/>
                </a:solidFill>
                <a:latin typeface="メイリオ" panose="020B0604030504040204" pitchFamily="50" charset="-128"/>
                <a:ea typeface="メイリオ" panose="020B0604030504040204" pitchFamily="50" charset="-128"/>
              </a:rPr>
              <a:t>0.85</a:t>
            </a:r>
            <a:r>
              <a:rPr lang="ja-JP" altLang="en-US" sz="1600" b="1" dirty="0">
                <a:solidFill>
                  <a:srgbClr val="C00000"/>
                </a:solidFill>
                <a:latin typeface="メイリオ" panose="020B0604030504040204" pitchFamily="50" charset="-128"/>
                <a:ea typeface="メイリオ" panose="020B0604030504040204" pitchFamily="50" charset="-128"/>
              </a:rPr>
              <a:t>以上</a:t>
            </a:r>
            <a:r>
              <a:rPr lang="ja-JP" altLang="en-US" sz="1600" dirty="0">
                <a:solidFill>
                  <a:schemeClr val="tx1"/>
                </a:solidFill>
                <a:latin typeface="メイリオ" panose="020B0604030504040204" pitchFamily="50" charset="-128"/>
                <a:ea typeface="メイリオ" panose="020B0604030504040204" pitchFamily="50" charset="-128"/>
              </a:rPr>
              <a:t>であること</a:t>
            </a:r>
            <a:endParaRPr lang="en-US" altLang="ja-JP" sz="1600" dirty="0">
              <a:solidFill>
                <a:schemeClr val="tx1"/>
              </a:solidFill>
              <a:latin typeface="メイリオ" panose="020B0604030504040204" pitchFamily="50" charset="-128"/>
              <a:ea typeface="メイリオ" panose="020B0604030504040204" pitchFamily="50" charset="-128"/>
            </a:endParaRPr>
          </a:p>
          <a:p>
            <a:pPr lvl="1">
              <a:tabLst>
                <a:tab pos="266700" algn="l"/>
              </a:tabLst>
              <a:defRPr/>
            </a:pPr>
            <a:r>
              <a:rPr lang="en-US" altLang="ja-JP" sz="1600" dirty="0">
                <a:solidFill>
                  <a:schemeClr val="tx1"/>
                </a:solidFill>
                <a:latin typeface="メイリオ" panose="020B0604030504040204" pitchFamily="50" charset="-128"/>
                <a:ea typeface="メイリオ" panose="020B0604030504040204" pitchFamily="50" charset="-128"/>
              </a:rPr>
              <a:t>3) </a:t>
            </a:r>
            <a:r>
              <a:rPr lang="ja-JP" altLang="en-US" sz="1600" dirty="0">
                <a:solidFill>
                  <a:schemeClr val="tx1"/>
                </a:solidFill>
                <a:latin typeface="メイリオ" panose="020B0604030504040204" pitchFamily="50" charset="-128"/>
                <a:ea typeface="メイリオ" panose="020B0604030504040204" pitchFamily="50" charset="-128"/>
              </a:rPr>
              <a:t>出力根拠表示により</a:t>
            </a:r>
            <a:r>
              <a:rPr lang="ja-JP" altLang="en-US" sz="1600" b="1" dirty="0">
                <a:solidFill>
                  <a:srgbClr val="C00000"/>
                </a:solidFill>
                <a:latin typeface="メイリオ" panose="020B0604030504040204" pitchFamily="50" charset="-128"/>
                <a:ea typeface="メイリオ" panose="020B0604030504040204" pitchFamily="50" charset="-128"/>
              </a:rPr>
              <a:t>医師の信頼度・納得度が対照群に比べ</a:t>
            </a:r>
            <a:r>
              <a:rPr lang="en-US" altLang="ja-JP" sz="1600" b="1" dirty="0">
                <a:solidFill>
                  <a:srgbClr val="C00000"/>
                </a:solidFill>
                <a:latin typeface="メイリオ" panose="020B0604030504040204" pitchFamily="50" charset="-128"/>
                <a:ea typeface="メイリオ" panose="020B0604030504040204" pitchFamily="50" charset="-128"/>
              </a:rPr>
              <a:t>10%</a:t>
            </a:r>
            <a:r>
              <a:rPr lang="ja-JP" altLang="en-US" sz="1600" b="1" dirty="0">
                <a:solidFill>
                  <a:srgbClr val="C00000"/>
                </a:solidFill>
                <a:latin typeface="メイリオ" panose="020B0604030504040204" pitchFamily="50" charset="-128"/>
                <a:ea typeface="メイリオ" panose="020B0604030504040204" pitchFamily="50" charset="-128"/>
              </a:rPr>
              <a:t>以上向上</a:t>
            </a:r>
            <a:r>
              <a:rPr lang="ja-JP" altLang="en-US" sz="1600" dirty="0">
                <a:solidFill>
                  <a:schemeClr val="tx1"/>
                </a:solidFill>
                <a:latin typeface="メイリオ" panose="020B0604030504040204" pitchFamily="50" charset="-128"/>
                <a:ea typeface="メイリオ" panose="020B0604030504040204" pitchFamily="50" charset="-128"/>
              </a:rPr>
              <a:t>すること（評価は模擬症例を用いた読影試験で検証）</a:t>
            </a:r>
            <a:endParaRPr kumimoji="1" lang="ja-JP" altLang="en-US" sz="1600" dirty="0">
              <a:solidFill>
                <a:prstClr val="black"/>
              </a:solidFill>
              <a:latin typeface="Trebuchet MS" panose="020B0603020202020204" pitchFamily="34" charset="0"/>
              <a:ea typeface="Meiryo UI" panose="020B0604030504040204" pitchFamily="50" charset="-128"/>
            </a:endParaRPr>
          </a:p>
          <a:p>
            <a:pPr>
              <a:tabLst>
                <a:tab pos="266700" algn="l"/>
              </a:tabLst>
              <a:defRPr/>
            </a:pPr>
            <a:r>
              <a:rPr kumimoji="1" lang="ja-JP" altLang="en-US" sz="1600" b="1" dirty="0">
                <a:solidFill>
                  <a:prstClr val="black"/>
                </a:solidFill>
                <a:latin typeface="Trebuchet MS" panose="020B0603020202020204" pitchFamily="34" charset="0"/>
                <a:ea typeface="Meiryo UI" panose="020B0604030504040204" pitchFamily="50" charset="-128"/>
              </a:rPr>
              <a:t>（</a:t>
            </a:r>
            <a:r>
              <a:rPr kumimoji="1" lang="en-US" altLang="ja-JP" sz="1600" b="1" dirty="0">
                <a:solidFill>
                  <a:prstClr val="black"/>
                </a:solidFill>
                <a:latin typeface="Trebuchet MS" panose="020B0603020202020204" pitchFamily="34" charset="0"/>
                <a:ea typeface="Meiryo UI" panose="020B0604030504040204" pitchFamily="50" charset="-128"/>
              </a:rPr>
              <a:t>2</a:t>
            </a:r>
            <a:r>
              <a:rPr kumimoji="1" lang="ja-JP" altLang="en-US" sz="1600" b="1" dirty="0">
                <a:solidFill>
                  <a:prstClr val="black"/>
                </a:solidFill>
                <a:latin typeface="Trebuchet MS" panose="020B0603020202020204" pitchFamily="34" charset="0"/>
                <a:ea typeface="Meiryo UI" panose="020B0604030504040204" pitchFamily="50" charset="-128"/>
              </a:rPr>
              <a:t>）</a:t>
            </a:r>
            <a:r>
              <a:rPr lang="ja-JP" altLang="en-US"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個人情報流出（クラウド</a:t>
            </a:r>
            <a:r>
              <a:rPr lang="en-US" altLang="ja-JP"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LLM</a:t>
            </a:r>
            <a:r>
              <a:rPr lang="ja-JP" altLang="en-US"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送信による漏洩リスク）</a:t>
            </a:r>
            <a:endParaRPr kumimoji="1" lang="ja-JP" altLang="en-US" sz="1600" b="1" dirty="0">
              <a:solidFill>
                <a:schemeClr val="tx1"/>
              </a:solidFill>
              <a:latin typeface="Trebuchet MS" panose="020B0603020202020204" pitchFamily="34" charset="0"/>
              <a:ea typeface="Meiryo UI" panose="020B0604030504040204" pitchFamily="50" charset="-128"/>
            </a:endParaRPr>
          </a:p>
          <a:p>
            <a:pPr lvl="0">
              <a:tabLst>
                <a:tab pos="266700" algn="l"/>
              </a:tabLst>
              <a:defRPr/>
            </a:pPr>
            <a:r>
              <a:rPr lang="ja-JP" altLang="en-US" sz="1600" dirty="0">
                <a:solidFill>
                  <a:schemeClr val="tx1"/>
                </a:solidFill>
                <a:latin typeface="メイリオ" panose="020B0604030504040204" pitchFamily="50" charset="-128"/>
                <a:ea typeface="メイリオ" panose="020B0604030504040204" pitchFamily="50" charset="-128"/>
              </a:rPr>
              <a:t>本システムでは、電子カルテシステム及び</a:t>
            </a:r>
            <a:r>
              <a:rPr lang="en-US" altLang="ja-JP" sz="1600" dirty="0">
                <a:solidFill>
                  <a:schemeClr val="tx1"/>
                </a:solidFill>
                <a:latin typeface="メイリオ" panose="020B0604030504040204" pitchFamily="50" charset="-128"/>
                <a:ea typeface="メイリオ" panose="020B0604030504040204" pitchFamily="50" charset="-128"/>
              </a:rPr>
              <a:t>LLM</a:t>
            </a:r>
            <a:r>
              <a:rPr lang="ja-JP" altLang="en-US" sz="1600" dirty="0">
                <a:solidFill>
                  <a:schemeClr val="tx1"/>
                </a:solidFill>
                <a:latin typeface="メイリオ" panose="020B0604030504040204" pitchFamily="50" charset="-128"/>
                <a:ea typeface="メイリオ" panose="020B0604030504040204" pitchFamily="50" charset="-128"/>
              </a:rPr>
              <a:t>の推論パイプライン全体を病院内に設置可能な</a:t>
            </a:r>
            <a:r>
              <a:rPr lang="ja-JP" altLang="en-US" sz="1600" b="1" dirty="0">
                <a:solidFill>
                  <a:srgbClr val="C00000"/>
                </a:solidFill>
                <a:latin typeface="メイリオ" panose="020B0604030504040204" pitchFamily="50" charset="-128"/>
                <a:ea typeface="メイリオ" panose="020B0604030504040204" pitchFamily="50" charset="-128"/>
              </a:rPr>
              <a:t>オンプレミスのサーバー上に実装</a:t>
            </a:r>
            <a:r>
              <a:rPr lang="ja-JP" altLang="en-US" sz="1600" dirty="0">
                <a:solidFill>
                  <a:schemeClr val="tx1"/>
                </a:solidFill>
                <a:latin typeface="メイリオ" panose="020B0604030504040204" pitchFamily="50" charset="-128"/>
                <a:ea typeface="メイリオ" panose="020B0604030504040204" pitchFamily="50" charset="-128"/>
              </a:rPr>
              <a:t>することにより、個人情報流出へのセキュリティ対策とする。市販品として一般的に入手可能な</a:t>
            </a:r>
            <a:r>
              <a:rPr lang="en-US" altLang="ja-JP" sz="1600" dirty="0">
                <a:solidFill>
                  <a:schemeClr val="tx1"/>
                </a:solidFill>
                <a:latin typeface="メイリオ" panose="020B0604030504040204" pitchFamily="50" charset="-128"/>
                <a:ea typeface="メイリオ" panose="020B0604030504040204" pitchFamily="50" charset="-128"/>
              </a:rPr>
              <a:t>RTX5090</a:t>
            </a:r>
            <a:r>
              <a:rPr lang="ja-JP" altLang="en-US" sz="1600" dirty="0">
                <a:solidFill>
                  <a:schemeClr val="tx1"/>
                </a:solidFill>
                <a:latin typeface="メイリオ" panose="020B0604030504040204" pitchFamily="50" charset="-128"/>
                <a:ea typeface="メイリオ" panose="020B0604030504040204" pitchFamily="50" charset="-128"/>
              </a:rPr>
              <a:t>搭載マシン上で</a:t>
            </a:r>
            <a:r>
              <a:rPr lang="en-US" altLang="ja-JP" sz="1600" dirty="0">
                <a:solidFill>
                  <a:schemeClr val="tx1"/>
                </a:solidFill>
                <a:latin typeface="メイリオ" panose="020B0604030504040204" pitchFamily="50" charset="-128"/>
                <a:ea typeface="メイリオ" panose="020B0604030504040204" pitchFamily="50" charset="-128"/>
              </a:rPr>
              <a:t>1</a:t>
            </a:r>
            <a:r>
              <a:rPr lang="ja-JP" altLang="en-US" sz="1600" dirty="0">
                <a:solidFill>
                  <a:schemeClr val="tx1"/>
                </a:solidFill>
                <a:latin typeface="メイリオ" panose="020B0604030504040204" pitchFamily="50" charset="-128"/>
                <a:ea typeface="メイリオ" panose="020B0604030504040204" pitchFamily="50" charset="-128"/>
              </a:rPr>
              <a:t>診断あたり迅速な返答を実現する。</a:t>
            </a:r>
            <a:endParaRPr lang="en-US" altLang="ja-JP" sz="1600" dirty="0">
              <a:solidFill>
                <a:schemeClr val="tx1"/>
              </a:solidFill>
              <a:latin typeface="メイリオ" panose="020B0604030504040204" pitchFamily="50" charset="-128"/>
              <a:ea typeface="メイリオ" panose="020B0604030504040204" pitchFamily="50" charset="-128"/>
            </a:endParaRPr>
          </a:p>
          <a:p>
            <a:pPr lvl="0">
              <a:tabLst>
                <a:tab pos="266700" algn="l"/>
              </a:tabLst>
              <a:defRPr/>
            </a:pPr>
            <a:r>
              <a:rPr kumimoji="1" lang="ja-JP" altLang="en-US" sz="1600" b="1" dirty="0">
                <a:solidFill>
                  <a:prstClr val="black"/>
                </a:solidFill>
                <a:latin typeface="Trebuchet MS" panose="020B0603020202020204" pitchFamily="34" charset="0"/>
                <a:ea typeface="Meiryo UI" panose="020B0604030504040204" pitchFamily="50" charset="-128"/>
              </a:rPr>
              <a:t>（</a:t>
            </a:r>
            <a:r>
              <a:rPr kumimoji="1" lang="en-US" altLang="ja-JP" sz="1600" b="1" dirty="0">
                <a:solidFill>
                  <a:prstClr val="black"/>
                </a:solidFill>
                <a:latin typeface="Trebuchet MS" panose="020B0603020202020204" pitchFamily="34" charset="0"/>
                <a:ea typeface="Meiryo UI" panose="020B0604030504040204" pitchFamily="50" charset="-128"/>
              </a:rPr>
              <a:t>3</a:t>
            </a:r>
            <a:r>
              <a:rPr kumimoji="1" lang="ja-JP" altLang="en-US" sz="1600" b="1" dirty="0">
                <a:solidFill>
                  <a:prstClr val="black"/>
                </a:solidFill>
                <a:latin typeface="Trebuchet MS" panose="020B0603020202020204" pitchFamily="34" charset="0"/>
                <a:ea typeface="Meiryo UI" panose="020B0604030504040204" pitchFamily="50" charset="-128"/>
              </a:rPr>
              <a:t>）</a:t>
            </a:r>
            <a:r>
              <a:rPr lang="ja-JP" altLang="en-US"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医師</a:t>
            </a:r>
            <a:r>
              <a:rPr lang="en-US" altLang="ja-JP"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a:t>
            </a:r>
            <a:r>
              <a:rPr lang="ja-JP" altLang="en-US"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患者関係の変容</a:t>
            </a:r>
            <a:endParaRPr kumimoji="1" lang="ja-JP" altLang="en-US" sz="1600" b="1" dirty="0">
              <a:solidFill>
                <a:prstClr val="black"/>
              </a:solidFill>
              <a:latin typeface="Trebuchet MS" panose="020B0603020202020204" pitchFamily="34" charset="0"/>
              <a:ea typeface="Meiryo UI" panose="020B0604030504040204" pitchFamily="50" charset="-128"/>
            </a:endParaRPr>
          </a:p>
          <a:p>
            <a:pPr lvl="0">
              <a:tabLst>
                <a:tab pos="266700" algn="l"/>
              </a:tabLst>
              <a:defRPr/>
            </a:pPr>
            <a:r>
              <a:rPr lang="ja-JP" altLang="en-US" sz="1600" dirty="0">
                <a:solidFill>
                  <a:schemeClr val="tx1"/>
                </a:solidFill>
                <a:latin typeface="メイリオ" panose="020B0604030504040204" pitchFamily="50" charset="-128"/>
                <a:ea typeface="メイリオ" panose="020B0604030504040204" pitchFamily="50" charset="-128"/>
              </a:rPr>
              <a:t>医師</a:t>
            </a:r>
            <a:r>
              <a:rPr lang="en-US" altLang="ja-JP" sz="1600" dirty="0">
                <a:solidFill>
                  <a:schemeClr val="tx1"/>
                </a:solidFill>
                <a:latin typeface="メイリオ" panose="020B0604030504040204" pitchFamily="50" charset="-128"/>
                <a:ea typeface="メイリオ" panose="020B0604030504040204" pitchFamily="50" charset="-128"/>
              </a:rPr>
              <a:t>–</a:t>
            </a:r>
            <a:r>
              <a:rPr lang="ja-JP" altLang="en-US" sz="1600" dirty="0">
                <a:solidFill>
                  <a:schemeClr val="tx1"/>
                </a:solidFill>
                <a:latin typeface="メイリオ" panose="020B0604030504040204" pitchFamily="50" charset="-128"/>
                <a:ea typeface="メイリオ" panose="020B0604030504040204" pitchFamily="50" charset="-128"/>
              </a:rPr>
              <a:t>患者関係の曖昧化を防ぐ</a:t>
            </a:r>
            <a:r>
              <a:rPr lang="en-US" altLang="ja-JP" sz="1600" dirty="0">
                <a:solidFill>
                  <a:schemeClr val="tx1"/>
                </a:solidFill>
                <a:latin typeface="メイリオ" panose="020B0604030504040204" pitchFamily="50" charset="-128"/>
                <a:ea typeface="メイリオ" panose="020B0604030504040204" pitchFamily="50" charset="-128"/>
              </a:rPr>
              <a:t>UX</a:t>
            </a:r>
            <a:r>
              <a:rPr lang="ja-JP" altLang="en-US" sz="1600" dirty="0">
                <a:solidFill>
                  <a:schemeClr val="tx1"/>
                </a:solidFill>
                <a:latin typeface="メイリオ" panose="020B0604030504040204" pitchFamily="50" charset="-128"/>
                <a:ea typeface="メイリオ" panose="020B0604030504040204" pitchFamily="50" charset="-128"/>
              </a:rPr>
              <a:t>を実現するため、本対策技術は以下を目標とする</a:t>
            </a:r>
            <a:endParaRPr lang="en-US" altLang="ja-JP" sz="1600" dirty="0">
              <a:solidFill>
                <a:schemeClr val="tx1"/>
              </a:solidFill>
              <a:latin typeface="メイリオ" panose="020B0604030504040204" pitchFamily="50" charset="-128"/>
              <a:ea typeface="メイリオ" panose="020B0604030504040204" pitchFamily="50" charset="-128"/>
            </a:endParaRPr>
          </a:p>
          <a:p>
            <a:pPr marL="800100" lvl="1" indent="-342900">
              <a:buAutoNum type="arabicParenR"/>
              <a:tabLst>
                <a:tab pos="266700" algn="l"/>
              </a:tabLst>
              <a:defRPr/>
            </a:pPr>
            <a:r>
              <a:rPr lang="en-US" altLang="ja-JP" sz="1600" dirty="0">
                <a:solidFill>
                  <a:schemeClr val="tx1"/>
                </a:solidFill>
                <a:latin typeface="メイリオ" panose="020B0604030504040204" pitchFamily="50" charset="-128"/>
                <a:ea typeface="メイリオ" panose="020B0604030504040204" pitchFamily="50" charset="-128"/>
              </a:rPr>
              <a:t>AI</a:t>
            </a:r>
            <a:r>
              <a:rPr lang="ja-JP" altLang="en-US" sz="1600" dirty="0">
                <a:solidFill>
                  <a:schemeClr val="tx1"/>
                </a:solidFill>
                <a:latin typeface="メイリオ" panose="020B0604030504040204" pitchFamily="50" charset="-128"/>
                <a:ea typeface="メイリオ" panose="020B0604030504040204" pitchFamily="50" charset="-128"/>
              </a:rPr>
              <a:t>出力に「医師確認済」ラベルを付与する機能の</a:t>
            </a:r>
            <a:r>
              <a:rPr lang="ja-JP" altLang="en-US" sz="1600" b="1" dirty="0">
                <a:solidFill>
                  <a:srgbClr val="C00000"/>
                </a:solidFill>
                <a:latin typeface="メイリオ" panose="020B0604030504040204" pitchFamily="50" charset="-128"/>
                <a:ea typeface="メイリオ" panose="020B0604030504040204" pitchFamily="50" charset="-128"/>
              </a:rPr>
              <a:t>実装および反映率</a:t>
            </a:r>
            <a:r>
              <a:rPr lang="en-US" altLang="ja-JP" sz="1600" b="1" dirty="0">
                <a:solidFill>
                  <a:srgbClr val="C00000"/>
                </a:solidFill>
                <a:latin typeface="メイリオ" panose="020B0604030504040204" pitchFamily="50" charset="-128"/>
                <a:ea typeface="メイリオ" panose="020B0604030504040204" pitchFamily="50" charset="-128"/>
              </a:rPr>
              <a:t>100%</a:t>
            </a:r>
          </a:p>
          <a:p>
            <a:pPr marL="800100" lvl="1" indent="-342900">
              <a:buAutoNum type="arabicParenR"/>
              <a:tabLst>
                <a:tab pos="266700" algn="l"/>
              </a:tabLst>
              <a:defRPr/>
            </a:pPr>
            <a:r>
              <a:rPr lang="en-US" altLang="ja-JP" sz="1600" dirty="0">
                <a:solidFill>
                  <a:schemeClr val="tx1"/>
                </a:solidFill>
                <a:latin typeface="メイリオ" panose="020B0604030504040204" pitchFamily="50" charset="-128"/>
                <a:ea typeface="メイリオ" panose="020B0604030504040204" pitchFamily="50" charset="-128"/>
              </a:rPr>
              <a:t> </a:t>
            </a:r>
            <a:r>
              <a:rPr lang="ja-JP" altLang="en-US" sz="1600" dirty="0">
                <a:solidFill>
                  <a:schemeClr val="tx1"/>
                </a:solidFill>
                <a:latin typeface="メイリオ" panose="020B0604030504040204" pitchFamily="50" charset="-128"/>
                <a:ea typeface="メイリオ" panose="020B0604030504040204" pitchFamily="50" charset="-128"/>
              </a:rPr>
              <a:t>医師判断と</a:t>
            </a:r>
            <a:r>
              <a:rPr lang="en-US" altLang="ja-JP" sz="1600" dirty="0">
                <a:solidFill>
                  <a:schemeClr val="tx1"/>
                </a:solidFill>
                <a:latin typeface="メイリオ" panose="020B0604030504040204" pitchFamily="50" charset="-128"/>
                <a:ea typeface="メイリオ" panose="020B0604030504040204" pitchFamily="50" charset="-128"/>
              </a:rPr>
              <a:t>AI</a:t>
            </a:r>
            <a:r>
              <a:rPr lang="ja-JP" altLang="en-US" sz="1600" dirty="0">
                <a:solidFill>
                  <a:schemeClr val="tx1"/>
                </a:solidFill>
                <a:latin typeface="メイリオ" panose="020B0604030504040204" pitchFamily="50" charset="-128"/>
                <a:ea typeface="メイリオ" panose="020B0604030504040204" pitchFamily="50" charset="-128"/>
              </a:rPr>
              <a:t>出力を</a:t>
            </a:r>
            <a:r>
              <a:rPr lang="en-US" altLang="ja-JP" sz="1600" dirty="0">
                <a:solidFill>
                  <a:schemeClr val="tx1"/>
                </a:solidFill>
                <a:latin typeface="メイリオ" panose="020B0604030504040204" pitchFamily="50" charset="-128"/>
                <a:ea typeface="メイリオ" panose="020B0604030504040204" pitchFamily="50" charset="-128"/>
              </a:rPr>
              <a:t>UI</a:t>
            </a:r>
            <a:r>
              <a:rPr lang="ja-JP" altLang="en-US" sz="1600" dirty="0">
                <a:solidFill>
                  <a:schemeClr val="tx1"/>
                </a:solidFill>
                <a:latin typeface="メイリオ" panose="020B0604030504040204" pitchFamily="50" charset="-128"/>
                <a:ea typeface="メイリオ" panose="020B0604030504040204" pitchFamily="50" charset="-128"/>
              </a:rPr>
              <a:t>上で明確に分離表示できるインタフェース設計</a:t>
            </a:r>
            <a:endParaRPr lang="en-US" altLang="ja-JP" sz="1600" dirty="0">
              <a:solidFill>
                <a:schemeClr val="tx1"/>
              </a:solidFill>
              <a:latin typeface="メイリオ" panose="020B0604030504040204" pitchFamily="50" charset="-128"/>
              <a:ea typeface="メイリオ" panose="020B0604030504040204" pitchFamily="50" charset="-128"/>
            </a:endParaRPr>
          </a:p>
          <a:p>
            <a:pPr marL="800100" lvl="1" indent="-342900">
              <a:buAutoNum type="arabicParenR"/>
              <a:tabLst>
                <a:tab pos="266700" algn="l"/>
              </a:tabLst>
              <a:defRPr/>
            </a:pPr>
            <a:r>
              <a:rPr lang="en-US" altLang="ja-JP" sz="1600" dirty="0">
                <a:solidFill>
                  <a:schemeClr val="tx1"/>
                </a:solidFill>
                <a:latin typeface="メイリオ" panose="020B0604030504040204" pitchFamily="50" charset="-128"/>
                <a:ea typeface="メイリオ" panose="020B0604030504040204" pitchFamily="50" charset="-128"/>
              </a:rPr>
              <a:t> </a:t>
            </a:r>
            <a:r>
              <a:rPr lang="ja-JP" altLang="en-US" sz="1600" dirty="0">
                <a:solidFill>
                  <a:schemeClr val="tx1"/>
                </a:solidFill>
                <a:latin typeface="メイリオ" panose="020B0604030504040204" pitchFamily="50" charset="-128"/>
                <a:ea typeface="メイリオ" panose="020B0604030504040204" pitchFamily="50" charset="-128"/>
              </a:rPr>
              <a:t>患者説明モジュール導入により、診察後の説明納得度スコア（</a:t>
            </a:r>
            <a:r>
              <a:rPr lang="en-US" altLang="ja-JP" sz="1600" dirty="0">
                <a:solidFill>
                  <a:schemeClr val="tx1"/>
                </a:solidFill>
                <a:latin typeface="メイリオ" panose="020B0604030504040204" pitchFamily="50" charset="-128"/>
                <a:ea typeface="メイリオ" panose="020B0604030504040204" pitchFamily="50" charset="-128"/>
              </a:rPr>
              <a:t>5</a:t>
            </a:r>
            <a:r>
              <a:rPr lang="ja-JP" altLang="en-US" sz="1600" dirty="0">
                <a:solidFill>
                  <a:schemeClr val="tx1"/>
                </a:solidFill>
                <a:latin typeface="メイリオ" panose="020B0604030504040204" pitchFamily="50" charset="-128"/>
                <a:ea typeface="メイリオ" panose="020B0604030504040204" pitchFamily="50" charset="-128"/>
              </a:rPr>
              <a:t>段階評価）が</a:t>
            </a:r>
            <a:r>
              <a:rPr lang="ja-JP" altLang="en-US" sz="1600" b="1" dirty="0">
                <a:solidFill>
                  <a:srgbClr val="C00000"/>
                </a:solidFill>
                <a:latin typeface="メイリオ" panose="020B0604030504040204" pitchFamily="50" charset="-128"/>
                <a:ea typeface="メイリオ" panose="020B0604030504040204" pitchFamily="50" charset="-128"/>
              </a:rPr>
              <a:t>対照群より平均</a:t>
            </a:r>
            <a:r>
              <a:rPr lang="en-US" altLang="ja-JP" sz="1600" b="1" dirty="0">
                <a:solidFill>
                  <a:srgbClr val="C00000"/>
                </a:solidFill>
                <a:latin typeface="メイリオ" panose="020B0604030504040204" pitchFamily="50" charset="-128"/>
                <a:ea typeface="メイリオ" panose="020B0604030504040204" pitchFamily="50" charset="-128"/>
              </a:rPr>
              <a:t>1.0</a:t>
            </a:r>
            <a:r>
              <a:rPr lang="ja-JP" altLang="en-US" sz="1600" b="1" dirty="0">
                <a:solidFill>
                  <a:srgbClr val="C00000"/>
                </a:solidFill>
                <a:latin typeface="メイリオ" panose="020B0604030504040204" pitchFamily="50" charset="-128"/>
                <a:ea typeface="メイリオ" panose="020B0604030504040204" pitchFamily="50" charset="-128"/>
              </a:rPr>
              <a:t>点以上向上</a:t>
            </a:r>
            <a:r>
              <a:rPr lang="ja-JP" altLang="en-US" sz="1600" dirty="0">
                <a:solidFill>
                  <a:schemeClr val="tx1"/>
                </a:solidFill>
                <a:latin typeface="メイリオ" panose="020B0604030504040204" pitchFamily="50" charset="-128"/>
                <a:ea typeface="メイリオ" panose="020B0604030504040204" pitchFamily="50" charset="-128"/>
              </a:rPr>
              <a:t>する。</a:t>
            </a:r>
            <a:endParaRPr kumimoji="1" lang="ja-JP" altLang="en-US" sz="1600" dirty="0">
              <a:solidFill>
                <a:prstClr val="black"/>
              </a:solidFill>
              <a:latin typeface="Trebuchet MS" panose="020B0603020202020204" pitchFamily="34" charset="0"/>
              <a:ea typeface="Meiryo UI" panose="020B0604030504040204" pitchFamily="50" charset="-128"/>
            </a:endParaRPr>
          </a:p>
          <a:p>
            <a:pPr lvl="0">
              <a:tabLst>
                <a:tab pos="266700" algn="l"/>
              </a:tabLst>
              <a:defRPr/>
            </a:pPr>
            <a:r>
              <a:rPr kumimoji="1" lang="ja-JP" altLang="en-US" sz="1600" dirty="0">
                <a:solidFill>
                  <a:prstClr val="black"/>
                </a:solidFill>
                <a:latin typeface="Trebuchet MS" panose="020B0603020202020204" pitchFamily="34" charset="0"/>
                <a:ea typeface="Meiryo UI" panose="020B0604030504040204" pitchFamily="50" charset="-128"/>
              </a:rPr>
              <a:t>これら</a:t>
            </a:r>
            <a:r>
              <a:rPr kumimoji="1" lang="en-US" altLang="ja-JP" sz="1600" dirty="0">
                <a:solidFill>
                  <a:prstClr val="black"/>
                </a:solidFill>
                <a:latin typeface="Trebuchet MS" panose="020B0603020202020204" pitchFamily="34" charset="0"/>
                <a:ea typeface="Meiryo UI" panose="020B0604030504040204" pitchFamily="50" charset="-128"/>
              </a:rPr>
              <a:t>3</a:t>
            </a:r>
            <a:r>
              <a:rPr kumimoji="1" lang="ja-JP" altLang="en-US" sz="1600" dirty="0">
                <a:solidFill>
                  <a:prstClr val="black"/>
                </a:solidFill>
                <a:latin typeface="Trebuchet MS" panose="020B0603020202020204" pitchFamily="34" charset="0"/>
                <a:ea typeface="Meiryo UI" panose="020B0604030504040204" pitchFamily="50" charset="-128"/>
              </a:rPr>
              <a:t>要素により、</a:t>
            </a:r>
            <a:r>
              <a:rPr kumimoji="1" lang="ja-JP" altLang="en-US" sz="1600" b="1" dirty="0">
                <a:solidFill>
                  <a:srgbClr val="C00000"/>
                </a:solidFill>
                <a:latin typeface="Trebuchet MS" panose="020B0603020202020204" pitchFamily="34" charset="0"/>
                <a:ea typeface="Meiryo UI" panose="020B0604030504040204" pitchFamily="50" charset="-128"/>
              </a:rPr>
              <a:t>現場導入可能な</a:t>
            </a:r>
            <a:r>
              <a:rPr kumimoji="1" lang="en-US" altLang="ja-JP" sz="1600" b="1" dirty="0">
                <a:solidFill>
                  <a:srgbClr val="C00000"/>
                </a:solidFill>
                <a:latin typeface="Trebuchet MS" panose="020B0603020202020204" pitchFamily="34" charset="0"/>
                <a:ea typeface="Meiryo UI" panose="020B0604030504040204" pitchFamily="50" charset="-128"/>
              </a:rPr>
              <a:t>AI</a:t>
            </a:r>
            <a:r>
              <a:rPr kumimoji="1" lang="ja-JP" altLang="en-US" sz="1600" b="1" dirty="0">
                <a:solidFill>
                  <a:srgbClr val="C00000"/>
                </a:solidFill>
                <a:latin typeface="Trebuchet MS" panose="020B0603020202020204" pitchFamily="34" charset="0"/>
                <a:ea typeface="Meiryo UI" panose="020B0604030504040204" pitchFamily="50" charset="-128"/>
              </a:rPr>
              <a:t>診療支援環境を</a:t>
            </a:r>
            <a:r>
              <a:rPr kumimoji="1" lang="en-US" altLang="ja-JP" sz="1600" b="1" dirty="0">
                <a:solidFill>
                  <a:srgbClr val="C00000"/>
                </a:solidFill>
                <a:latin typeface="Trebuchet MS" panose="020B0603020202020204" pitchFamily="34" charset="0"/>
                <a:ea typeface="Meiryo UI" panose="020B0604030504040204" pitchFamily="50" charset="-128"/>
              </a:rPr>
              <a:t>2025</a:t>
            </a:r>
            <a:r>
              <a:rPr kumimoji="1" lang="ja-JP" altLang="en-US" sz="1600" b="1" dirty="0">
                <a:solidFill>
                  <a:srgbClr val="C00000"/>
                </a:solidFill>
                <a:latin typeface="Trebuchet MS" panose="020B0603020202020204" pitchFamily="34" charset="0"/>
                <a:ea typeface="Meiryo UI" panose="020B0604030504040204" pitchFamily="50" charset="-128"/>
              </a:rPr>
              <a:t>年度内に試作・検証</a:t>
            </a:r>
            <a:r>
              <a:rPr kumimoji="1" lang="ja-JP" altLang="en-US" sz="1600" dirty="0">
                <a:solidFill>
                  <a:prstClr val="black"/>
                </a:solidFill>
                <a:latin typeface="Trebuchet MS" panose="020B0603020202020204" pitchFamily="34" charset="0"/>
                <a:ea typeface="Meiryo UI" panose="020B0604030504040204" pitchFamily="50" charset="-128"/>
              </a:rPr>
              <a:t>し、</a:t>
            </a:r>
            <a:r>
              <a:rPr kumimoji="1" lang="en-US" altLang="ja-JP" sz="1600" dirty="0">
                <a:solidFill>
                  <a:prstClr val="black"/>
                </a:solidFill>
                <a:latin typeface="Trebuchet MS" panose="020B0603020202020204" pitchFamily="34" charset="0"/>
                <a:ea typeface="Meiryo UI" panose="020B0604030504040204" pitchFamily="50" charset="-128"/>
              </a:rPr>
              <a:t>2026</a:t>
            </a:r>
            <a:r>
              <a:rPr kumimoji="1" lang="ja-JP" altLang="en-US" sz="1600" dirty="0">
                <a:solidFill>
                  <a:prstClr val="black"/>
                </a:solidFill>
                <a:latin typeface="Trebuchet MS" panose="020B0603020202020204" pitchFamily="34" charset="0"/>
                <a:ea typeface="Meiryo UI" panose="020B0604030504040204" pitchFamily="50" charset="-128"/>
              </a:rPr>
              <a:t>年度以降の社会実装に向けた基盤を構築することを目指す。</a:t>
            </a:r>
            <a:endParaRPr kumimoji="1" lang="en-US" altLang="ja-JP" sz="1600" b="0" i="0" u="none" strike="noStrike" kern="1200" cap="none" spc="0" normalizeH="0" baseline="0" noProof="0" dirty="0">
              <a:ln>
                <a:noFill/>
              </a:ln>
              <a:solidFill>
                <a:prstClr val="black"/>
              </a:solidFill>
              <a:effectLst/>
              <a:uLnTx/>
              <a:uFillTx/>
              <a:latin typeface="Trebuchet MS" panose="020B0603020202020204" pitchFamily="34" charset="0"/>
              <a:ea typeface="Meiryo UI" panose="020B0604030504040204" pitchFamily="50" charset="-128"/>
              <a:cs typeface="+mn-cs"/>
            </a:endParaRPr>
          </a:p>
        </p:txBody>
      </p:sp>
    </p:spTree>
    <p:extLst>
      <p:ext uri="{BB962C8B-B14F-4D97-AF65-F5344CB8AC3E}">
        <p14:creationId xmlns:p14="http://schemas.microsoft.com/office/powerpoint/2010/main" val="17381912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2ED69-44A8-DC78-1D02-6D9B69E92BAC}"/>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EF225D4-DE28-E82D-C72B-8E61F01A972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04" imgH="405" progId="TCLayout.ActiveDocument.1">
                  <p:embed/>
                </p:oleObj>
              </mc:Choice>
              <mc:Fallback>
                <p:oleObj name="think-cellスライド" r:id="rId3" imgW="404" imgH="405" progId="TCLayout.ActiveDocument.1">
                  <p:embed/>
                  <p:pic>
                    <p:nvPicPr>
                      <p:cNvPr id="3" name="think-cell data - do not delete" hidden="1">
                        <a:extLst>
                          <a:ext uri="{FF2B5EF4-FFF2-40B4-BE49-F238E27FC236}">
                            <a16:creationId xmlns:a16="http://schemas.microsoft.com/office/drawing/2014/main" id="{CEF225D4-DE28-E82D-C72B-8E61F01A972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4F3DCCD4-9485-A0B0-E64F-1D73C6DC8A6C}"/>
              </a:ext>
            </a:extLst>
          </p:cNvPr>
          <p:cNvSpPr>
            <a:spLocks noGrp="1"/>
          </p:cNvSpPr>
          <p:nvPr>
            <p:ph type="title"/>
          </p:nvPr>
        </p:nvSpPr>
        <p:spPr>
          <a:xfrm>
            <a:off x="838200" y="28778"/>
            <a:ext cx="10515600" cy="725078"/>
          </a:xfrm>
        </p:spPr>
        <p:txBody>
          <a:bodyPr vert="horz"/>
          <a:lstStyle/>
          <a:p>
            <a:r>
              <a:rPr kumimoji="1" lang="ja-JP" altLang="en-US" dirty="0">
                <a:latin typeface="Trebuchet MS" panose="020B0603020202020204" pitchFamily="34" charset="0"/>
                <a:ea typeface="Meiryo UI" panose="020B0604030504040204" pitchFamily="50" charset="-128"/>
              </a:rPr>
              <a:t>対策技術について </a:t>
            </a:r>
            <a:r>
              <a:rPr kumimoji="1" lang="en-US" altLang="ja-JP" dirty="0">
                <a:latin typeface="Trebuchet MS" panose="020B0603020202020204" pitchFamily="34" charset="0"/>
                <a:ea typeface="Meiryo UI" panose="020B0604030504040204" pitchFamily="50" charset="-128"/>
              </a:rPr>
              <a:t>(4/5)</a:t>
            </a:r>
            <a:endParaRPr kumimoji="1" lang="en-US" dirty="0">
              <a:latin typeface="Trebuchet MS" panose="020B0603020202020204" pitchFamily="34" charset="0"/>
              <a:ea typeface="Meiryo UI" panose="020B0604030504040204" pitchFamily="50" charset="-128"/>
            </a:endParaRPr>
          </a:p>
        </p:txBody>
      </p:sp>
      <p:grpSp>
        <p:nvGrpSpPr>
          <p:cNvPr id="16" name="グループ化 15">
            <a:extLst>
              <a:ext uri="{FF2B5EF4-FFF2-40B4-BE49-F238E27FC236}">
                <a16:creationId xmlns:a16="http://schemas.microsoft.com/office/drawing/2014/main" id="{AC9E9212-B4E4-80CF-CCCC-32F5142FA532}"/>
              </a:ext>
            </a:extLst>
          </p:cNvPr>
          <p:cNvGrpSpPr/>
          <p:nvPr/>
        </p:nvGrpSpPr>
        <p:grpSpPr>
          <a:xfrm>
            <a:off x="838200" y="714787"/>
            <a:ext cx="10626041" cy="336349"/>
            <a:chOff x="653442" y="1983554"/>
            <a:chExt cx="3469984" cy="336349"/>
          </a:xfrm>
        </p:grpSpPr>
        <p:sp>
          <p:nvSpPr>
            <p:cNvPr id="18" name="ee4pHeader2">
              <a:extLst>
                <a:ext uri="{FF2B5EF4-FFF2-40B4-BE49-F238E27FC236}">
                  <a16:creationId xmlns:a16="http://schemas.microsoft.com/office/drawing/2014/main" id="{8A6FBCA8-3C38-CA44-DC82-B17B437775B0}"/>
                </a:ext>
              </a:extLst>
            </p:cNvPr>
            <p:cNvSpPr txBox="1"/>
            <p:nvPr/>
          </p:nvSpPr>
          <p:spPr>
            <a:xfrm>
              <a:off x="653442" y="1983554"/>
              <a:ext cx="3151498" cy="307777"/>
            </a:xfrm>
            <a:prstGeom prst="rect">
              <a:avLst/>
            </a:prstGeom>
          </p:spPr>
          <p:txBody>
            <a:bodyPr vert="horz" wrap="square" lIns="0" tIns="0" rIns="0" bIns="0" rtlCol="0" anchor="b"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2000" b="0" i="0" u="none" strike="noStrike" kern="1200" cap="none" spc="0" normalizeH="0" baseline="0" noProof="0" dirty="0">
                  <a:ln>
                    <a:noFill/>
                  </a:ln>
                  <a:effectLst/>
                  <a:uLnTx/>
                  <a:uFillTx/>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対策技術の評価方法</a:t>
              </a:r>
              <a:endParaRPr kumimoji="0" lang="en-US" altLang="ja-JP" sz="2000" b="0" i="0" u="none" strike="noStrike" kern="1200" cap="none" spc="0" normalizeH="0" baseline="0" noProof="0" dirty="0">
                <a:ln>
                  <a:noFill/>
                </a:ln>
                <a:effectLst/>
                <a:uLnTx/>
                <a:uFillTx/>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endParaRPr>
            </a:p>
          </p:txBody>
        </p:sp>
        <p:cxnSp>
          <p:nvCxnSpPr>
            <p:cNvPr id="19" name="Straight Connector 34">
              <a:extLst>
                <a:ext uri="{FF2B5EF4-FFF2-40B4-BE49-F238E27FC236}">
                  <a16:creationId xmlns:a16="http://schemas.microsoft.com/office/drawing/2014/main" id="{3EFA5D16-9817-19C1-5EDA-1AB2463C7D8E}"/>
                </a:ext>
              </a:extLst>
            </p:cNvPr>
            <p:cNvCxnSpPr>
              <a:cxnSpLocks/>
            </p:cNvCxnSpPr>
            <p:nvPr/>
          </p:nvCxnSpPr>
          <p:spPr>
            <a:xfrm>
              <a:off x="653442" y="2319903"/>
              <a:ext cx="3469984" cy="0"/>
            </a:xfrm>
            <a:prstGeom prst="line">
              <a:avLst/>
            </a:prstGeom>
            <a:ln w="9525" cap="flat"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7" name="正方形/長方形 16">
            <a:extLst>
              <a:ext uri="{FF2B5EF4-FFF2-40B4-BE49-F238E27FC236}">
                <a16:creationId xmlns:a16="http://schemas.microsoft.com/office/drawing/2014/main" id="{76572BC7-89F5-0B8F-8E39-5C6C773B1AD2}"/>
              </a:ext>
            </a:extLst>
          </p:cNvPr>
          <p:cNvSpPr/>
          <p:nvPr/>
        </p:nvSpPr>
        <p:spPr>
          <a:xfrm>
            <a:off x="2294906" y="1098650"/>
            <a:ext cx="9794718" cy="5275516"/>
          </a:xfrm>
          <a:prstGeom prst="rect">
            <a:avLst/>
          </a:prstGeom>
          <a:noFill/>
          <a:ln w="9525" cap="rnd" cmpd="sng" algn="ctr">
            <a:solidFill>
              <a:srgbClr val="9A9A9A"/>
            </a:solidFill>
            <a:prstDash val="solid"/>
            <a:round/>
            <a:headEnd type="none" w="med" len="med"/>
            <a:tailEnd type="none" w="med" len="me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defRPr/>
            </a:pPr>
            <a:r>
              <a:rPr kumimoji="1" lang="ja-JP" altLang="en-US" sz="1600" dirty="0">
                <a:solidFill>
                  <a:schemeClr val="tx1"/>
                </a:solidFill>
                <a:latin typeface="Trebuchet MS" panose="020B0603020202020204" pitchFamily="34" charset="0"/>
                <a:ea typeface="Meiryo UI" panose="020B0604030504040204" pitchFamily="50" charset="-128"/>
              </a:rPr>
              <a:t>本提案で開発する対策技術については、実装段階での機能評価および実地データを用いた性能評価の両面から妥当性を検証する。具体的には以下の</a:t>
            </a:r>
            <a:r>
              <a:rPr kumimoji="1" lang="en-US" altLang="ja-JP" sz="1600" dirty="0">
                <a:solidFill>
                  <a:schemeClr val="tx1"/>
                </a:solidFill>
                <a:latin typeface="Trebuchet MS" panose="020B0603020202020204" pitchFamily="34" charset="0"/>
                <a:ea typeface="Meiryo UI" panose="020B0604030504040204" pitchFamily="50" charset="-128"/>
              </a:rPr>
              <a:t>3</a:t>
            </a:r>
            <a:r>
              <a:rPr kumimoji="1" lang="ja-JP" altLang="en-US" sz="1600" dirty="0">
                <a:solidFill>
                  <a:schemeClr val="tx1"/>
                </a:solidFill>
                <a:latin typeface="Trebuchet MS" panose="020B0603020202020204" pitchFamily="34" charset="0"/>
                <a:ea typeface="Meiryo UI" panose="020B0604030504040204" pitchFamily="50" charset="-128"/>
              </a:rPr>
              <a:t>点の観点から評価を行う。</a:t>
            </a:r>
          </a:p>
          <a:p>
            <a:pPr>
              <a:defRPr/>
            </a:pPr>
            <a:r>
              <a:rPr kumimoji="1" lang="ja-JP" altLang="en-US" sz="1600" b="1" dirty="0">
                <a:solidFill>
                  <a:schemeClr val="tx1"/>
                </a:solidFill>
                <a:latin typeface="Trebuchet MS" panose="020B0603020202020204" pitchFamily="34" charset="0"/>
                <a:ea typeface="Meiryo UI" panose="020B0604030504040204" pitchFamily="50" charset="-128"/>
              </a:rPr>
              <a:t>（</a:t>
            </a:r>
            <a:r>
              <a:rPr kumimoji="1" lang="en-US" altLang="ja-JP" sz="1600" b="1" dirty="0">
                <a:solidFill>
                  <a:schemeClr val="tx1"/>
                </a:solidFill>
                <a:latin typeface="Trebuchet MS" panose="020B0603020202020204" pitchFamily="34" charset="0"/>
                <a:ea typeface="Meiryo UI" panose="020B0604030504040204" pitchFamily="50" charset="-128"/>
              </a:rPr>
              <a:t>1</a:t>
            </a:r>
            <a:r>
              <a:rPr kumimoji="1" lang="ja-JP" altLang="en-US" sz="1600" b="1" dirty="0">
                <a:solidFill>
                  <a:schemeClr val="tx1"/>
                </a:solidFill>
                <a:latin typeface="Trebuchet MS" panose="020B0603020202020204" pitchFamily="34" charset="0"/>
                <a:ea typeface="Meiryo UI" panose="020B0604030504040204" pitchFamily="50" charset="-128"/>
              </a:rPr>
              <a:t>）</a:t>
            </a:r>
            <a:r>
              <a:rPr lang="ja-JP" altLang="en-US"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誤診誘導（致死的ハルシネーション）</a:t>
            </a:r>
            <a:endParaRPr kumimoji="1" lang="ja-JP" altLang="en-US" sz="1600" b="1" dirty="0">
              <a:solidFill>
                <a:schemeClr val="tx1"/>
              </a:solidFill>
              <a:latin typeface="Trebuchet MS" panose="020B0603020202020204" pitchFamily="34" charset="0"/>
              <a:ea typeface="Meiryo UI" panose="020B0604030504040204" pitchFamily="50" charset="-128"/>
            </a:endParaRPr>
          </a:p>
          <a:p>
            <a:pPr lvl="1">
              <a:defRPr/>
            </a:pPr>
            <a:r>
              <a:rPr lang="en-US" altLang="ja-JP" sz="1600" dirty="0">
                <a:solidFill>
                  <a:schemeClr val="tx1"/>
                </a:solidFill>
                <a:latin typeface="メイリオ" panose="020B0604030504040204" pitchFamily="50" charset="-128"/>
                <a:ea typeface="メイリオ" panose="020B0604030504040204" pitchFamily="50" charset="-128"/>
              </a:rPr>
              <a:t>1) RAG</a:t>
            </a:r>
            <a:r>
              <a:rPr lang="ja-JP" altLang="en-US" sz="1600" dirty="0">
                <a:solidFill>
                  <a:schemeClr val="tx1"/>
                </a:solidFill>
                <a:latin typeface="メイリオ" panose="020B0604030504040204" pitchFamily="50" charset="-128"/>
                <a:ea typeface="メイリオ" panose="020B0604030504040204" pitchFamily="50" charset="-128"/>
              </a:rPr>
              <a:t>による出典付与率は、</a:t>
            </a:r>
            <a:r>
              <a:rPr lang="en-US" altLang="ja-JP" sz="1600" dirty="0">
                <a:solidFill>
                  <a:schemeClr val="tx1"/>
                </a:solidFill>
                <a:latin typeface="メイリオ" panose="020B0604030504040204" pitchFamily="50" charset="-128"/>
                <a:ea typeface="メイリオ" panose="020B0604030504040204" pitchFamily="50" charset="-128"/>
              </a:rPr>
              <a:t>200</a:t>
            </a:r>
            <a:r>
              <a:rPr lang="ja-JP" altLang="en-US" sz="1600" dirty="0">
                <a:solidFill>
                  <a:schemeClr val="tx1"/>
                </a:solidFill>
                <a:latin typeface="メイリオ" panose="020B0604030504040204" pitchFamily="50" charset="-128"/>
                <a:ea typeface="メイリオ" panose="020B0604030504040204" pitchFamily="50" charset="-128"/>
              </a:rPr>
              <a:t>例の模擬症例に対する</a:t>
            </a:r>
            <a:r>
              <a:rPr lang="en-US" altLang="ja-JP" sz="1600" dirty="0">
                <a:solidFill>
                  <a:schemeClr val="tx1"/>
                </a:solidFill>
                <a:latin typeface="メイリオ" panose="020B0604030504040204" pitchFamily="50" charset="-128"/>
                <a:ea typeface="メイリオ" panose="020B0604030504040204" pitchFamily="50" charset="-128"/>
              </a:rPr>
              <a:t>AI</a:t>
            </a:r>
            <a:r>
              <a:rPr lang="ja-JP" altLang="en-US" sz="1600" dirty="0">
                <a:solidFill>
                  <a:schemeClr val="tx1"/>
                </a:solidFill>
                <a:latin typeface="メイリオ" panose="020B0604030504040204" pitchFamily="50" charset="-128"/>
                <a:ea typeface="メイリオ" panose="020B0604030504040204" pitchFamily="50" charset="-128"/>
              </a:rPr>
              <a:t>出力において、出典リンクまたは明示的文献参照の有無を医学専門家</a:t>
            </a:r>
            <a:r>
              <a:rPr lang="en-US" altLang="ja-JP" sz="1600" dirty="0">
                <a:solidFill>
                  <a:schemeClr val="tx1"/>
                </a:solidFill>
                <a:latin typeface="メイリオ" panose="020B0604030504040204" pitchFamily="50" charset="-128"/>
                <a:ea typeface="メイリオ" panose="020B0604030504040204" pitchFamily="50" charset="-128"/>
              </a:rPr>
              <a:t>3</a:t>
            </a:r>
            <a:r>
              <a:rPr lang="ja-JP" altLang="en-US" sz="1600" dirty="0">
                <a:solidFill>
                  <a:schemeClr val="tx1"/>
                </a:solidFill>
                <a:latin typeface="メイリオ" panose="020B0604030504040204" pitchFamily="50" charset="-128"/>
                <a:ea typeface="メイリオ" panose="020B0604030504040204" pitchFamily="50" charset="-128"/>
              </a:rPr>
              <a:t>名が評価し、</a:t>
            </a:r>
            <a:r>
              <a:rPr lang="en-US" altLang="ja-JP" sz="1600" b="1" dirty="0">
                <a:solidFill>
                  <a:srgbClr val="C00000"/>
                </a:solidFill>
                <a:latin typeface="メイリオ" panose="020B0604030504040204" pitchFamily="50" charset="-128"/>
                <a:ea typeface="メイリオ" panose="020B0604030504040204" pitchFamily="50" charset="-128"/>
              </a:rPr>
              <a:t>90%</a:t>
            </a:r>
            <a:r>
              <a:rPr lang="ja-JP" altLang="en-US" sz="1600" b="1" dirty="0">
                <a:solidFill>
                  <a:srgbClr val="C00000"/>
                </a:solidFill>
                <a:latin typeface="メイリオ" panose="020B0604030504040204" pitchFamily="50" charset="-128"/>
                <a:ea typeface="メイリオ" panose="020B0604030504040204" pitchFamily="50" charset="-128"/>
              </a:rPr>
              <a:t>以上の達成</a:t>
            </a:r>
            <a:r>
              <a:rPr lang="ja-JP" altLang="en-US" sz="1600" dirty="0">
                <a:solidFill>
                  <a:schemeClr val="tx1"/>
                </a:solidFill>
                <a:latin typeface="メイリオ" panose="020B0604030504040204" pitchFamily="50" charset="-128"/>
                <a:ea typeface="メイリオ" panose="020B0604030504040204" pitchFamily="50" charset="-128"/>
              </a:rPr>
              <a:t>を確認する。</a:t>
            </a:r>
            <a:endParaRPr lang="en-US" altLang="ja-JP" sz="1600" dirty="0">
              <a:solidFill>
                <a:schemeClr val="tx1"/>
              </a:solidFill>
              <a:latin typeface="メイリオ" panose="020B0604030504040204" pitchFamily="50" charset="-128"/>
              <a:ea typeface="メイリオ" panose="020B0604030504040204" pitchFamily="50" charset="-128"/>
            </a:endParaRPr>
          </a:p>
          <a:p>
            <a:pPr lvl="1">
              <a:defRPr/>
            </a:pPr>
            <a:r>
              <a:rPr lang="en-US" altLang="ja-JP" sz="1600" dirty="0">
                <a:solidFill>
                  <a:schemeClr val="tx1"/>
                </a:solidFill>
                <a:latin typeface="メイリオ" panose="020B0604030504040204" pitchFamily="50" charset="-128"/>
                <a:ea typeface="メイリオ" panose="020B0604030504040204" pitchFamily="50" charset="-128"/>
              </a:rPr>
              <a:t>2) </a:t>
            </a:r>
            <a:r>
              <a:rPr lang="ja-JP" altLang="en-US" sz="1600" dirty="0">
                <a:solidFill>
                  <a:schemeClr val="tx1"/>
                </a:solidFill>
                <a:latin typeface="メイリオ" panose="020B0604030504040204" pitchFamily="50" charset="-128"/>
                <a:ea typeface="メイリオ" panose="020B0604030504040204" pitchFamily="50" charset="-128"/>
              </a:rPr>
              <a:t>整合性チェック精度は、模擬カルテ</a:t>
            </a:r>
            <a:r>
              <a:rPr lang="en-US" altLang="ja-JP" sz="1600" dirty="0">
                <a:solidFill>
                  <a:schemeClr val="tx1"/>
                </a:solidFill>
                <a:latin typeface="メイリオ" panose="020B0604030504040204" pitchFamily="50" charset="-128"/>
                <a:ea typeface="メイリオ" panose="020B0604030504040204" pitchFamily="50" charset="-128"/>
              </a:rPr>
              <a:t>100</a:t>
            </a:r>
            <a:r>
              <a:rPr lang="ja-JP" altLang="en-US" sz="1600" dirty="0">
                <a:solidFill>
                  <a:schemeClr val="tx1"/>
                </a:solidFill>
                <a:latin typeface="メイリオ" panose="020B0604030504040204" pitchFamily="50" charset="-128"/>
                <a:ea typeface="メイリオ" panose="020B0604030504040204" pitchFamily="50" charset="-128"/>
              </a:rPr>
              <a:t>件に対する</a:t>
            </a:r>
            <a:r>
              <a:rPr lang="en-US" altLang="ja-JP" sz="1600" dirty="0">
                <a:solidFill>
                  <a:schemeClr val="tx1"/>
                </a:solidFill>
                <a:latin typeface="メイリオ" panose="020B0604030504040204" pitchFamily="50" charset="-128"/>
                <a:ea typeface="メイリオ" panose="020B0604030504040204" pitchFamily="50" charset="-128"/>
              </a:rPr>
              <a:t>A/P</a:t>
            </a:r>
            <a:r>
              <a:rPr lang="ja-JP" altLang="en-US" sz="1600" dirty="0">
                <a:solidFill>
                  <a:schemeClr val="tx1"/>
                </a:solidFill>
                <a:latin typeface="メイリオ" panose="020B0604030504040204" pitchFamily="50" charset="-128"/>
                <a:ea typeface="メイリオ" panose="020B0604030504040204" pitchFamily="50" charset="-128"/>
              </a:rPr>
              <a:t>の一貫性評価を</a:t>
            </a:r>
            <a:r>
              <a:rPr lang="en-US" altLang="ja-JP" sz="1600" dirty="0">
                <a:solidFill>
                  <a:schemeClr val="tx1"/>
                </a:solidFill>
                <a:latin typeface="メイリオ" panose="020B0604030504040204" pitchFamily="50" charset="-128"/>
                <a:ea typeface="メイリオ" panose="020B0604030504040204" pitchFamily="50" charset="-128"/>
              </a:rPr>
              <a:t>F1</a:t>
            </a:r>
            <a:r>
              <a:rPr lang="ja-JP" altLang="en-US" sz="1600" dirty="0">
                <a:solidFill>
                  <a:schemeClr val="tx1"/>
                </a:solidFill>
                <a:latin typeface="メイリオ" panose="020B0604030504040204" pitchFamily="50" charset="-128"/>
                <a:ea typeface="メイリオ" panose="020B0604030504040204" pitchFamily="50" charset="-128"/>
              </a:rPr>
              <a:t>スコアで算出（正解ラベルは専門医コンセンサスによる）。</a:t>
            </a:r>
            <a:endParaRPr lang="en-US" altLang="ja-JP" sz="1600" dirty="0">
              <a:solidFill>
                <a:schemeClr val="tx1"/>
              </a:solidFill>
              <a:latin typeface="メイリオ" panose="020B0604030504040204" pitchFamily="50" charset="-128"/>
              <a:ea typeface="メイリオ" panose="020B0604030504040204" pitchFamily="50" charset="-128"/>
            </a:endParaRPr>
          </a:p>
          <a:p>
            <a:pPr lvl="1">
              <a:defRPr/>
            </a:pPr>
            <a:r>
              <a:rPr lang="en-US" altLang="ja-JP" sz="1600" dirty="0">
                <a:solidFill>
                  <a:schemeClr val="tx1"/>
                </a:solidFill>
                <a:latin typeface="メイリオ" panose="020B0604030504040204" pitchFamily="50" charset="-128"/>
                <a:ea typeface="メイリオ" panose="020B0604030504040204" pitchFamily="50" charset="-128"/>
              </a:rPr>
              <a:t>3)</a:t>
            </a:r>
            <a:r>
              <a:rPr lang="ja-JP" altLang="en-US" sz="1600" dirty="0">
                <a:solidFill>
                  <a:schemeClr val="tx1"/>
                </a:solidFill>
                <a:latin typeface="メイリオ" panose="020B0604030504040204" pitchFamily="50" charset="-128"/>
                <a:ea typeface="メイリオ" panose="020B0604030504040204" pitchFamily="50" charset="-128"/>
              </a:rPr>
              <a:t>信頼度・納得度は医師</a:t>
            </a:r>
            <a:r>
              <a:rPr lang="en-US" altLang="ja-JP" sz="1600" dirty="0">
                <a:solidFill>
                  <a:schemeClr val="tx1"/>
                </a:solidFill>
                <a:latin typeface="メイリオ" panose="020B0604030504040204" pitchFamily="50" charset="-128"/>
                <a:ea typeface="メイリオ" panose="020B0604030504040204" pitchFamily="50" charset="-128"/>
              </a:rPr>
              <a:t>5</a:t>
            </a:r>
            <a:r>
              <a:rPr lang="ja-JP" altLang="en-US" sz="1600" dirty="0">
                <a:solidFill>
                  <a:schemeClr val="tx1"/>
                </a:solidFill>
                <a:latin typeface="メイリオ" panose="020B0604030504040204" pitchFamily="50" charset="-128"/>
                <a:ea typeface="メイリオ" panose="020B0604030504040204" pitchFamily="50" charset="-128"/>
              </a:rPr>
              <a:t>名に対し、</a:t>
            </a:r>
            <a:r>
              <a:rPr lang="en-US" altLang="ja-JP" sz="1600" b="1" dirty="0">
                <a:solidFill>
                  <a:srgbClr val="C00000"/>
                </a:solidFill>
                <a:latin typeface="メイリオ" panose="020B0604030504040204" pitchFamily="50" charset="-128"/>
                <a:ea typeface="メイリオ" panose="020B0604030504040204" pitchFamily="50" charset="-128"/>
              </a:rPr>
              <a:t>5</a:t>
            </a:r>
            <a:r>
              <a:rPr lang="ja-JP" altLang="en-US" sz="1600" b="1" dirty="0">
                <a:solidFill>
                  <a:srgbClr val="C00000"/>
                </a:solidFill>
                <a:latin typeface="メイリオ" panose="020B0604030504040204" pitchFamily="50" charset="-128"/>
                <a:ea typeface="メイリオ" panose="020B0604030504040204" pitchFamily="50" charset="-128"/>
              </a:rPr>
              <a:t>段階評価で平均</a:t>
            </a:r>
            <a:r>
              <a:rPr lang="en-US" altLang="ja-JP" sz="1600" b="1" dirty="0">
                <a:solidFill>
                  <a:srgbClr val="C00000"/>
                </a:solidFill>
                <a:latin typeface="メイリオ" panose="020B0604030504040204" pitchFamily="50" charset="-128"/>
                <a:ea typeface="メイリオ" panose="020B0604030504040204" pitchFamily="50" charset="-128"/>
              </a:rPr>
              <a:t>10%</a:t>
            </a:r>
            <a:r>
              <a:rPr lang="ja-JP" altLang="en-US" sz="1600" b="1" dirty="0">
                <a:solidFill>
                  <a:srgbClr val="C00000"/>
                </a:solidFill>
                <a:latin typeface="メイリオ" panose="020B0604030504040204" pitchFamily="50" charset="-128"/>
                <a:ea typeface="メイリオ" panose="020B0604030504040204" pitchFamily="50" charset="-128"/>
              </a:rPr>
              <a:t>以上の向上</a:t>
            </a:r>
            <a:r>
              <a:rPr lang="ja-JP" altLang="en-US" sz="1600" dirty="0">
                <a:solidFill>
                  <a:schemeClr val="tx1"/>
                </a:solidFill>
                <a:latin typeface="メイリオ" panose="020B0604030504040204" pitchFamily="50" charset="-128"/>
                <a:ea typeface="メイリオ" panose="020B0604030504040204" pitchFamily="50" charset="-128"/>
              </a:rPr>
              <a:t>があるかを検証する。</a:t>
            </a:r>
            <a:endParaRPr kumimoji="1" lang="en-US" altLang="ja-JP" sz="1600" dirty="0">
              <a:solidFill>
                <a:schemeClr val="tx1"/>
              </a:solidFill>
              <a:latin typeface="メイリオ" panose="020B0604030504040204" pitchFamily="50" charset="-128"/>
              <a:ea typeface="メイリオ" panose="020B0604030504040204" pitchFamily="50" charset="-128"/>
            </a:endParaRPr>
          </a:p>
          <a:p>
            <a:pPr>
              <a:defRPr/>
            </a:pPr>
            <a:r>
              <a:rPr kumimoji="1" lang="ja-JP" altLang="en-US" sz="1600" b="1" dirty="0">
                <a:solidFill>
                  <a:prstClr val="black"/>
                </a:solidFill>
                <a:latin typeface="Trebuchet MS" panose="020B0603020202020204" pitchFamily="34" charset="0"/>
                <a:ea typeface="Meiryo UI" panose="020B0604030504040204" pitchFamily="50" charset="-128"/>
              </a:rPr>
              <a:t>（</a:t>
            </a:r>
            <a:r>
              <a:rPr kumimoji="1" lang="en-US" altLang="ja-JP" sz="1600" b="1" dirty="0">
                <a:solidFill>
                  <a:prstClr val="black"/>
                </a:solidFill>
                <a:latin typeface="Trebuchet MS" panose="020B0603020202020204" pitchFamily="34" charset="0"/>
                <a:ea typeface="Meiryo UI" panose="020B0604030504040204" pitchFamily="50" charset="-128"/>
              </a:rPr>
              <a:t>2</a:t>
            </a:r>
            <a:r>
              <a:rPr kumimoji="1" lang="ja-JP" altLang="en-US" sz="1600" b="1" dirty="0">
                <a:solidFill>
                  <a:prstClr val="black"/>
                </a:solidFill>
                <a:latin typeface="Trebuchet MS" panose="020B0603020202020204" pitchFamily="34" charset="0"/>
                <a:ea typeface="Meiryo UI" panose="020B0604030504040204" pitchFamily="50" charset="-128"/>
              </a:rPr>
              <a:t>）</a:t>
            </a:r>
            <a:r>
              <a:rPr lang="ja-JP" altLang="en-US"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個人情報流出（クラウド</a:t>
            </a:r>
            <a:r>
              <a:rPr lang="en-US" altLang="ja-JP"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LLM</a:t>
            </a:r>
            <a:r>
              <a:rPr lang="ja-JP" altLang="en-US"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送信による漏洩リスク）</a:t>
            </a:r>
            <a:endParaRPr kumimoji="1" lang="ja-JP" altLang="en-US" sz="1600" b="1" dirty="0">
              <a:solidFill>
                <a:schemeClr val="tx1"/>
              </a:solidFill>
              <a:latin typeface="Trebuchet MS" panose="020B0603020202020204" pitchFamily="34" charset="0"/>
              <a:ea typeface="Meiryo UI" panose="020B0604030504040204" pitchFamily="50" charset="-128"/>
            </a:endParaRPr>
          </a:p>
          <a:p>
            <a:pPr lvl="1">
              <a:defRPr/>
            </a:pPr>
            <a:r>
              <a:rPr lang="en-US" altLang="ja-JP" sz="1600" dirty="0">
                <a:solidFill>
                  <a:schemeClr val="tx1"/>
                </a:solidFill>
                <a:latin typeface="メイリオ" panose="020B0604030504040204" pitchFamily="50" charset="-128"/>
                <a:ea typeface="メイリオ" panose="020B0604030504040204" pitchFamily="50" charset="-128"/>
              </a:rPr>
              <a:t>1) </a:t>
            </a:r>
            <a:r>
              <a:rPr lang="ja-JP" altLang="en-US" sz="1600" dirty="0">
                <a:solidFill>
                  <a:schemeClr val="tx1"/>
                </a:solidFill>
                <a:latin typeface="メイリオ" panose="020B0604030504040204" pitchFamily="50" charset="-128"/>
                <a:ea typeface="メイリオ" panose="020B0604030504040204" pitchFamily="50" charset="-128"/>
              </a:rPr>
              <a:t>外部ネットワークへのアクセスが</a:t>
            </a:r>
            <a:r>
              <a:rPr lang="ja-JP" altLang="en-US" sz="1600" b="1" dirty="0">
                <a:solidFill>
                  <a:srgbClr val="C00000"/>
                </a:solidFill>
                <a:latin typeface="メイリオ" panose="020B0604030504040204" pitchFamily="50" charset="-128"/>
                <a:ea typeface="メイリオ" panose="020B0604030504040204" pitchFamily="50" charset="-128"/>
              </a:rPr>
              <a:t>遮断された環境でシステムの評価</a:t>
            </a:r>
            <a:r>
              <a:rPr lang="ja-JP" altLang="en-US" sz="1600" dirty="0">
                <a:solidFill>
                  <a:schemeClr val="tx1"/>
                </a:solidFill>
                <a:latin typeface="メイリオ" panose="020B0604030504040204" pitchFamily="50" charset="-128"/>
                <a:ea typeface="メイリオ" panose="020B0604030504040204" pitchFamily="50" charset="-128"/>
              </a:rPr>
              <a:t>を行い、本システムが外部サービスに依存しない構成であることを示す。</a:t>
            </a:r>
            <a:br>
              <a:rPr lang="ja-JP" altLang="en-US" sz="1600" dirty="0">
                <a:solidFill>
                  <a:schemeClr val="tx1"/>
                </a:solidFill>
                <a:latin typeface="メイリオ" panose="020B0604030504040204" pitchFamily="50" charset="-128"/>
                <a:ea typeface="メイリオ" panose="020B0604030504040204" pitchFamily="50" charset="-128"/>
              </a:rPr>
            </a:br>
            <a:r>
              <a:rPr lang="en-US" altLang="ja-JP" sz="1600" dirty="0">
                <a:solidFill>
                  <a:schemeClr val="tx1"/>
                </a:solidFill>
                <a:latin typeface="メイリオ" panose="020B0604030504040204" pitchFamily="50" charset="-128"/>
                <a:ea typeface="メイリオ" panose="020B0604030504040204" pitchFamily="50" charset="-128"/>
              </a:rPr>
              <a:t>2) </a:t>
            </a:r>
            <a:r>
              <a:rPr lang="ja-JP" altLang="en-US" sz="1600" dirty="0">
                <a:solidFill>
                  <a:schemeClr val="tx1"/>
                </a:solidFill>
                <a:latin typeface="メイリオ" panose="020B0604030504040204" pitchFamily="50" charset="-128"/>
                <a:ea typeface="メイリオ" panose="020B0604030504040204" pitchFamily="50" charset="-128"/>
              </a:rPr>
              <a:t>模擬カルテを入力した場合の速度面・精度面ともに十分に実用可能な性能であることを確認する。</a:t>
            </a:r>
            <a:endParaRPr kumimoji="1" lang="en-US" altLang="ja-JP" sz="1600" dirty="0">
              <a:solidFill>
                <a:schemeClr val="tx1"/>
              </a:solidFill>
              <a:latin typeface="メイリオ" panose="020B0604030504040204" pitchFamily="50" charset="-128"/>
              <a:ea typeface="メイリオ" panose="020B0604030504040204" pitchFamily="50" charset="-128"/>
            </a:endParaRPr>
          </a:p>
          <a:p>
            <a:pPr>
              <a:defRPr/>
            </a:pPr>
            <a:r>
              <a:rPr kumimoji="1" lang="ja-JP" altLang="en-US" sz="1600" b="1" dirty="0">
                <a:solidFill>
                  <a:prstClr val="black"/>
                </a:solidFill>
                <a:latin typeface="Trebuchet MS" panose="020B0603020202020204" pitchFamily="34" charset="0"/>
                <a:ea typeface="Meiryo UI" panose="020B0604030504040204" pitchFamily="50" charset="-128"/>
              </a:rPr>
              <a:t>（</a:t>
            </a:r>
            <a:r>
              <a:rPr kumimoji="1" lang="en-US" altLang="ja-JP" sz="1600" b="1" dirty="0">
                <a:solidFill>
                  <a:prstClr val="black"/>
                </a:solidFill>
                <a:latin typeface="Trebuchet MS" panose="020B0603020202020204" pitchFamily="34" charset="0"/>
                <a:ea typeface="Meiryo UI" panose="020B0604030504040204" pitchFamily="50" charset="-128"/>
              </a:rPr>
              <a:t>3</a:t>
            </a:r>
            <a:r>
              <a:rPr kumimoji="1" lang="ja-JP" altLang="en-US" sz="1600" b="1" dirty="0">
                <a:solidFill>
                  <a:prstClr val="black"/>
                </a:solidFill>
                <a:latin typeface="Trebuchet MS" panose="020B0603020202020204" pitchFamily="34" charset="0"/>
                <a:ea typeface="Meiryo UI" panose="020B0604030504040204" pitchFamily="50" charset="-128"/>
              </a:rPr>
              <a:t>）</a:t>
            </a:r>
            <a:r>
              <a:rPr lang="ja-JP" altLang="en-US"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医師</a:t>
            </a:r>
            <a:r>
              <a:rPr lang="en-US" altLang="ja-JP"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a:t>
            </a:r>
            <a:r>
              <a:rPr lang="ja-JP" altLang="en-US" sz="1600" b="1" dirty="0">
                <a:solidFill>
                  <a:schemeClr val="tx1"/>
                </a:solidFill>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患者関係の変容</a:t>
            </a:r>
            <a:endParaRPr kumimoji="1" lang="ja-JP" altLang="en-US" sz="1600" b="1" dirty="0">
              <a:solidFill>
                <a:prstClr val="black"/>
              </a:solidFill>
              <a:latin typeface="Trebuchet MS" panose="020B0603020202020204" pitchFamily="34" charset="0"/>
              <a:ea typeface="Meiryo UI" panose="020B0604030504040204" pitchFamily="50" charset="-128"/>
            </a:endParaRPr>
          </a:p>
          <a:p>
            <a:pPr lvl="1">
              <a:defRPr/>
            </a:pPr>
            <a:r>
              <a:rPr lang="en-US" altLang="ja-JP" sz="1600" dirty="0">
                <a:solidFill>
                  <a:schemeClr val="tx1"/>
                </a:solidFill>
                <a:latin typeface="メイリオ" panose="020B0604030504040204" pitchFamily="50" charset="-128"/>
                <a:ea typeface="メイリオ" panose="020B0604030504040204" pitchFamily="50" charset="-128"/>
              </a:rPr>
              <a:t>1) </a:t>
            </a:r>
            <a:r>
              <a:rPr lang="ja-JP" altLang="en-US" sz="1600" dirty="0">
                <a:solidFill>
                  <a:schemeClr val="tx1"/>
                </a:solidFill>
                <a:latin typeface="メイリオ" panose="020B0604030504040204" pitchFamily="50" charset="-128"/>
                <a:ea typeface="メイリオ" panose="020B0604030504040204" pitchFamily="50" charset="-128"/>
              </a:rPr>
              <a:t>「医師確認済」ラベルの実装評価は、プロトタイプ</a:t>
            </a:r>
            <a:r>
              <a:rPr lang="en-US" altLang="ja-JP" sz="1600" dirty="0">
                <a:solidFill>
                  <a:schemeClr val="tx1"/>
                </a:solidFill>
                <a:latin typeface="メイリオ" panose="020B0604030504040204" pitchFamily="50" charset="-128"/>
                <a:ea typeface="メイリオ" panose="020B0604030504040204" pitchFamily="50" charset="-128"/>
              </a:rPr>
              <a:t>UI</a:t>
            </a:r>
            <a:r>
              <a:rPr lang="ja-JP" altLang="en-US" sz="1600" dirty="0">
                <a:solidFill>
                  <a:schemeClr val="tx1"/>
                </a:solidFill>
                <a:latin typeface="メイリオ" panose="020B0604030504040204" pitchFamily="50" charset="-128"/>
                <a:ea typeface="メイリオ" panose="020B0604030504040204" pitchFamily="50" charset="-128"/>
              </a:rPr>
              <a:t>を用いて模擬症例</a:t>
            </a:r>
            <a:r>
              <a:rPr lang="en-US" altLang="ja-JP" sz="1600" dirty="0">
                <a:solidFill>
                  <a:schemeClr val="tx1"/>
                </a:solidFill>
                <a:latin typeface="メイリオ" panose="020B0604030504040204" pitchFamily="50" charset="-128"/>
                <a:ea typeface="メイリオ" panose="020B0604030504040204" pitchFamily="50" charset="-128"/>
              </a:rPr>
              <a:t>100</a:t>
            </a:r>
            <a:r>
              <a:rPr lang="ja-JP" altLang="en-US" sz="1600" dirty="0">
                <a:solidFill>
                  <a:schemeClr val="tx1"/>
                </a:solidFill>
                <a:latin typeface="メイリオ" panose="020B0604030504040204" pitchFamily="50" charset="-128"/>
                <a:ea typeface="メイリオ" panose="020B0604030504040204" pitchFamily="50" charset="-128"/>
              </a:rPr>
              <a:t>件に対し医師が確認・承認操作を行い、出力に</a:t>
            </a:r>
            <a:r>
              <a:rPr lang="ja-JP" altLang="en-US" sz="1600" b="1" dirty="0">
                <a:solidFill>
                  <a:srgbClr val="C00000"/>
                </a:solidFill>
                <a:latin typeface="メイリオ" panose="020B0604030504040204" pitchFamily="50" charset="-128"/>
                <a:ea typeface="メイリオ" panose="020B0604030504040204" pitchFamily="50" charset="-128"/>
              </a:rPr>
              <a:t>反映される比率を算出し</a:t>
            </a:r>
            <a:r>
              <a:rPr lang="en-US" altLang="ja-JP" sz="1600" b="1" dirty="0">
                <a:solidFill>
                  <a:srgbClr val="C00000"/>
                </a:solidFill>
                <a:latin typeface="メイリオ" panose="020B0604030504040204" pitchFamily="50" charset="-128"/>
                <a:ea typeface="メイリオ" panose="020B0604030504040204" pitchFamily="50" charset="-128"/>
              </a:rPr>
              <a:t>100%</a:t>
            </a:r>
            <a:r>
              <a:rPr lang="ja-JP" altLang="en-US" sz="1600" dirty="0">
                <a:solidFill>
                  <a:schemeClr val="tx1"/>
                </a:solidFill>
                <a:latin typeface="メイリオ" panose="020B0604030504040204" pitchFamily="50" charset="-128"/>
                <a:ea typeface="メイリオ" panose="020B0604030504040204" pitchFamily="50" charset="-128"/>
              </a:rPr>
              <a:t>であることを確認する。</a:t>
            </a:r>
            <a:endParaRPr lang="en-US" altLang="ja-JP" sz="1600" dirty="0">
              <a:solidFill>
                <a:schemeClr val="tx1"/>
              </a:solidFill>
              <a:latin typeface="メイリオ" panose="020B0604030504040204" pitchFamily="50" charset="-128"/>
              <a:ea typeface="メイリオ" panose="020B0604030504040204" pitchFamily="50" charset="-128"/>
            </a:endParaRPr>
          </a:p>
          <a:p>
            <a:pPr lvl="1">
              <a:defRPr/>
            </a:pPr>
            <a:r>
              <a:rPr lang="en-US" altLang="ja-JP" sz="1600" dirty="0">
                <a:solidFill>
                  <a:schemeClr val="tx1"/>
                </a:solidFill>
                <a:latin typeface="メイリオ" panose="020B0604030504040204" pitchFamily="50" charset="-128"/>
                <a:ea typeface="メイリオ" panose="020B0604030504040204" pitchFamily="50" charset="-128"/>
              </a:rPr>
              <a:t>2) </a:t>
            </a:r>
            <a:r>
              <a:rPr lang="ja-JP" altLang="en-US" sz="1600" dirty="0">
                <a:solidFill>
                  <a:schemeClr val="tx1"/>
                </a:solidFill>
                <a:latin typeface="メイリオ" panose="020B0604030504040204" pitchFamily="50" charset="-128"/>
                <a:ea typeface="メイリオ" panose="020B0604030504040204" pitchFamily="50" charset="-128"/>
              </a:rPr>
              <a:t>承認時間の算出は、模擬症例</a:t>
            </a:r>
            <a:r>
              <a:rPr lang="en-US" altLang="ja-JP" sz="1600" dirty="0">
                <a:solidFill>
                  <a:schemeClr val="tx1"/>
                </a:solidFill>
                <a:latin typeface="メイリオ" panose="020B0604030504040204" pitchFamily="50" charset="-128"/>
                <a:ea typeface="メイリオ" panose="020B0604030504040204" pitchFamily="50" charset="-128"/>
              </a:rPr>
              <a:t>100</a:t>
            </a:r>
            <a:r>
              <a:rPr lang="ja-JP" altLang="en-US" sz="1600" dirty="0">
                <a:solidFill>
                  <a:schemeClr val="tx1"/>
                </a:solidFill>
                <a:latin typeface="メイリオ" panose="020B0604030504040204" pitchFamily="50" charset="-128"/>
                <a:ea typeface="メイリオ" panose="020B0604030504040204" pitchFamily="50" charset="-128"/>
              </a:rPr>
              <a:t>件に対して医師がプロトタイプ</a:t>
            </a:r>
            <a:r>
              <a:rPr lang="en-US" altLang="ja-JP" sz="1600" dirty="0">
                <a:solidFill>
                  <a:schemeClr val="tx1"/>
                </a:solidFill>
                <a:latin typeface="メイリオ" panose="020B0604030504040204" pitchFamily="50" charset="-128"/>
                <a:ea typeface="メイリオ" panose="020B0604030504040204" pitchFamily="50" charset="-128"/>
              </a:rPr>
              <a:t>UI</a:t>
            </a:r>
            <a:r>
              <a:rPr lang="ja-JP" altLang="en-US" sz="1600" dirty="0">
                <a:solidFill>
                  <a:schemeClr val="tx1"/>
                </a:solidFill>
                <a:latin typeface="メイリオ" panose="020B0604030504040204" pitchFamily="50" charset="-128"/>
                <a:ea typeface="メイリオ" panose="020B0604030504040204" pitchFamily="50" charset="-128"/>
              </a:rPr>
              <a:t>上で確認・承認操作を行う際の</a:t>
            </a:r>
            <a:r>
              <a:rPr lang="en-US" altLang="ja-JP" sz="1600" dirty="0">
                <a:solidFill>
                  <a:schemeClr val="tx1"/>
                </a:solidFill>
                <a:latin typeface="メイリオ" panose="020B0604030504040204" pitchFamily="50" charset="-128"/>
                <a:ea typeface="メイリオ" panose="020B0604030504040204" pitchFamily="50" charset="-128"/>
              </a:rPr>
              <a:t>1</a:t>
            </a:r>
            <a:r>
              <a:rPr lang="ja-JP" altLang="en-US" sz="1600" dirty="0">
                <a:solidFill>
                  <a:schemeClr val="tx1"/>
                </a:solidFill>
                <a:latin typeface="メイリオ" panose="020B0604030504040204" pitchFamily="50" charset="-128"/>
                <a:ea typeface="メイリオ" panose="020B0604030504040204" pitchFamily="50" charset="-128"/>
              </a:rPr>
              <a:t>件あたりの所要時間を測定し、承認時間の分布を検討する。</a:t>
            </a:r>
            <a:endParaRPr lang="en-US" altLang="ja-JP" sz="1600" dirty="0">
              <a:solidFill>
                <a:schemeClr val="tx1"/>
              </a:solidFill>
              <a:latin typeface="メイリオ" panose="020B0604030504040204" pitchFamily="50" charset="-128"/>
              <a:ea typeface="メイリオ" panose="020B0604030504040204" pitchFamily="50" charset="-128"/>
            </a:endParaRPr>
          </a:p>
          <a:p>
            <a:pPr lvl="1">
              <a:defRPr/>
            </a:pPr>
            <a:r>
              <a:rPr lang="en-US" altLang="ja-JP" sz="1600" dirty="0">
                <a:solidFill>
                  <a:schemeClr val="tx1"/>
                </a:solidFill>
                <a:latin typeface="メイリオ" panose="020B0604030504040204" pitchFamily="50" charset="-128"/>
                <a:ea typeface="メイリオ" panose="020B0604030504040204" pitchFamily="50" charset="-128"/>
              </a:rPr>
              <a:t>3)</a:t>
            </a:r>
            <a:r>
              <a:rPr lang="ja-JP" altLang="en-US" sz="1600" dirty="0">
                <a:solidFill>
                  <a:schemeClr val="tx1"/>
                </a:solidFill>
                <a:latin typeface="メイリオ" panose="020B0604030504040204" pitchFamily="50" charset="-128"/>
                <a:ea typeface="メイリオ" panose="020B0604030504040204" pitchFamily="50" charset="-128"/>
              </a:rPr>
              <a:t>説明納得度の評価は、患者役</a:t>
            </a:r>
            <a:r>
              <a:rPr lang="en-US" altLang="ja-JP" sz="1600" dirty="0">
                <a:solidFill>
                  <a:schemeClr val="tx1"/>
                </a:solidFill>
                <a:latin typeface="メイリオ" panose="020B0604030504040204" pitchFamily="50" charset="-128"/>
                <a:ea typeface="メイリオ" panose="020B0604030504040204" pitchFamily="50" charset="-128"/>
              </a:rPr>
              <a:t>10</a:t>
            </a:r>
            <a:r>
              <a:rPr lang="ja-JP" altLang="en-US" sz="1600" dirty="0">
                <a:solidFill>
                  <a:schemeClr val="tx1"/>
                </a:solidFill>
                <a:latin typeface="メイリオ" panose="020B0604030504040204" pitchFamily="50" charset="-128"/>
                <a:ea typeface="メイリオ" panose="020B0604030504040204" pitchFamily="50" charset="-128"/>
              </a:rPr>
              <a:t>名への模擬診察後アンケート（</a:t>
            </a:r>
            <a:r>
              <a:rPr lang="en-US" altLang="ja-JP" sz="1600" dirty="0">
                <a:solidFill>
                  <a:schemeClr val="tx1"/>
                </a:solidFill>
                <a:latin typeface="メイリオ" panose="020B0604030504040204" pitchFamily="50" charset="-128"/>
                <a:ea typeface="メイリオ" panose="020B0604030504040204" pitchFamily="50" charset="-128"/>
              </a:rPr>
              <a:t>5</a:t>
            </a:r>
            <a:r>
              <a:rPr lang="ja-JP" altLang="en-US" sz="1600" dirty="0">
                <a:solidFill>
                  <a:schemeClr val="tx1"/>
                </a:solidFill>
                <a:latin typeface="メイリオ" panose="020B0604030504040204" pitchFamily="50" charset="-128"/>
                <a:ea typeface="メイリオ" panose="020B0604030504040204" pitchFamily="50" charset="-128"/>
              </a:rPr>
              <a:t>段階）を実施し、</a:t>
            </a:r>
            <a:r>
              <a:rPr lang="ja-JP" altLang="en-US" sz="1600" b="1" dirty="0">
                <a:solidFill>
                  <a:srgbClr val="C00000"/>
                </a:solidFill>
                <a:latin typeface="メイリオ" panose="020B0604030504040204" pitchFamily="50" charset="-128"/>
                <a:ea typeface="メイリオ" panose="020B0604030504040204" pitchFamily="50" charset="-128"/>
              </a:rPr>
              <a:t>対照群より平均</a:t>
            </a:r>
            <a:r>
              <a:rPr lang="en-US" altLang="ja-JP" sz="1600" b="1" dirty="0">
                <a:solidFill>
                  <a:srgbClr val="C00000"/>
                </a:solidFill>
                <a:latin typeface="メイリオ" panose="020B0604030504040204" pitchFamily="50" charset="-128"/>
                <a:ea typeface="メイリオ" panose="020B0604030504040204" pitchFamily="50" charset="-128"/>
              </a:rPr>
              <a:t>1.0</a:t>
            </a:r>
            <a:r>
              <a:rPr lang="ja-JP" altLang="en-US" sz="1600" b="1" dirty="0">
                <a:solidFill>
                  <a:srgbClr val="C00000"/>
                </a:solidFill>
                <a:latin typeface="メイリオ" panose="020B0604030504040204" pitchFamily="50" charset="-128"/>
                <a:ea typeface="メイリオ" panose="020B0604030504040204" pitchFamily="50" charset="-128"/>
              </a:rPr>
              <a:t>点以上の向上</a:t>
            </a:r>
            <a:r>
              <a:rPr lang="ja-JP" altLang="en-US" sz="1600" dirty="0">
                <a:solidFill>
                  <a:schemeClr val="tx1"/>
                </a:solidFill>
                <a:latin typeface="メイリオ" panose="020B0604030504040204" pitchFamily="50" charset="-128"/>
                <a:ea typeface="メイリオ" panose="020B0604030504040204" pitchFamily="50" charset="-128"/>
              </a:rPr>
              <a:t>を確認する。</a:t>
            </a:r>
            <a:endParaRPr kumimoji="1" lang="en-US" altLang="ja-JP" sz="1600" b="0" i="0" u="none" strike="noStrike" kern="1200" cap="none" spc="0" normalizeH="0" baseline="0" noProof="0" dirty="0">
              <a:ln>
                <a:noFill/>
              </a:ln>
              <a:solidFill>
                <a:schemeClr val="tx1"/>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600" b="0" i="0" u="none" strike="noStrike" kern="1200" cap="none" spc="0" normalizeH="0" baseline="0" noProof="0" dirty="0">
              <a:ln>
                <a:noFill/>
              </a:ln>
              <a:solidFill>
                <a:prstClr val="black"/>
              </a:solidFill>
              <a:effectLst/>
              <a:uLnTx/>
              <a:uFillTx/>
              <a:latin typeface="Trebuchet MS" panose="020B0603020202020204" pitchFamily="34" charset="0"/>
              <a:ea typeface="Meiryo UI" panose="020B0604030504040204" pitchFamily="50" charset="-128"/>
              <a:cs typeface="+mn-cs"/>
            </a:endParaRPr>
          </a:p>
        </p:txBody>
      </p:sp>
      <p:sp>
        <p:nvSpPr>
          <p:cNvPr id="8" name="正方形/長方形 7">
            <a:extLst>
              <a:ext uri="{FF2B5EF4-FFF2-40B4-BE49-F238E27FC236}">
                <a16:creationId xmlns:a16="http://schemas.microsoft.com/office/drawing/2014/main" id="{DF494CA2-526C-4511-20AA-A4EB1B108AA5}"/>
              </a:ext>
            </a:extLst>
          </p:cNvPr>
          <p:cNvSpPr/>
          <p:nvPr/>
        </p:nvSpPr>
        <p:spPr>
          <a:xfrm>
            <a:off x="838200" y="1334466"/>
            <a:ext cx="1296000" cy="5039699"/>
          </a:xfrm>
          <a:prstGeom prst="rect">
            <a:avLst/>
          </a:prstGeom>
          <a:solidFill>
            <a:schemeClr val="tx2">
              <a:lumMod val="75000"/>
              <a:lumOff val="25000"/>
            </a:schemeClr>
          </a:solidFill>
          <a:ln w="9525" cap="rnd" cmpd="sng" algn="ctr">
            <a:solidFill>
              <a:schemeClr val="tx2">
                <a:lumMod val="75000"/>
                <a:lumOff val="2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kumimoji="1" lang="ja-JP" altLang="en-US" sz="1800" b="0" i="0" u="none" strike="noStrike" kern="1200" cap="none" spc="0" normalizeH="0" baseline="0" noProof="0">
                <a:ln>
                  <a:noFill/>
                </a:ln>
                <a:solidFill>
                  <a:srgbClr val="FFFFFF"/>
                </a:solidFill>
                <a:effectLst/>
                <a:uLnTx/>
                <a:uFillTx/>
                <a:latin typeface="Trebuchet MS" panose="020B0603020202020204" pitchFamily="34" charset="0"/>
                <a:ea typeface="Meiryo UI" panose="020B0604030504040204" pitchFamily="50" charset="-128"/>
                <a:cs typeface="+mn-cs"/>
              </a:rPr>
              <a:t>評価方法</a:t>
            </a:r>
            <a:endParaRPr kumimoji="1" lang="en-US" altLang="ja-JP" sz="1800" b="0" i="0" u="none" strike="noStrike" kern="1200" cap="none" spc="0" normalizeH="0" baseline="0" noProof="0">
              <a:ln>
                <a:noFill/>
              </a:ln>
              <a:solidFill>
                <a:srgbClr val="FFFFFF"/>
              </a:solidFill>
              <a:effectLst/>
              <a:uLnTx/>
              <a:uFillTx/>
              <a:latin typeface="Trebuchet MS" panose="020B0603020202020204" pitchFamily="34" charset="0"/>
              <a:ea typeface="Meiryo UI" panose="020B0604030504040204" pitchFamily="50" charset="-128"/>
              <a:cs typeface="+mn-cs"/>
            </a:endParaRPr>
          </a:p>
        </p:txBody>
      </p:sp>
    </p:spTree>
    <p:extLst>
      <p:ext uri="{BB962C8B-B14F-4D97-AF65-F5344CB8AC3E}">
        <p14:creationId xmlns:p14="http://schemas.microsoft.com/office/powerpoint/2010/main" val="4820439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9BF74-1496-D0EF-E087-0FC9BFCA77A6}"/>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70D67C3-5795-10DE-CB69-0384EA2C40C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04" imgH="405" progId="TCLayout.ActiveDocument.1">
                  <p:embed/>
                </p:oleObj>
              </mc:Choice>
              <mc:Fallback>
                <p:oleObj name="think-cellスライド" r:id="rId3" imgW="404" imgH="405" progId="TCLayout.ActiveDocument.1">
                  <p:embed/>
                  <p:pic>
                    <p:nvPicPr>
                      <p:cNvPr id="3" name="think-cell data - do not delete" hidden="1">
                        <a:extLst>
                          <a:ext uri="{FF2B5EF4-FFF2-40B4-BE49-F238E27FC236}">
                            <a16:creationId xmlns:a16="http://schemas.microsoft.com/office/drawing/2014/main" id="{170D67C3-5795-10DE-CB69-0384EA2C40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5E6FC8E3-6F20-BB92-3BDC-8EF42A858668}"/>
              </a:ext>
            </a:extLst>
          </p:cNvPr>
          <p:cNvSpPr>
            <a:spLocks noGrp="1"/>
          </p:cNvSpPr>
          <p:nvPr>
            <p:ph type="title"/>
          </p:nvPr>
        </p:nvSpPr>
        <p:spPr>
          <a:xfrm>
            <a:off x="838200" y="57350"/>
            <a:ext cx="10515600" cy="668586"/>
          </a:xfrm>
        </p:spPr>
        <p:txBody>
          <a:bodyPr vert="horz">
            <a:normAutofit fontScale="90000"/>
          </a:bodyPr>
          <a:lstStyle/>
          <a:p>
            <a:r>
              <a:rPr kumimoji="1" lang="ja-JP" altLang="en-US" dirty="0">
                <a:latin typeface="Trebuchet MS" panose="020B0603020202020204" pitchFamily="34" charset="0"/>
                <a:ea typeface="Meiryo UI" panose="020B0604030504040204" pitchFamily="50" charset="-128"/>
              </a:rPr>
              <a:t>対策技術について </a:t>
            </a:r>
            <a:r>
              <a:rPr kumimoji="1" lang="en-US" altLang="ja-JP" dirty="0">
                <a:latin typeface="Trebuchet MS" panose="020B0603020202020204" pitchFamily="34" charset="0"/>
                <a:ea typeface="Meiryo UI" panose="020B0604030504040204" pitchFamily="50" charset="-128"/>
              </a:rPr>
              <a:t>(5/5)</a:t>
            </a:r>
            <a:endParaRPr kumimoji="1" lang="en-US" dirty="0">
              <a:latin typeface="Trebuchet MS" panose="020B0603020202020204" pitchFamily="34" charset="0"/>
              <a:ea typeface="Meiryo UI" panose="020B0604030504040204" pitchFamily="50" charset="-128"/>
            </a:endParaRPr>
          </a:p>
        </p:txBody>
      </p:sp>
      <p:grpSp>
        <p:nvGrpSpPr>
          <p:cNvPr id="16" name="グループ化 15">
            <a:extLst>
              <a:ext uri="{FF2B5EF4-FFF2-40B4-BE49-F238E27FC236}">
                <a16:creationId xmlns:a16="http://schemas.microsoft.com/office/drawing/2014/main" id="{FF0368EA-06D2-62DB-F9CB-E914996485E4}"/>
              </a:ext>
            </a:extLst>
          </p:cNvPr>
          <p:cNvGrpSpPr/>
          <p:nvPr/>
        </p:nvGrpSpPr>
        <p:grpSpPr>
          <a:xfrm>
            <a:off x="838200" y="739235"/>
            <a:ext cx="10626041" cy="336349"/>
            <a:chOff x="653442" y="1983554"/>
            <a:chExt cx="3469984" cy="336349"/>
          </a:xfrm>
        </p:grpSpPr>
        <p:sp>
          <p:nvSpPr>
            <p:cNvPr id="18" name="ee4pHeader2">
              <a:extLst>
                <a:ext uri="{FF2B5EF4-FFF2-40B4-BE49-F238E27FC236}">
                  <a16:creationId xmlns:a16="http://schemas.microsoft.com/office/drawing/2014/main" id="{D27F145C-24F7-DA97-96E8-4C4F2A7EB078}"/>
                </a:ext>
              </a:extLst>
            </p:cNvPr>
            <p:cNvSpPr txBox="1"/>
            <p:nvPr/>
          </p:nvSpPr>
          <p:spPr>
            <a:xfrm>
              <a:off x="653442" y="1983554"/>
              <a:ext cx="3151498" cy="307777"/>
            </a:xfrm>
            <a:prstGeom prst="rect">
              <a:avLst/>
            </a:prstGeom>
          </p:spPr>
          <p:txBody>
            <a:bodyPr vert="horz" wrap="square" lIns="0" tIns="0" rIns="0" bIns="0" rtlCol="0" anchor="b"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2000" b="0" i="0" u="none" strike="noStrike" kern="1200" cap="none" spc="0" normalizeH="0" baseline="0" noProof="0" dirty="0">
                  <a:ln>
                    <a:noFill/>
                  </a:ln>
                  <a:effectLst/>
                  <a:uLnTx/>
                  <a:uFillTx/>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対策技術の評価方法</a:t>
              </a:r>
              <a:endParaRPr kumimoji="0" lang="en-US" altLang="ja-JP" sz="2000" b="0" i="0" u="none" strike="noStrike" kern="1200" cap="none" spc="0" normalizeH="0" baseline="0" noProof="0" dirty="0">
                <a:ln>
                  <a:noFill/>
                </a:ln>
                <a:effectLst/>
                <a:uLnTx/>
                <a:uFillTx/>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endParaRPr>
            </a:p>
          </p:txBody>
        </p:sp>
        <p:cxnSp>
          <p:nvCxnSpPr>
            <p:cNvPr id="19" name="Straight Connector 34">
              <a:extLst>
                <a:ext uri="{FF2B5EF4-FFF2-40B4-BE49-F238E27FC236}">
                  <a16:creationId xmlns:a16="http://schemas.microsoft.com/office/drawing/2014/main" id="{A3AF0681-BCA5-84A6-8258-CFDD571A16AD}"/>
                </a:ext>
              </a:extLst>
            </p:cNvPr>
            <p:cNvCxnSpPr>
              <a:cxnSpLocks/>
            </p:cNvCxnSpPr>
            <p:nvPr/>
          </p:nvCxnSpPr>
          <p:spPr>
            <a:xfrm>
              <a:off x="653442" y="2319903"/>
              <a:ext cx="3469984" cy="0"/>
            </a:xfrm>
            <a:prstGeom prst="line">
              <a:avLst/>
            </a:prstGeom>
            <a:ln w="9525" cap="flat"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2" name="正方形/長方形 11">
            <a:extLst>
              <a:ext uri="{FF2B5EF4-FFF2-40B4-BE49-F238E27FC236}">
                <a16:creationId xmlns:a16="http://schemas.microsoft.com/office/drawing/2014/main" id="{21534857-F1EA-E884-B82D-FBF8978184A3}"/>
              </a:ext>
            </a:extLst>
          </p:cNvPr>
          <p:cNvSpPr/>
          <p:nvPr/>
        </p:nvSpPr>
        <p:spPr>
          <a:xfrm>
            <a:off x="2324266" y="1104158"/>
            <a:ext cx="9169336" cy="5274018"/>
          </a:xfrm>
          <a:prstGeom prst="rect">
            <a:avLst/>
          </a:prstGeom>
          <a:noFill/>
          <a:ln w="9525" cap="rnd" cmpd="sng" algn="ctr">
            <a:solidFill>
              <a:srgbClr val="9A9A9A"/>
            </a:solidFill>
            <a:prstDash val="solid"/>
            <a:round/>
            <a:headEnd type="none" w="med" len="med"/>
            <a:tailEnd type="none" w="med" len="me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defRPr/>
            </a:pPr>
            <a:r>
              <a:rPr kumimoji="1" lang="ja-JP" altLang="en-US" sz="1600" b="1" dirty="0">
                <a:solidFill>
                  <a:schemeClr val="tx1"/>
                </a:solidFill>
                <a:latin typeface="メイリオ" panose="020B0604030504040204" pitchFamily="50" charset="-128"/>
                <a:ea typeface="メイリオ" panose="020B0604030504040204" pitchFamily="50" charset="-128"/>
              </a:rPr>
              <a:t>（</a:t>
            </a:r>
            <a:r>
              <a:rPr kumimoji="1" lang="en-US" altLang="ja-JP" sz="1600" b="1" dirty="0">
                <a:solidFill>
                  <a:schemeClr val="tx1"/>
                </a:solidFill>
                <a:latin typeface="メイリオ" panose="020B0604030504040204" pitchFamily="50" charset="-128"/>
                <a:ea typeface="メイリオ" panose="020B0604030504040204" pitchFamily="50" charset="-128"/>
              </a:rPr>
              <a:t>1</a:t>
            </a:r>
            <a:r>
              <a:rPr kumimoji="1" lang="ja-JP" altLang="en-US" sz="1600" b="1" dirty="0">
                <a:solidFill>
                  <a:schemeClr val="tx1"/>
                </a:solidFill>
                <a:latin typeface="メイリオ" panose="020B0604030504040204" pitchFamily="50" charset="-128"/>
                <a:ea typeface="メイリオ" panose="020B0604030504040204" pitchFamily="50" charset="-128"/>
              </a:rPr>
              <a:t>）</a:t>
            </a:r>
            <a:r>
              <a:rPr lang="ja-JP" altLang="en-US" sz="1600" b="1" dirty="0">
                <a:solidFill>
                  <a:schemeClr val="tx1"/>
                </a:solidFill>
                <a:latin typeface="メイリオ" panose="020B0604030504040204" pitchFamily="50" charset="-128"/>
                <a:ea typeface="メイリオ" panose="020B0604030504040204" pitchFamily="50" charset="-128"/>
                <a:cs typeface="Meiryo UI" panose="020B0604030504040204" pitchFamily="34" charset="-128"/>
                <a:sym typeface="Meiryo UI" panose="020B0604030504040204" pitchFamily="50" charset="-128"/>
              </a:rPr>
              <a:t>誤診誘導（致死的ハルシネーション）</a:t>
            </a:r>
            <a:endParaRPr lang="en-US" altLang="ja-JP" sz="1600" b="1" dirty="0">
              <a:solidFill>
                <a:schemeClr val="tx1"/>
              </a:solidFill>
              <a:latin typeface="メイリオ" panose="020B0604030504040204" pitchFamily="50" charset="-128"/>
              <a:ea typeface="メイリオ" panose="020B0604030504040204" pitchFamily="50" charset="-128"/>
              <a:cs typeface="Meiryo UI" panose="020B0604030504040204" pitchFamily="34" charset="-128"/>
              <a:sym typeface="Meiryo UI" panose="020B0604030504040204" pitchFamily="50" charset="-128"/>
            </a:endParaRPr>
          </a:p>
          <a:p>
            <a:pPr>
              <a:defRPr/>
            </a:pPr>
            <a:r>
              <a:rPr lang="ja-JP" altLang="en-US" sz="1600" dirty="0">
                <a:solidFill>
                  <a:schemeClr val="tx1"/>
                </a:solidFill>
                <a:latin typeface="メイリオ" panose="020B0604030504040204" pitchFamily="50" charset="-128"/>
                <a:ea typeface="メイリオ" panose="020B0604030504040204" pitchFamily="50" charset="-128"/>
              </a:rPr>
              <a:t>本提案では、致死的な誤診誘導リスクに対し、</a:t>
            </a:r>
            <a:r>
              <a:rPr lang="ja-JP" altLang="en-US" sz="1600" b="1" dirty="0">
                <a:solidFill>
                  <a:srgbClr val="C00000"/>
                </a:solidFill>
                <a:latin typeface="メイリオ" panose="020B0604030504040204" pitchFamily="50" charset="-128"/>
                <a:ea typeface="メイリオ" panose="020B0604030504040204" pitchFamily="50" charset="-128"/>
              </a:rPr>
              <a:t>生成根拠の提示率（</a:t>
            </a:r>
            <a:r>
              <a:rPr lang="en-US" altLang="ja-JP" sz="1600" b="1" dirty="0">
                <a:solidFill>
                  <a:srgbClr val="C00000"/>
                </a:solidFill>
                <a:latin typeface="メイリオ" panose="020B0604030504040204" pitchFamily="50" charset="-128"/>
                <a:ea typeface="メイリオ" panose="020B0604030504040204" pitchFamily="50" charset="-128"/>
              </a:rPr>
              <a:t>RAG</a:t>
            </a:r>
            <a:r>
              <a:rPr lang="ja-JP" altLang="en-US" sz="1600" b="1" dirty="0">
                <a:solidFill>
                  <a:srgbClr val="C00000"/>
                </a:solidFill>
                <a:latin typeface="メイリオ" panose="020B0604030504040204" pitchFamily="50" charset="-128"/>
                <a:ea typeface="メイリオ" panose="020B0604030504040204" pitchFamily="50" charset="-128"/>
              </a:rPr>
              <a:t>）、診療プロセスの整合性（</a:t>
            </a:r>
            <a:r>
              <a:rPr lang="en-US" altLang="ja-JP" sz="1600" b="1" dirty="0">
                <a:solidFill>
                  <a:srgbClr val="C00000"/>
                </a:solidFill>
                <a:latin typeface="メイリオ" panose="020B0604030504040204" pitchFamily="50" charset="-128"/>
                <a:ea typeface="メイリオ" panose="020B0604030504040204" pitchFamily="50" charset="-128"/>
              </a:rPr>
              <a:t>A/P</a:t>
            </a:r>
            <a:r>
              <a:rPr lang="ja-JP" altLang="en-US" sz="1600" b="1" dirty="0">
                <a:solidFill>
                  <a:srgbClr val="C00000"/>
                </a:solidFill>
                <a:latin typeface="メイリオ" panose="020B0604030504040204" pitchFamily="50" charset="-128"/>
                <a:ea typeface="メイリオ" panose="020B0604030504040204" pitchFamily="50" charset="-128"/>
              </a:rPr>
              <a:t>）、および医師の納得度を用いて多面的に評価する。</a:t>
            </a:r>
            <a:r>
              <a:rPr lang="ja-JP" altLang="en-US" sz="1600" dirty="0">
                <a:solidFill>
                  <a:schemeClr val="tx1"/>
                </a:solidFill>
                <a:latin typeface="メイリオ" panose="020B0604030504040204" pitchFamily="50" charset="-128"/>
                <a:ea typeface="メイリオ" panose="020B0604030504040204" pitchFamily="50" charset="-128"/>
              </a:rPr>
              <a:t>いずれも専門医の評価・コンセンサスを基準とし、明確な正解ラベルが定義可能である点で信頼性が高い。さらに、臨床現場での実装や教育にも応用可能なため、妥当性・再現性のある指標設計といえる。</a:t>
            </a:r>
          </a:p>
          <a:p>
            <a:pPr>
              <a:defRPr/>
            </a:pPr>
            <a:endParaRPr lang="en-US" altLang="ja-JP" sz="1600" dirty="0">
              <a:solidFill>
                <a:schemeClr val="tx1"/>
              </a:solidFill>
              <a:latin typeface="メイリオ" panose="020B0604030504040204" pitchFamily="50" charset="-128"/>
              <a:ea typeface="メイリオ" panose="020B0604030504040204" pitchFamily="50" charset="-128"/>
            </a:endParaRPr>
          </a:p>
          <a:p>
            <a:pPr>
              <a:defRPr/>
            </a:pPr>
            <a:r>
              <a:rPr kumimoji="1" lang="ja-JP" altLang="en-US" sz="1600" b="1" dirty="0">
                <a:solidFill>
                  <a:prstClr val="black"/>
                </a:solidFill>
                <a:latin typeface="メイリオ" panose="020B0604030504040204" pitchFamily="50" charset="-128"/>
                <a:ea typeface="メイリオ" panose="020B0604030504040204" pitchFamily="50" charset="-128"/>
              </a:rPr>
              <a:t>（</a:t>
            </a:r>
            <a:r>
              <a:rPr kumimoji="1" lang="en-US" altLang="ja-JP" sz="1600" b="1" dirty="0">
                <a:solidFill>
                  <a:prstClr val="black"/>
                </a:solidFill>
                <a:latin typeface="メイリオ" panose="020B0604030504040204" pitchFamily="50" charset="-128"/>
                <a:ea typeface="メイリオ" panose="020B0604030504040204" pitchFamily="50" charset="-128"/>
              </a:rPr>
              <a:t>2</a:t>
            </a:r>
            <a:r>
              <a:rPr kumimoji="1" lang="ja-JP" altLang="en-US" sz="1600" b="1" dirty="0">
                <a:solidFill>
                  <a:prstClr val="black"/>
                </a:solidFill>
                <a:latin typeface="メイリオ" panose="020B0604030504040204" pitchFamily="50" charset="-128"/>
                <a:ea typeface="メイリオ" panose="020B0604030504040204" pitchFamily="50" charset="-128"/>
              </a:rPr>
              <a:t>）</a:t>
            </a:r>
            <a:r>
              <a:rPr lang="ja-JP" altLang="en-US" sz="1600" b="1" dirty="0">
                <a:solidFill>
                  <a:schemeClr val="tx1"/>
                </a:solidFill>
                <a:latin typeface="メイリオ" panose="020B0604030504040204" pitchFamily="50" charset="-128"/>
                <a:ea typeface="メイリオ" panose="020B0604030504040204" pitchFamily="50" charset="-128"/>
                <a:cs typeface="Meiryo UI" panose="020B0604030504040204" pitchFamily="34" charset="-128"/>
                <a:sym typeface="Meiryo UI" panose="020B0604030504040204" pitchFamily="50" charset="-128"/>
              </a:rPr>
              <a:t>個人情報流出（クラウド</a:t>
            </a:r>
            <a:r>
              <a:rPr lang="en-US" altLang="ja-JP" sz="1600" b="1" dirty="0">
                <a:solidFill>
                  <a:schemeClr val="tx1"/>
                </a:solidFill>
                <a:latin typeface="メイリオ" panose="020B0604030504040204" pitchFamily="50" charset="-128"/>
                <a:ea typeface="メイリオ" panose="020B0604030504040204" pitchFamily="50" charset="-128"/>
                <a:cs typeface="Meiryo UI" panose="020B0604030504040204" pitchFamily="34" charset="-128"/>
                <a:sym typeface="Meiryo UI" panose="020B0604030504040204" pitchFamily="50" charset="-128"/>
              </a:rPr>
              <a:t>LLM</a:t>
            </a:r>
            <a:r>
              <a:rPr lang="ja-JP" altLang="en-US" sz="1600" b="1" dirty="0">
                <a:solidFill>
                  <a:schemeClr val="tx1"/>
                </a:solidFill>
                <a:latin typeface="メイリオ" panose="020B0604030504040204" pitchFamily="50" charset="-128"/>
                <a:ea typeface="メイリオ" panose="020B0604030504040204" pitchFamily="50" charset="-128"/>
                <a:cs typeface="Meiryo UI" panose="020B0604030504040204" pitchFamily="34" charset="-128"/>
                <a:sym typeface="Meiryo UI" panose="020B0604030504040204" pitchFamily="50" charset="-128"/>
              </a:rPr>
              <a:t>送信による漏洩リスク）</a:t>
            </a:r>
            <a:endParaRPr kumimoji="1" lang="ja-JP" altLang="en-US" sz="1600" b="1" dirty="0">
              <a:solidFill>
                <a:schemeClr val="tx1"/>
              </a:solidFill>
              <a:latin typeface="メイリオ" panose="020B0604030504040204" pitchFamily="50" charset="-128"/>
              <a:ea typeface="メイリオ" panose="020B0604030504040204" pitchFamily="50" charset="-128"/>
            </a:endParaRPr>
          </a:p>
          <a:p>
            <a:pPr>
              <a:defRPr/>
            </a:pPr>
            <a:r>
              <a:rPr lang="ja-JP" altLang="en-US" sz="1600" dirty="0">
                <a:solidFill>
                  <a:schemeClr val="tx1"/>
                </a:solidFill>
                <a:latin typeface="メイリオ" panose="020B0604030504040204" pitchFamily="50" charset="-128"/>
                <a:ea typeface="メイリオ" panose="020B0604030504040204" pitchFamily="50" charset="-128"/>
              </a:rPr>
              <a:t>外部ネットワークのアクセスが遮断された環境は</a:t>
            </a:r>
            <a:r>
              <a:rPr lang="ja-JP" altLang="en-US" sz="1600" b="1" dirty="0">
                <a:solidFill>
                  <a:srgbClr val="C00000"/>
                </a:solidFill>
                <a:latin typeface="メイリオ" panose="020B0604030504040204" pitchFamily="50" charset="-128"/>
                <a:ea typeface="メイリオ" panose="020B0604030504040204" pitchFamily="50" charset="-128"/>
              </a:rPr>
              <a:t>実際の病院で想定される環境に近く、セキュリティも担保することができる</a:t>
            </a:r>
            <a:r>
              <a:rPr lang="ja-JP" altLang="en-US" sz="1600" dirty="0">
                <a:solidFill>
                  <a:schemeClr val="tx1"/>
                </a:solidFill>
                <a:latin typeface="メイリオ" panose="020B0604030504040204" pitchFamily="50" charset="-128"/>
                <a:ea typeface="メイリオ" panose="020B0604030504040204" pitchFamily="50" charset="-128"/>
              </a:rPr>
              <a:t>ことから、評価方法として妥当であると考えられる。また、一般的な</a:t>
            </a:r>
            <a:r>
              <a:rPr lang="en-US" altLang="ja-JP" sz="1600" dirty="0">
                <a:solidFill>
                  <a:schemeClr val="tx1"/>
                </a:solidFill>
                <a:latin typeface="メイリオ" panose="020B0604030504040204" pitchFamily="50" charset="-128"/>
                <a:ea typeface="メイリオ" panose="020B0604030504040204" pitchFamily="50" charset="-128"/>
              </a:rPr>
              <a:t>LLM</a:t>
            </a:r>
            <a:r>
              <a:rPr lang="ja-JP" altLang="en-US" sz="1600" dirty="0">
                <a:solidFill>
                  <a:schemeClr val="tx1"/>
                </a:solidFill>
                <a:latin typeface="メイリオ" panose="020B0604030504040204" pitchFamily="50" charset="-128"/>
                <a:ea typeface="メイリオ" panose="020B0604030504040204" pitchFamily="50" charset="-128"/>
              </a:rPr>
              <a:t>サービスのユーザビリティとして重要であるレスポンス速度を検証することで実用的なシステムであることを客観的に検証できる。</a:t>
            </a:r>
            <a:endParaRPr lang="en-US" altLang="ja-JP" sz="1600" dirty="0">
              <a:solidFill>
                <a:schemeClr val="tx1"/>
              </a:solidFill>
              <a:latin typeface="メイリオ" panose="020B0604030504040204" pitchFamily="50" charset="-128"/>
              <a:ea typeface="メイリオ" panose="020B0604030504040204" pitchFamily="50" charset="-128"/>
            </a:endParaRPr>
          </a:p>
          <a:p>
            <a:pPr>
              <a:defRPr/>
            </a:pPr>
            <a:endParaRPr lang="en-US" altLang="ja-JP" sz="1600" dirty="0">
              <a:solidFill>
                <a:schemeClr val="tx1"/>
              </a:solidFill>
              <a:latin typeface="メイリオ" panose="020B0604030504040204" pitchFamily="50" charset="-128"/>
              <a:ea typeface="メイリオ" panose="020B0604030504040204" pitchFamily="50" charset="-128"/>
            </a:endParaRPr>
          </a:p>
          <a:p>
            <a:pPr>
              <a:defRPr/>
            </a:pPr>
            <a:r>
              <a:rPr kumimoji="1" lang="ja-JP" altLang="en-US" sz="1600" b="1" dirty="0">
                <a:solidFill>
                  <a:prstClr val="black"/>
                </a:solidFill>
                <a:latin typeface="メイリオ" panose="020B0604030504040204" pitchFamily="50" charset="-128"/>
                <a:ea typeface="メイリオ" panose="020B0604030504040204" pitchFamily="50" charset="-128"/>
              </a:rPr>
              <a:t>（</a:t>
            </a:r>
            <a:r>
              <a:rPr kumimoji="1" lang="en-US" altLang="ja-JP" sz="1600" b="1" dirty="0">
                <a:solidFill>
                  <a:prstClr val="black"/>
                </a:solidFill>
                <a:latin typeface="メイリオ" panose="020B0604030504040204" pitchFamily="50" charset="-128"/>
                <a:ea typeface="メイリオ" panose="020B0604030504040204" pitchFamily="50" charset="-128"/>
              </a:rPr>
              <a:t>3</a:t>
            </a:r>
            <a:r>
              <a:rPr kumimoji="1" lang="ja-JP" altLang="en-US" sz="1600" b="1" dirty="0">
                <a:solidFill>
                  <a:prstClr val="black"/>
                </a:solidFill>
                <a:latin typeface="メイリオ" panose="020B0604030504040204" pitchFamily="50" charset="-128"/>
                <a:ea typeface="メイリオ" panose="020B0604030504040204" pitchFamily="50" charset="-128"/>
              </a:rPr>
              <a:t>）</a:t>
            </a:r>
            <a:r>
              <a:rPr lang="ja-JP" altLang="en-US" sz="1600" b="1" dirty="0">
                <a:solidFill>
                  <a:schemeClr val="tx1"/>
                </a:solidFill>
                <a:latin typeface="メイリオ" panose="020B0604030504040204" pitchFamily="50" charset="-128"/>
                <a:ea typeface="メイリオ" panose="020B0604030504040204" pitchFamily="50" charset="-128"/>
                <a:cs typeface="Meiryo UI" panose="020B0604030504040204" pitchFamily="34" charset="-128"/>
                <a:sym typeface="Meiryo UI" panose="020B0604030504040204" pitchFamily="50" charset="-128"/>
              </a:rPr>
              <a:t>医師</a:t>
            </a:r>
            <a:r>
              <a:rPr lang="en-US" altLang="ja-JP" sz="1600" b="1" dirty="0">
                <a:solidFill>
                  <a:schemeClr val="tx1"/>
                </a:solidFill>
                <a:latin typeface="メイリオ" panose="020B0604030504040204" pitchFamily="50" charset="-128"/>
                <a:ea typeface="メイリオ" panose="020B0604030504040204" pitchFamily="50" charset="-128"/>
                <a:cs typeface="Meiryo UI" panose="020B0604030504040204" pitchFamily="34" charset="-128"/>
                <a:sym typeface="Meiryo UI" panose="020B0604030504040204" pitchFamily="50" charset="-128"/>
              </a:rPr>
              <a:t>–</a:t>
            </a:r>
            <a:r>
              <a:rPr lang="ja-JP" altLang="en-US" sz="1600" b="1" dirty="0">
                <a:solidFill>
                  <a:schemeClr val="tx1"/>
                </a:solidFill>
                <a:latin typeface="メイリオ" panose="020B0604030504040204" pitchFamily="50" charset="-128"/>
                <a:ea typeface="メイリオ" panose="020B0604030504040204" pitchFamily="50" charset="-128"/>
                <a:cs typeface="Meiryo UI" panose="020B0604030504040204" pitchFamily="34" charset="-128"/>
                <a:sym typeface="Meiryo UI" panose="020B0604030504040204" pitchFamily="50" charset="-128"/>
              </a:rPr>
              <a:t>患者関係の変容</a:t>
            </a:r>
            <a:endParaRPr lang="en-US" altLang="ja-JP" sz="1600" b="1" dirty="0">
              <a:solidFill>
                <a:schemeClr val="tx1"/>
              </a:solidFill>
              <a:latin typeface="メイリオ" panose="020B0604030504040204" pitchFamily="50" charset="-128"/>
              <a:ea typeface="メイリオ" panose="020B0604030504040204" pitchFamily="50" charset="-128"/>
            </a:endParaRPr>
          </a:p>
          <a:p>
            <a:pPr>
              <a:defRPr/>
            </a:pPr>
            <a:r>
              <a:rPr lang="ja-JP" altLang="en-US" sz="1600" dirty="0">
                <a:solidFill>
                  <a:schemeClr val="tx1"/>
                </a:solidFill>
                <a:latin typeface="メイリオ" panose="020B0604030504040204" pitchFamily="50" charset="-128"/>
                <a:ea typeface="メイリオ" panose="020B0604030504040204" pitchFamily="50" charset="-128"/>
              </a:rPr>
              <a:t>信頼関係変容のリスクに対し、医師の確認操作反映率、時間測定、患者納得度のアンケートといった具体的な</a:t>
            </a:r>
            <a:r>
              <a:rPr lang="en-US" altLang="ja-JP" sz="1600" dirty="0">
                <a:solidFill>
                  <a:schemeClr val="tx1"/>
                </a:solidFill>
                <a:latin typeface="メイリオ" panose="020B0604030504040204" pitchFamily="50" charset="-128"/>
                <a:ea typeface="メイリオ" panose="020B0604030504040204" pitchFamily="50" charset="-128"/>
              </a:rPr>
              <a:t>UI</a:t>
            </a:r>
            <a:r>
              <a:rPr lang="ja-JP" altLang="en-US" sz="1600" dirty="0">
                <a:solidFill>
                  <a:schemeClr val="tx1"/>
                </a:solidFill>
                <a:latin typeface="メイリオ" panose="020B0604030504040204" pitchFamily="50" charset="-128"/>
                <a:ea typeface="メイリオ" panose="020B0604030504040204" pitchFamily="50" charset="-128"/>
              </a:rPr>
              <a:t>上の行動や反応を指標とする。評価は患者役</a:t>
            </a:r>
            <a:r>
              <a:rPr lang="en-US" altLang="ja-JP" sz="1600" dirty="0">
                <a:solidFill>
                  <a:schemeClr val="tx1"/>
                </a:solidFill>
                <a:latin typeface="メイリオ" panose="020B0604030504040204" pitchFamily="50" charset="-128"/>
                <a:ea typeface="メイリオ" panose="020B0604030504040204" pitchFamily="50" charset="-128"/>
              </a:rPr>
              <a:t>10</a:t>
            </a:r>
            <a:r>
              <a:rPr lang="ja-JP" altLang="en-US" sz="1600" dirty="0">
                <a:solidFill>
                  <a:schemeClr val="tx1"/>
                </a:solidFill>
                <a:latin typeface="メイリオ" panose="020B0604030504040204" pitchFamily="50" charset="-128"/>
                <a:ea typeface="メイリオ" panose="020B0604030504040204" pitchFamily="50" charset="-128"/>
              </a:rPr>
              <a:t>名による盲検的なテストや定量調査を通じて実施され、客観的かつ再現性ある方法により効果検証を可能としている。また、</a:t>
            </a:r>
            <a:r>
              <a:rPr lang="ja-JP" altLang="en-US" sz="1600" b="1" dirty="0">
                <a:solidFill>
                  <a:srgbClr val="C00000"/>
                </a:solidFill>
                <a:latin typeface="メイリオ" panose="020B0604030504040204" pitchFamily="50" charset="-128"/>
                <a:ea typeface="メイリオ" panose="020B0604030504040204" pitchFamily="50" charset="-128"/>
              </a:rPr>
              <a:t>承認時間の分布を分析することで、形式的な確認に留まっていないかを検証し、医師の関与の実質性を評価する。</a:t>
            </a:r>
            <a:endParaRPr lang="en-US" altLang="ja-JP" sz="1600" dirty="0">
              <a:solidFill>
                <a:srgbClr val="C00000"/>
              </a:solidFill>
              <a:latin typeface="メイリオ" panose="020B0604030504040204" pitchFamily="50" charset="-128"/>
              <a:ea typeface="メイリオ" panose="020B0604030504040204" pitchFamily="50" charset="-128"/>
            </a:endParaRPr>
          </a:p>
        </p:txBody>
      </p:sp>
      <p:sp>
        <p:nvSpPr>
          <p:cNvPr id="14" name="正方形/長方形 13">
            <a:extLst>
              <a:ext uri="{FF2B5EF4-FFF2-40B4-BE49-F238E27FC236}">
                <a16:creationId xmlns:a16="http://schemas.microsoft.com/office/drawing/2014/main" id="{C567299D-8EFF-7326-585C-E6B02A8432FB}"/>
              </a:ext>
            </a:extLst>
          </p:cNvPr>
          <p:cNvSpPr/>
          <p:nvPr/>
        </p:nvSpPr>
        <p:spPr>
          <a:xfrm>
            <a:off x="838200" y="1104158"/>
            <a:ext cx="1296000" cy="5274018"/>
          </a:xfrm>
          <a:prstGeom prst="rect">
            <a:avLst/>
          </a:prstGeom>
          <a:solidFill>
            <a:schemeClr val="tx2">
              <a:lumMod val="75000"/>
              <a:lumOff val="25000"/>
            </a:schemeClr>
          </a:solidFill>
          <a:ln w="9525" cap="rnd" cmpd="sng" algn="ctr">
            <a:solidFill>
              <a:schemeClr val="tx2">
                <a:lumMod val="75000"/>
                <a:lumOff val="2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a:ln>
                  <a:noFill/>
                </a:ln>
                <a:solidFill>
                  <a:srgbClr val="FFFFFF"/>
                </a:solidFill>
                <a:effectLst/>
                <a:uLnTx/>
                <a:uFillTx/>
                <a:latin typeface="Trebuchet MS" panose="020B0603020202020204" pitchFamily="34" charset="0"/>
                <a:ea typeface="Meiryo UI" panose="020B0604030504040204" pitchFamily="50" charset="-128"/>
                <a:cs typeface="+mn-cs"/>
              </a:rPr>
              <a:t>評価方法の妥当性</a:t>
            </a:r>
            <a:endParaRPr kumimoji="1" lang="en-US" altLang="ja-JP" sz="1800" b="0" i="0" u="none" strike="noStrike" kern="1200" cap="none" spc="0" normalizeH="0" baseline="0" noProof="0">
              <a:ln>
                <a:noFill/>
              </a:ln>
              <a:solidFill>
                <a:srgbClr val="FFFFFF"/>
              </a:solidFill>
              <a:effectLst/>
              <a:uLnTx/>
              <a:uFillTx/>
              <a:latin typeface="Trebuchet MS" panose="020B0603020202020204" pitchFamily="34" charset="0"/>
              <a:ea typeface="Meiryo UI" panose="020B0604030504040204" pitchFamily="50" charset="-128"/>
              <a:cs typeface="+mn-cs"/>
            </a:endParaRPr>
          </a:p>
        </p:txBody>
      </p:sp>
    </p:spTree>
    <p:extLst>
      <p:ext uri="{BB962C8B-B14F-4D97-AF65-F5344CB8AC3E}">
        <p14:creationId xmlns:p14="http://schemas.microsoft.com/office/powerpoint/2010/main" val="31481920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A4916-23D5-DCFF-F2CB-A372EABAA572}"/>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A7CA391-3FF2-AEC5-E89F-34F9CD7BC11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04" imgH="405" progId="TCLayout.ActiveDocument.1">
                  <p:embed/>
                </p:oleObj>
              </mc:Choice>
              <mc:Fallback>
                <p:oleObj name="think-cellスライド" r:id="rId3" imgW="404" imgH="405" progId="TCLayout.ActiveDocument.1">
                  <p:embed/>
                  <p:pic>
                    <p:nvPicPr>
                      <p:cNvPr id="3" name="think-cell data - do not delete" hidden="1">
                        <a:extLst>
                          <a:ext uri="{FF2B5EF4-FFF2-40B4-BE49-F238E27FC236}">
                            <a16:creationId xmlns:a16="http://schemas.microsoft.com/office/drawing/2014/main" id="{DA7CA391-3FF2-AEC5-E89F-34F9CD7BC11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56FD60DE-9DBA-F6DC-0BB4-772D511213B0}"/>
              </a:ext>
            </a:extLst>
          </p:cNvPr>
          <p:cNvSpPr>
            <a:spLocks noGrp="1"/>
          </p:cNvSpPr>
          <p:nvPr>
            <p:ph type="title"/>
          </p:nvPr>
        </p:nvSpPr>
        <p:spPr>
          <a:xfrm>
            <a:off x="838200" y="28777"/>
            <a:ext cx="10515600" cy="704140"/>
          </a:xfrm>
        </p:spPr>
        <p:txBody>
          <a:bodyPr vert="horz"/>
          <a:lstStyle/>
          <a:p>
            <a:r>
              <a:rPr kumimoji="1" lang="ja-JP" altLang="en-US" dirty="0">
                <a:latin typeface="Trebuchet MS" panose="020B0603020202020204" pitchFamily="34" charset="0"/>
                <a:ea typeface="Meiryo UI" panose="020B0604030504040204" pitchFamily="50" charset="-128"/>
              </a:rPr>
              <a:t>提案内容の新規性</a:t>
            </a:r>
            <a:endParaRPr kumimoji="1" lang="en-US" dirty="0">
              <a:latin typeface="Trebuchet MS" panose="020B0603020202020204" pitchFamily="34" charset="0"/>
              <a:ea typeface="Meiryo UI" panose="020B0604030504040204" pitchFamily="50" charset="-128"/>
            </a:endParaRPr>
          </a:p>
        </p:txBody>
      </p:sp>
      <p:grpSp>
        <p:nvGrpSpPr>
          <p:cNvPr id="5" name="グループ化 4">
            <a:extLst>
              <a:ext uri="{FF2B5EF4-FFF2-40B4-BE49-F238E27FC236}">
                <a16:creationId xmlns:a16="http://schemas.microsoft.com/office/drawing/2014/main" id="{5F55E863-4CBF-2251-3FB4-3A4BA37FE663}"/>
              </a:ext>
            </a:extLst>
          </p:cNvPr>
          <p:cNvGrpSpPr/>
          <p:nvPr/>
        </p:nvGrpSpPr>
        <p:grpSpPr>
          <a:xfrm>
            <a:off x="838200" y="862024"/>
            <a:ext cx="10626041" cy="336349"/>
            <a:chOff x="653442" y="1983554"/>
            <a:chExt cx="3469984" cy="336349"/>
          </a:xfrm>
        </p:grpSpPr>
        <p:sp>
          <p:nvSpPr>
            <p:cNvPr id="6" name="ee4pHeader2">
              <a:extLst>
                <a:ext uri="{FF2B5EF4-FFF2-40B4-BE49-F238E27FC236}">
                  <a16:creationId xmlns:a16="http://schemas.microsoft.com/office/drawing/2014/main" id="{15BA78F5-47F6-280D-AD29-54536E6DCA05}"/>
                </a:ext>
              </a:extLst>
            </p:cNvPr>
            <p:cNvSpPr txBox="1"/>
            <p:nvPr/>
          </p:nvSpPr>
          <p:spPr>
            <a:xfrm>
              <a:off x="653442" y="1983554"/>
              <a:ext cx="3151498" cy="307777"/>
            </a:xfrm>
            <a:prstGeom prst="rect">
              <a:avLst/>
            </a:prstGeom>
          </p:spPr>
          <p:txBody>
            <a:bodyPr vert="horz" wrap="square" lIns="0" tIns="0" rIns="0" bIns="0" rtlCol="0" anchor="b"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2000" b="0" i="0" u="none" strike="noStrike" kern="1200" cap="none" spc="0" normalizeH="0" baseline="0" noProof="0" dirty="0">
                  <a:ln>
                    <a:noFill/>
                  </a:ln>
                  <a:effectLst/>
                  <a:uLnTx/>
                  <a:uFillTx/>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提案内容の新規性</a:t>
              </a:r>
              <a:endParaRPr kumimoji="0" lang="en-US" altLang="ja-JP" sz="2000" b="0" i="0" u="none" strike="noStrike" kern="1200" cap="none" spc="0" normalizeH="0" baseline="0" noProof="0" dirty="0">
                <a:ln>
                  <a:noFill/>
                </a:ln>
                <a:effectLst/>
                <a:uLnTx/>
                <a:uFillTx/>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endParaRPr>
            </a:p>
          </p:txBody>
        </p:sp>
        <p:cxnSp>
          <p:nvCxnSpPr>
            <p:cNvPr id="7" name="Straight Connector 34">
              <a:extLst>
                <a:ext uri="{FF2B5EF4-FFF2-40B4-BE49-F238E27FC236}">
                  <a16:creationId xmlns:a16="http://schemas.microsoft.com/office/drawing/2014/main" id="{21441CC2-BF15-3F9B-BFD3-24604894570C}"/>
                </a:ext>
              </a:extLst>
            </p:cNvPr>
            <p:cNvCxnSpPr>
              <a:cxnSpLocks/>
            </p:cNvCxnSpPr>
            <p:nvPr/>
          </p:nvCxnSpPr>
          <p:spPr>
            <a:xfrm>
              <a:off x="653442" y="2319903"/>
              <a:ext cx="3469984" cy="0"/>
            </a:xfrm>
            <a:prstGeom prst="line">
              <a:avLst/>
            </a:prstGeom>
            <a:ln w="9525" cap="flat"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1" name="正方形/長方形 10">
            <a:extLst>
              <a:ext uri="{FF2B5EF4-FFF2-40B4-BE49-F238E27FC236}">
                <a16:creationId xmlns:a16="http://schemas.microsoft.com/office/drawing/2014/main" id="{293CFC9B-6FE5-56D9-7582-C37249EF13E8}"/>
              </a:ext>
            </a:extLst>
          </p:cNvPr>
          <p:cNvSpPr/>
          <p:nvPr/>
        </p:nvSpPr>
        <p:spPr>
          <a:xfrm>
            <a:off x="698015" y="1292589"/>
            <a:ext cx="10937899" cy="5085586"/>
          </a:xfrm>
          <a:prstGeom prst="rect">
            <a:avLst/>
          </a:prstGeom>
          <a:noFill/>
          <a:ln w="9525" cap="rnd" cmpd="sng" algn="ctr">
            <a:solidFill>
              <a:srgbClr val="9A9A9A"/>
            </a:solidFill>
            <a:prstDash val="solid"/>
            <a:round/>
            <a:headEnd type="none" w="med" len="med"/>
            <a:tailEnd type="none" w="med" len="me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ja-JP" altLang="en-US" sz="1600" dirty="0">
                <a:solidFill>
                  <a:schemeClr val="tx1"/>
                </a:solidFill>
                <a:latin typeface="メイリオ" panose="020B0604030504040204" pitchFamily="50" charset="-128"/>
                <a:ea typeface="メイリオ" panose="020B0604030504040204" pitchFamily="50" charset="-128"/>
              </a:rPr>
              <a:t>本提案の新規性は、</a:t>
            </a:r>
            <a:br>
              <a:rPr lang="ja-JP" altLang="en-US" sz="1600" dirty="0">
                <a:solidFill>
                  <a:schemeClr val="tx1"/>
                </a:solidFill>
                <a:latin typeface="メイリオ" panose="020B0604030504040204" pitchFamily="50" charset="-128"/>
                <a:ea typeface="メイリオ" panose="020B0604030504040204" pitchFamily="50" charset="-128"/>
              </a:rPr>
            </a:br>
            <a:r>
              <a:rPr lang="ja-JP" altLang="en-US" sz="1600" dirty="0">
                <a:solidFill>
                  <a:schemeClr val="tx1"/>
                </a:solidFill>
                <a:latin typeface="メイリオ" panose="020B0604030504040204" pitchFamily="50" charset="-128"/>
                <a:ea typeface="メイリオ" panose="020B0604030504040204" pitchFamily="50" charset="-128"/>
              </a:rPr>
              <a:t>① 診療現場の運用に即した電子カルテ環境そのものをサンドボックス化して</a:t>
            </a:r>
            <a:r>
              <a:rPr lang="ja-JP" altLang="en-US" sz="1600" b="1" dirty="0">
                <a:solidFill>
                  <a:srgbClr val="C00000"/>
                </a:solidFill>
                <a:latin typeface="メイリオ" panose="020B0604030504040204" pitchFamily="50" charset="-128"/>
                <a:ea typeface="メイリオ" panose="020B0604030504040204" pitchFamily="50" charset="-128"/>
              </a:rPr>
              <a:t>実験的に公開</a:t>
            </a:r>
            <a:r>
              <a:rPr lang="ja-JP" altLang="en-US" sz="1600" dirty="0">
                <a:solidFill>
                  <a:schemeClr val="tx1"/>
                </a:solidFill>
                <a:latin typeface="メイリオ" panose="020B0604030504040204" pitchFamily="50" charset="-128"/>
                <a:ea typeface="メイリオ" panose="020B0604030504040204" pitchFamily="50" charset="-128"/>
              </a:rPr>
              <a:t>する点、</a:t>
            </a:r>
            <a:br>
              <a:rPr lang="ja-JP" altLang="en-US" sz="1600" dirty="0">
                <a:solidFill>
                  <a:schemeClr val="tx1"/>
                </a:solidFill>
                <a:latin typeface="メイリオ" panose="020B0604030504040204" pitchFamily="50" charset="-128"/>
                <a:ea typeface="メイリオ" panose="020B0604030504040204" pitchFamily="50" charset="-128"/>
              </a:rPr>
            </a:br>
            <a:r>
              <a:rPr lang="ja-JP" altLang="en-US" sz="1600" dirty="0">
                <a:solidFill>
                  <a:schemeClr val="tx1"/>
                </a:solidFill>
                <a:latin typeface="メイリオ" panose="020B0604030504040204" pitchFamily="50" charset="-128"/>
                <a:ea typeface="メイリオ" panose="020B0604030504040204" pitchFamily="50" charset="-128"/>
              </a:rPr>
              <a:t>② 医療</a:t>
            </a:r>
            <a:r>
              <a:rPr lang="en-US" altLang="ja-JP" sz="1600" dirty="0">
                <a:solidFill>
                  <a:schemeClr val="tx1"/>
                </a:solidFill>
                <a:latin typeface="メイリオ" panose="020B0604030504040204" pitchFamily="50" charset="-128"/>
                <a:ea typeface="メイリオ" panose="020B0604030504040204" pitchFamily="50" charset="-128"/>
              </a:rPr>
              <a:t>AI</a:t>
            </a:r>
            <a:r>
              <a:rPr lang="ja-JP" altLang="en-US" sz="1600" dirty="0">
                <a:solidFill>
                  <a:schemeClr val="tx1"/>
                </a:solidFill>
                <a:latin typeface="メイリオ" panose="020B0604030504040204" pitchFamily="50" charset="-128"/>
                <a:ea typeface="メイリオ" panose="020B0604030504040204" pitchFamily="50" charset="-128"/>
              </a:rPr>
              <a:t>に特有の誤診誘導リスクを</a:t>
            </a:r>
            <a:r>
              <a:rPr lang="ja-JP" altLang="en-US" sz="1600" b="1" dirty="0">
                <a:solidFill>
                  <a:srgbClr val="C00000"/>
                </a:solidFill>
                <a:latin typeface="メイリオ" panose="020B0604030504040204" pitchFamily="50" charset="-128"/>
                <a:ea typeface="メイリオ" panose="020B0604030504040204" pitchFamily="50" charset="-128"/>
              </a:rPr>
              <a:t>構造的かつ定量的に可視化する指標群を初めて体系化</a:t>
            </a:r>
            <a:r>
              <a:rPr lang="ja-JP" altLang="en-US" sz="1600" dirty="0">
                <a:solidFill>
                  <a:schemeClr val="tx1"/>
                </a:solidFill>
                <a:latin typeface="メイリオ" panose="020B0604030504040204" pitchFamily="50" charset="-128"/>
                <a:ea typeface="メイリオ" panose="020B0604030504040204" pitchFamily="50" charset="-128"/>
              </a:rPr>
              <a:t>する点、</a:t>
            </a:r>
            <a:br>
              <a:rPr lang="ja-JP" altLang="en-US" sz="1600" dirty="0">
                <a:solidFill>
                  <a:schemeClr val="tx1"/>
                </a:solidFill>
                <a:latin typeface="メイリオ" panose="020B0604030504040204" pitchFamily="50" charset="-128"/>
                <a:ea typeface="メイリオ" panose="020B0604030504040204" pitchFamily="50" charset="-128"/>
              </a:rPr>
            </a:br>
            <a:r>
              <a:rPr lang="ja-JP" altLang="en-US" sz="1600" dirty="0">
                <a:solidFill>
                  <a:schemeClr val="tx1"/>
                </a:solidFill>
                <a:latin typeface="メイリオ" panose="020B0604030504040204" pitchFamily="50" charset="-128"/>
                <a:ea typeface="メイリオ" panose="020B0604030504040204" pitchFamily="50" charset="-128"/>
              </a:rPr>
              <a:t>③ 生成</a:t>
            </a:r>
            <a:r>
              <a:rPr lang="en-US" altLang="ja-JP" sz="1600" dirty="0">
                <a:solidFill>
                  <a:schemeClr val="tx1"/>
                </a:solidFill>
                <a:latin typeface="メイリオ" panose="020B0604030504040204" pitchFamily="50" charset="-128"/>
                <a:ea typeface="メイリオ" panose="020B0604030504040204" pitchFamily="50" charset="-128"/>
              </a:rPr>
              <a:t>AI</a:t>
            </a:r>
            <a:r>
              <a:rPr lang="ja-JP" altLang="en-US" sz="1600" dirty="0">
                <a:solidFill>
                  <a:schemeClr val="tx1"/>
                </a:solidFill>
                <a:latin typeface="メイリオ" panose="020B0604030504040204" pitchFamily="50" charset="-128"/>
                <a:ea typeface="メイリオ" panose="020B0604030504040204" pitchFamily="50" charset="-128"/>
              </a:rPr>
              <a:t>の出力と医師の治療方針の整合性を</a:t>
            </a:r>
            <a:r>
              <a:rPr lang="ja-JP" altLang="en-US" sz="1600" b="1" dirty="0">
                <a:solidFill>
                  <a:srgbClr val="C00000"/>
                </a:solidFill>
                <a:latin typeface="メイリオ" panose="020B0604030504040204" pitchFamily="50" charset="-128"/>
                <a:ea typeface="メイリオ" panose="020B0604030504040204" pitchFamily="50" charset="-128"/>
              </a:rPr>
              <a:t>自動的に検証可能な指標として実装・提供</a:t>
            </a:r>
            <a:r>
              <a:rPr lang="ja-JP" altLang="en-US" sz="1600" dirty="0">
                <a:solidFill>
                  <a:schemeClr val="tx1"/>
                </a:solidFill>
                <a:latin typeface="メイリオ" panose="020B0604030504040204" pitchFamily="50" charset="-128"/>
                <a:ea typeface="メイリオ" panose="020B0604030504040204" pitchFamily="50" charset="-128"/>
              </a:rPr>
              <a:t>する点、の</a:t>
            </a:r>
            <a:r>
              <a:rPr lang="en-US" altLang="ja-JP" sz="1600" dirty="0">
                <a:solidFill>
                  <a:schemeClr val="tx1"/>
                </a:solidFill>
                <a:latin typeface="メイリオ" panose="020B0604030504040204" pitchFamily="50" charset="-128"/>
                <a:ea typeface="メイリオ" panose="020B0604030504040204" pitchFamily="50" charset="-128"/>
              </a:rPr>
              <a:t>3</a:t>
            </a:r>
            <a:r>
              <a:rPr lang="ja-JP" altLang="en-US" sz="1600" dirty="0">
                <a:solidFill>
                  <a:schemeClr val="tx1"/>
                </a:solidFill>
                <a:latin typeface="メイリオ" panose="020B0604030504040204" pitchFamily="50" charset="-128"/>
                <a:ea typeface="メイリオ" panose="020B0604030504040204" pitchFamily="50" charset="-128"/>
              </a:rPr>
              <a:t>点にある。</a:t>
            </a:r>
            <a:endParaRPr lang="en-US" altLang="ja-JP" sz="1600" dirty="0">
              <a:solidFill>
                <a:schemeClr val="tx1"/>
              </a:solidFill>
              <a:latin typeface="メイリオ" panose="020B0604030504040204" pitchFamily="50" charset="-128"/>
              <a:ea typeface="メイリオ" panose="020B0604030504040204" pitchFamily="50" charset="-128"/>
            </a:endParaRPr>
          </a:p>
          <a:p>
            <a:endParaRPr lang="en-US" altLang="ja-JP" sz="1600" dirty="0">
              <a:solidFill>
                <a:schemeClr val="tx1"/>
              </a:solidFill>
              <a:latin typeface="メイリオ" panose="020B0604030504040204" pitchFamily="50" charset="-128"/>
              <a:ea typeface="メイリオ" panose="020B0604030504040204" pitchFamily="50" charset="-128"/>
            </a:endParaRPr>
          </a:p>
          <a:p>
            <a:r>
              <a:rPr lang="ja-JP" altLang="en-US" sz="1600" dirty="0">
                <a:solidFill>
                  <a:schemeClr val="tx1"/>
                </a:solidFill>
                <a:latin typeface="メイリオ" panose="020B0604030504040204" pitchFamily="50" charset="-128"/>
                <a:ea typeface="メイリオ" panose="020B0604030504040204" pitchFamily="50" charset="-128"/>
              </a:rPr>
              <a:t>技術面では、電子カルテの</a:t>
            </a:r>
            <a:r>
              <a:rPr lang="en-US" altLang="ja-JP" sz="1600" dirty="0">
                <a:solidFill>
                  <a:schemeClr val="tx1"/>
                </a:solidFill>
                <a:latin typeface="メイリオ" panose="020B0604030504040204" pitchFamily="50" charset="-128"/>
                <a:ea typeface="メイリオ" panose="020B0604030504040204" pitchFamily="50" charset="-128"/>
              </a:rPr>
              <a:t>UI/UX</a:t>
            </a:r>
            <a:r>
              <a:rPr lang="ja-JP" altLang="en-US" sz="1600" dirty="0">
                <a:solidFill>
                  <a:schemeClr val="tx1"/>
                </a:solidFill>
                <a:latin typeface="メイリオ" panose="020B0604030504040204" pitchFamily="50" charset="-128"/>
                <a:ea typeface="メイリオ" panose="020B0604030504040204" pitchFamily="50" charset="-128"/>
              </a:rPr>
              <a:t>や構造、ソースコードを含む実行可能な全体設計を公開予定であり、生成</a:t>
            </a:r>
            <a:r>
              <a:rPr lang="en-US" altLang="ja-JP" sz="1600" dirty="0">
                <a:solidFill>
                  <a:schemeClr val="tx1"/>
                </a:solidFill>
                <a:latin typeface="メイリオ" panose="020B0604030504040204" pitchFamily="50" charset="-128"/>
                <a:ea typeface="メイリオ" panose="020B0604030504040204" pitchFamily="50" charset="-128"/>
              </a:rPr>
              <a:t>AI</a:t>
            </a:r>
            <a:r>
              <a:rPr lang="ja-JP" altLang="en-US" sz="1600" dirty="0">
                <a:solidFill>
                  <a:schemeClr val="tx1"/>
                </a:solidFill>
                <a:latin typeface="メイリオ" panose="020B0604030504040204" pitchFamily="50" charset="-128"/>
                <a:ea typeface="メイリオ" panose="020B0604030504040204" pitchFamily="50" charset="-128"/>
              </a:rPr>
              <a:t>の安全な社会実装に向けた</a:t>
            </a:r>
            <a:r>
              <a:rPr lang="ja-JP" altLang="en-US" sz="1600" b="1" dirty="0">
                <a:solidFill>
                  <a:srgbClr val="C00000"/>
                </a:solidFill>
                <a:latin typeface="メイリオ" panose="020B0604030504040204" pitchFamily="50" charset="-128"/>
                <a:ea typeface="メイリオ" panose="020B0604030504040204" pitchFamily="50" charset="-128"/>
              </a:rPr>
              <a:t>再現性の高い評価基盤を提供する。これにより、医療</a:t>
            </a:r>
            <a:r>
              <a:rPr lang="en-US" altLang="ja-JP" sz="1600" b="1" dirty="0">
                <a:solidFill>
                  <a:srgbClr val="C00000"/>
                </a:solidFill>
                <a:latin typeface="メイリオ" panose="020B0604030504040204" pitchFamily="50" charset="-128"/>
                <a:ea typeface="メイリオ" panose="020B0604030504040204" pitchFamily="50" charset="-128"/>
              </a:rPr>
              <a:t>AI</a:t>
            </a:r>
            <a:r>
              <a:rPr lang="ja-JP" altLang="en-US" sz="1600" b="1" dirty="0">
                <a:solidFill>
                  <a:srgbClr val="C00000"/>
                </a:solidFill>
                <a:latin typeface="メイリオ" panose="020B0604030504040204" pitchFamily="50" charset="-128"/>
                <a:ea typeface="メイリオ" panose="020B0604030504040204" pitchFamily="50" charset="-128"/>
              </a:rPr>
              <a:t>開発における透明性・客観性が高まり、診療現場での実証の加速が期待される。</a:t>
            </a:r>
            <a:endParaRPr lang="en-US" altLang="ja-JP" sz="1600" dirty="0">
              <a:solidFill>
                <a:srgbClr val="C00000"/>
              </a:solidFill>
              <a:latin typeface="メイリオ" panose="020B0604030504040204" pitchFamily="50" charset="-128"/>
              <a:ea typeface="メイリオ" panose="020B0604030504040204" pitchFamily="50" charset="-128"/>
            </a:endParaRPr>
          </a:p>
          <a:p>
            <a:endParaRPr lang="ja-JP" altLang="en-US" sz="1600" dirty="0">
              <a:solidFill>
                <a:schemeClr val="tx1"/>
              </a:solidFill>
              <a:latin typeface="メイリオ" panose="020B0604030504040204" pitchFamily="50" charset="-128"/>
              <a:ea typeface="メイリオ" panose="020B0604030504040204" pitchFamily="50" charset="-128"/>
            </a:endParaRPr>
          </a:p>
          <a:p>
            <a:r>
              <a:rPr lang="ja-JP" altLang="en-US" sz="1600" dirty="0">
                <a:solidFill>
                  <a:schemeClr val="tx1"/>
                </a:solidFill>
                <a:latin typeface="メイリオ" panose="020B0604030504040204" pitchFamily="50" charset="-128"/>
                <a:ea typeface="メイリオ" panose="020B0604030504040204" pitchFamily="50" charset="-128"/>
              </a:rPr>
              <a:t>リスク評価手法として、生成</a:t>
            </a:r>
            <a:r>
              <a:rPr lang="en-US" altLang="ja-JP" sz="1600" dirty="0">
                <a:solidFill>
                  <a:schemeClr val="tx1"/>
                </a:solidFill>
                <a:latin typeface="メイリオ" panose="020B0604030504040204" pitchFamily="50" charset="-128"/>
                <a:ea typeface="メイリオ" panose="020B0604030504040204" pitchFamily="50" charset="-128"/>
              </a:rPr>
              <a:t>AI</a:t>
            </a:r>
            <a:r>
              <a:rPr lang="ja-JP" altLang="en-US" sz="1600" dirty="0">
                <a:solidFill>
                  <a:schemeClr val="tx1"/>
                </a:solidFill>
                <a:latin typeface="メイリオ" panose="020B0604030504040204" pitchFamily="50" charset="-128"/>
                <a:ea typeface="メイリオ" panose="020B0604030504040204" pitchFamily="50" charset="-128"/>
              </a:rPr>
              <a:t>の出力を「診療録構造上の矛盾」および「医師の治療方針との不一致（</a:t>
            </a:r>
            <a:r>
              <a:rPr lang="en-US" altLang="ja-JP" sz="1600" dirty="0">
                <a:solidFill>
                  <a:schemeClr val="tx1"/>
                </a:solidFill>
                <a:latin typeface="メイリオ" panose="020B0604030504040204" pitchFamily="50" charset="-128"/>
                <a:ea typeface="メイリオ" panose="020B0604030504040204" pitchFamily="50" charset="-128"/>
              </a:rPr>
              <a:t>A–P</a:t>
            </a:r>
            <a:r>
              <a:rPr lang="ja-JP" altLang="en-US" sz="1600" dirty="0">
                <a:solidFill>
                  <a:schemeClr val="tx1"/>
                </a:solidFill>
                <a:latin typeface="メイリオ" panose="020B0604030504040204" pitchFamily="50" charset="-128"/>
                <a:ea typeface="メイリオ" panose="020B0604030504040204" pitchFamily="50" charset="-128"/>
              </a:rPr>
              <a:t>整合性）」といった定量指標で自動評価する手法を開発し、すべて公開予定である。これらは生成</a:t>
            </a:r>
            <a:r>
              <a:rPr lang="en-US" altLang="ja-JP" sz="1600" dirty="0">
                <a:solidFill>
                  <a:schemeClr val="tx1"/>
                </a:solidFill>
                <a:latin typeface="メイリオ" panose="020B0604030504040204" pitchFamily="50" charset="-128"/>
                <a:ea typeface="メイリオ" panose="020B0604030504040204" pitchFamily="50" charset="-128"/>
              </a:rPr>
              <a:t>AI</a:t>
            </a:r>
            <a:r>
              <a:rPr lang="ja-JP" altLang="en-US" sz="1600" dirty="0">
                <a:solidFill>
                  <a:schemeClr val="tx1"/>
                </a:solidFill>
                <a:latin typeface="メイリオ" panose="020B0604030504040204" pitchFamily="50" charset="-128"/>
                <a:ea typeface="メイリオ" panose="020B0604030504040204" pitchFamily="50" charset="-128"/>
              </a:rPr>
              <a:t>特有の曖昧さやハルシネーションを医療文脈で検知・制御する初の枠組みである。</a:t>
            </a:r>
            <a:endParaRPr lang="en-US" altLang="ja-JP" sz="1600" dirty="0">
              <a:solidFill>
                <a:schemeClr val="tx1"/>
              </a:solidFill>
              <a:latin typeface="メイリオ" panose="020B0604030504040204" pitchFamily="50" charset="-128"/>
              <a:ea typeface="メイリオ" panose="020B0604030504040204" pitchFamily="50" charset="-128"/>
            </a:endParaRPr>
          </a:p>
          <a:p>
            <a:endParaRPr lang="ja-JP" altLang="en-US" sz="1600" dirty="0">
              <a:solidFill>
                <a:schemeClr val="tx1"/>
              </a:solidFill>
              <a:latin typeface="メイリオ" panose="020B0604030504040204" pitchFamily="50" charset="-128"/>
              <a:ea typeface="メイリオ" panose="020B0604030504040204" pitchFamily="50" charset="-128"/>
            </a:endParaRPr>
          </a:p>
          <a:p>
            <a:r>
              <a:rPr lang="ja-JP" altLang="en-US" sz="1600" dirty="0">
                <a:solidFill>
                  <a:schemeClr val="tx1"/>
                </a:solidFill>
                <a:latin typeface="メイリオ" panose="020B0604030504040204" pitchFamily="50" charset="-128"/>
                <a:ea typeface="メイリオ" panose="020B0604030504040204" pitchFamily="50" charset="-128"/>
              </a:rPr>
              <a:t>また、これらのリスク指標や安全性担保技術は、構造化テンプレートと併せてソースコードとして</a:t>
            </a:r>
            <a:r>
              <a:rPr lang="en-US" altLang="ja-JP" sz="1600" dirty="0">
                <a:solidFill>
                  <a:schemeClr val="tx1"/>
                </a:solidFill>
                <a:latin typeface="メイリオ" panose="020B0604030504040204" pitchFamily="50" charset="-128"/>
                <a:ea typeface="メイリオ" panose="020B0604030504040204" pitchFamily="50" charset="-128"/>
              </a:rPr>
              <a:t>GitHub</a:t>
            </a:r>
            <a:r>
              <a:rPr lang="ja-JP" altLang="en-US" sz="1600" dirty="0">
                <a:solidFill>
                  <a:schemeClr val="tx1"/>
                </a:solidFill>
                <a:latin typeface="メイリオ" panose="020B0604030504040204" pitchFamily="50" charset="-128"/>
                <a:ea typeface="メイリオ" panose="020B0604030504040204" pitchFamily="50" charset="-128"/>
              </a:rPr>
              <a:t>で公開し、医療</a:t>
            </a:r>
            <a:r>
              <a:rPr lang="en-US" altLang="ja-JP" sz="1600" dirty="0">
                <a:solidFill>
                  <a:schemeClr val="tx1"/>
                </a:solidFill>
                <a:latin typeface="メイリオ" panose="020B0604030504040204" pitchFamily="50" charset="-128"/>
                <a:ea typeface="メイリオ" panose="020B0604030504040204" pitchFamily="50" charset="-128"/>
              </a:rPr>
              <a:t>DX</a:t>
            </a:r>
            <a:r>
              <a:rPr lang="ja-JP" altLang="en-US" sz="1600" dirty="0">
                <a:solidFill>
                  <a:schemeClr val="tx1"/>
                </a:solidFill>
                <a:latin typeface="メイリオ" panose="020B0604030504040204" pitchFamily="50" charset="-128"/>
                <a:ea typeface="メイリオ" panose="020B0604030504040204" pitchFamily="50" charset="-128"/>
              </a:rPr>
              <a:t>と</a:t>
            </a:r>
            <a:r>
              <a:rPr lang="en-US" altLang="ja-JP" sz="1600" dirty="0">
                <a:solidFill>
                  <a:schemeClr val="tx1"/>
                </a:solidFill>
                <a:latin typeface="メイリオ" panose="020B0604030504040204" pitchFamily="50" charset="-128"/>
                <a:ea typeface="メイリオ" panose="020B0604030504040204" pitchFamily="50" charset="-128"/>
              </a:rPr>
              <a:t>AI</a:t>
            </a:r>
            <a:r>
              <a:rPr lang="ja-JP" altLang="en-US" sz="1600" dirty="0">
                <a:solidFill>
                  <a:schemeClr val="tx1"/>
                </a:solidFill>
                <a:latin typeface="メイリオ" panose="020B0604030504040204" pitchFamily="50" charset="-128"/>
                <a:ea typeface="メイリオ" panose="020B0604030504040204" pitchFamily="50" charset="-128"/>
              </a:rPr>
              <a:t>ガバナンスの促進に貢献する。</a:t>
            </a:r>
          </a:p>
        </p:txBody>
      </p:sp>
    </p:spTree>
    <p:extLst>
      <p:ext uri="{BB962C8B-B14F-4D97-AF65-F5344CB8AC3E}">
        <p14:creationId xmlns:p14="http://schemas.microsoft.com/office/powerpoint/2010/main" val="28592392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E0601-2293-E69B-1273-2C0256806E59}"/>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F52062E-B4CA-3781-78F4-95AA3F751A5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04" imgH="405" progId="TCLayout.ActiveDocument.1">
                  <p:embed/>
                </p:oleObj>
              </mc:Choice>
              <mc:Fallback>
                <p:oleObj name="think-cellスライド" r:id="rId3" imgW="404" imgH="405" progId="TCLayout.ActiveDocument.1">
                  <p:embed/>
                  <p:pic>
                    <p:nvPicPr>
                      <p:cNvPr id="3" name="think-cell data - do not delete" hidden="1">
                        <a:extLst>
                          <a:ext uri="{FF2B5EF4-FFF2-40B4-BE49-F238E27FC236}">
                            <a16:creationId xmlns:a16="http://schemas.microsoft.com/office/drawing/2014/main" id="{CF52062E-B4CA-3781-78F4-95AA3F751A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6C126931-5CB4-D806-A7F7-5E115E769C26}"/>
              </a:ext>
            </a:extLst>
          </p:cNvPr>
          <p:cNvSpPr>
            <a:spLocks noGrp="1"/>
          </p:cNvSpPr>
          <p:nvPr>
            <p:ph type="title"/>
          </p:nvPr>
        </p:nvSpPr>
        <p:spPr>
          <a:xfrm>
            <a:off x="893420" y="28777"/>
            <a:ext cx="10515600" cy="725080"/>
          </a:xfrm>
        </p:spPr>
        <p:txBody>
          <a:bodyPr vert="horz"/>
          <a:lstStyle/>
          <a:p>
            <a:r>
              <a:rPr kumimoji="1" lang="ja-JP" altLang="en-US" dirty="0">
                <a:latin typeface="Trebuchet MS" panose="020B0603020202020204" pitchFamily="34" charset="0"/>
                <a:ea typeface="Meiryo UI" panose="020B0604030504040204" pitchFamily="50" charset="-128"/>
              </a:rPr>
              <a:t>成果の公開度</a:t>
            </a:r>
            <a:endParaRPr kumimoji="1" lang="en-US" dirty="0">
              <a:latin typeface="Trebuchet MS" panose="020B0603020202020204" pitchFamily="34" charset="0"/>
              <a:ea typeface="Meiryo UI" panose="020B0604030504040204" pitchFamily="50" charset="-128"/>
            </a:endParaRPr>
          </a:p>
        </p:txBody>
      </p:sp>
      <p:grpSp>
        <p:nvGrpSpPr>
          <p:cNvPr id="5" name="グループ化 4">
            <a:extLst>
              <a:ext uri="{FF2B5EF4-FFF2-40B4-BE49-F238E27FC236}">
                <a16:creationId xmlns:a16="http://schemas.microsoft.com/office/drawing/2014/main" id="{8D5AE4DF-19BD-6708-43E0-FBE33ED6864E}"/>
              </a:ext>
            </a:extLst>
          </p:cNvPr>
          <p:cNvGrpSpPr/>
          <p:nvPr/>
        </p:nvGrpSpPr>
        <p:grpSpPr>
          <a:xfrm>
            <a:off x="838199" y="700503"/>
            <a:ext cx="10626041" cy="336349"/>
            <a:chOff x="653442" y="1983554"/>
            <a:chExt cx="3469984" cy="336349"/>
          </a:xfrm>
        </p:grpSpPr>
        <p:sp>
          <p:nvSpPr>
            <p:cNvPr id="6" name="ee4pHeader2">
              <a:extLst>
                <a:ext uri="{FF2B5EF4-FFF2-40B4-BE49-F238E27FC236}">
                  <a16:creationId xmlns:a16="http://schemas.microsoft.com/office/drawing/2014/main" id="{3D6AB707-8781-1D58-26C5-5B3008D118E1}"/>
                </a:ext>
              </a:extLst>
            </p:cNvPr>
            <p:cNvSpPr txBox="1"/>
            <p:nvPr/>
          </p:nvSpPr>
          <p:spPr>
            <a:xfrm>
              <a:off x="653442" y="1983554"/>
              <a:ext cx="3151498" cy="307777"/>
            </a:xfrm>
            <a:prstGeom prst="rect">
              <a:avLst/>
            </a:prstGeom>
          </p:spPr>
          <p:txBody>
            <a:bodyPr vert="horz" wrap="square" lIns="0" tIns="0" rIns="0" bIns="0" rtlCol="0" anchor="b"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2000" b="0" i="0" u="none" strike="noStrike" kern="1200" cap="none" spc="0" normalizeH="0" baseline="0" noProof="0" dirty="0">
                  <a:ln>
                    <a:noFill/>
                  </a:ln>
                  <a:effectLst/>
                  <a:uLnTx/>
                  <a:uFillTx/>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応募内容における成果の公開</a:t>
              </a:r>
              <a:r>
                <a:rPr kumimoji="0" lang="ja-JP" altLang="en-US" sz="2000" b="0" i="0" u="none" kern="1200" cap="none" spc="0" normalizeH="0" baseline="0" noProof="0" dirty="0">
                  <a:ln>
                    <a:noFill/>
                  </a:ln>
                  <a:effectLst/>
                  <a:uLnTx/>
                  <a:uFillTx/>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度</a:t>
              </a:r>
              <a:endParaRPr kumimoji="0" lang="en-US" altLang="ja-JP" sz="2000" b="0" i="0" u="none" kern="1200" cap="none" spc="0" normalizeH="0" baseline="0" noProof="0" dirty="0">
                <a:ln>
                  <a:noFill/>
                </a:ln>
                <a:effectLst/>
                <a:uLnTx/>
                <a:uFillTx/>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endParaRPr>
            </a:p>
          </p:txBody>
        </p:sp>
        <p:cxnSp>
          <p:nvCxnSpPr>
            <p:cNvPr id="7" name="Straight Connector 34">
              <a:extLst>
                <a:ext uri="{FF2B5EF4-FFF2-40B4-BE49-F238E27FC236}">
                  <a16:creationId xmlns:a16="http://schemas.microsoft.com/office/drawing/2014/main" id="{5EAEA878-BCF9-9D02-649E-FE37B11BDCD6}"/>
                </a:ext>
              </a:extLst>
            </p:cNvPr>
            <p:cNvCxnSpPr>
              <a:cxnSpLocks/>
            </p:cNvCxnSpPr>
            <p:nvPr/>
          </p:nvCxnSpPr>
          <p:spPr>
            <a:xfrm>
              <a:off x="653442" y="2319903"/>
              <a:ext cx="3469984" cy="0"/>
            </a:xfrm>
            <a:prstGeom prst="line">
              <a:avLst/>
            </a:prstGeom>
            <a:ln w="9525" cap="flat"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1" name="正方形/長方形 10">
            <a:extLst>
              <a:ext uri="{FF2B5EF4-FFF2-40B4-BE49-F238E27FC236}">
                <a16:creationId xmlns:a16="http://schemas.microsoft.com/office/drawing/2014/main" id="{5C3A7974-E320-6461-368B-E51BAF15600B}"/>
              </a:ext>
            </a:extLst>
          </p:cNvPr>
          <p:cNvSpPr/>
          <p:nvPr/>
        </p:nvSpPr>
        <p:spPr>
          <a:xfrm>
            <a:off x="838198" y="1156262"/>
            <a:ext cx="10626041" cy="5672951"/>
          </a:xfrm>
          <a:prstGeom prst="rect">
            <a:avLst/>
          </a:prstGeom>
          <a:noFill/>
          <a:ln w="9525" cap="rnd" cmpd="sng" algn="ctr">
            <a:solidFill>
              <a:srgbClr val="9A9A9A"/>
            </a:solidFill>
            <a:prstDash val="solid"/>
            <a:round/>
            <a:headEnd type="none" w="med" len="med"/>
            <a:tailEnd type="none" w="med" len="me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ja-JP" altLang="en-US" sz="1600" dirty="0">
                <a:solidFill>
                  <a:schemeClr val="tx1"/>
                </a:solidFill>
                <a:latin typeface="メイリオ" panose="020B0604030504040204" pitchFamily="50" charset="-128"/>
                <a:ea typeface="メイリオ" panose="020B0604030504040204" pitchFamily="50" charset="-128"/>
              </a:rPr>
              <a:t>本プロジェクトでは、社会的信頼性と再現性を重視し、開発段階で得られた成果の多くを原則としてオープンソースで公開する。特に、生成</a:t>
            </a:r>
            <a:r>
              <a:rPr lang="en-US" altLang="ja-JP" sz="1600" dirty="0">
                <a:solidFill>
                  <a:schemeClr val="tx1"/>
                </a:solidFill>
                <a:latin typeface="メイリオ" panose="020B0604030504040204" pitchFamily="50" charset="-128"/>
                <a:ea typeface="メイリオ" panose="020B0604030504040204" pitchFamily="50" charset="-128"/>
              </a:rPr>
              <a:t>AI</a:t>
            </a:r>
            <a:r>
              <a:rPr lang="ja-JP" altLang="en-US" sz="1600" dirty="0">
                <a:solidFill>
                  <a:schemeClr val="tx1"/>
                </a:solidFill>
                <a:latin typeface="メイリオ" panose="020B0604030504040204" pitchFamily="50" charset="-128"/>
                <a:ea typeface="メイリオ" panose="020B0604030504040204" pitchFamily="50" charset="-128"/>
              </a:rPr>
              <a:t>と医療業務の接点となる</a:t>
            </a:r>
            <a:r>
              <a:rPr lang="ja-JP" altLang="en-US" sz="1600" b="1" dirty="0">
                <a:solidFill>
                  <a:srgbClr val="C00000"/>
                </a:solidFill>
                <a:latin typeface="メイリオ" panose="020B0604030504040204" pitchFamily="50" charset="-128"/>
                <a:ea typeface="メイリオ" panose="020B0604030504040204" pitchFamily="50" charset="-128"/>
              </a:rPr>
              <a:t>電子カルテ基盤については、開発用プロトタイプを</a:t>
            </a:r>
            <a:r>
              <a:rPr lang="en-US" altLang="ja-JP" sz="1600" b="1" dirty="0">
                <a:solidFill>
                  <a:srgbClr val="C00000"/>
                </a:solidFill>
                <a:latin typeface="メイリオ" panose="020B0604030504040204" pitchFamily="50" charset="-128"/>
                <a:ea typeface="メイリオ" panose="020B0604030504040204" pitchFamily="50" charset="-128"/>
              </a:rPr>
              <a:t>MIT</a:t>
            </a:r>
            <a:r>
              <a:rPr lang="ja-JP" altLang="en-US" sz="1600" b="1" dirty="0">
                <a:solidFill>
                  <a:srgbClr val="C00000"/>
                </a:solidFill>
                <a:latin typeface="メイリオ" panose="020B0604030504040204" pitchFamily="50" charset="-128"/>
                <a:ea typeface="メイリオ" panose="020B0604030504040204" pitchFamily="50" charset="-128"/>
              </a:rPr>
              <a:t>ライセンスにて</a:t>
            </a:r>
            <a:r>
              <a:rPr lang="en-US" altLang="ja-JP" sz="1600" b="1" dirty="0">
                <a:solidFill>
                  <a:srgbClr val="C00000"/>
                </a:solidFill>
                <a:latin typeface="メイリオ" panose="020B0604030504040204" pitchFamily="50" charset="-128"/>
                <a:ea typeface="メイリオ" panose="020B0604030504040204" pitchFamily="50" charset="-128"/>
              </a:rPr>
              <a:t>GitHub</a:t>
            </a:r>
            <a:r>
              <a:rPr lang="ja-JP" altLang="en-US" sz="1600" b="1" dirty="0">
                <a:solidFill>
                  <a:srgbClr val="C00000"/>
                </a:solidFill>
                <a:latin typeface="メイリオ" panose="020B0604030504040204" pitchFamily="50" charset="-128"/>
                <a:ea typeface="メイリオ" panose="020B0604030504040204" pitchFamily="50" charset="-128"/>
              </a:rPr>
              <a:t>上に公開</a:t>
            </a:r>
            <a:r>
              <a:rPr lang="ja-JP" altLang="en-US" sz="1600" dirty="0">
                <a:solidFill>
                  <a:schemeClr val="tx1"/>
                </a:solidFill>
                <a:latin typeface="メイリオ" panose="020B0604030504040204" pitchFamily="50" charset="-128"/>
                <a:ea typeface="メイリオ" panose="020B0604030504040204" pitchFamily="50" charset="-128"/>
              </a:rPr>
              <a:t>し、医療</a:t>
            </a:r>
            <a:r>
              <a:rPr lang="en-US" altLang="ja-JP" sz="1600" dirty="0">
                <a:solidFill>
                  <a:schemeClr val="tx1"/>
                </a:solidFill>
                <a:latin typeface="メイリオ" panose="020B0604030504040204" pitchFamily="50" charset="-128"/>
                <a:ea typeface="メイリオ" panose="020B0604030504040204" pitchFamily="50" charset="-128"/>
              </a:rPr>
              <a:t>AI</a:t>
            </a:r>
            <a:r>
              <a:rPr lang="ja-JP" altLang="en-US" sz="1600" dirty="0">
                <a:solidFill>
                  <a:schemeClr val="tx1"/>
                </a:solidFill>
                <a:latin typeface="メイリオ" panose="020B0604030504040204" pitchFamily="50" charset="-128"/>
                <a:ea typeface="メイリオ" panose="020B0604030504040204" pitchFamily="50" charset="-128"/>
              </a:rPr>
              <a:t>および医療</a:t>
            </a:r>
            <a:r>
              <a:rPr lang="en-US" altLang="ja-JP" sz="1600" dirty="0">
                <a:solidFill>
                  <a:schemeClr val="tx1"/>
                </a:solidFill>
                <a:latin typeface="メイリオ" panose="020B0604030504040204" pitchFamily="50" charset="-128"/>
                <a:ea typeface="メイリオ" panose="020B0604030504040204" pitchFamily="50" charset="-128"/>
              </a:rPr>
              <a:t>DX</a:t>
            </a:r>
            <a:r>
              <a:rPr lang="ja-JP" altLang="en-US" sz="1600" dirty="0">
                <a:solidFill>
                  <a:schemeClr val="tx1"/>
                </a:solidFill>
                <a:latin typeface="メイリオ" panose="020B0604030504040204" pitchFamily="50" charset="-128"/>
                <a:ea typeface="メイリオ" panose="020B0604030504040204" pitchFamily="50" charset="-128"/>
              </a:rPr>
              <a:t>の社会実装を加速させるための共有資源とすることを目指す。</a:t>
            </a:r>
          </a:p>
          <a:p>
            <a:endParaRPr lang="en-US" altLang="ja-JP" sz="1600" dirty="0">
              <a:solidFill>
                <a:schemeClr val="tx1"/>
              </a:solidFill>
              <a:latin typeface="メイリオ" panose="020B0604030504040204" pitchFamily="50" charset="-128"/>
              <a:ea typeface="メイリオ" panose="020B0604030504040204" pitchFamily="50" charset="-128"/>
            </a:endParaRPr>
          </a:p>
          <a:p>
            <a:r>
              <a:rPr lang="en-US" altLang="ja-JP" sz="1600" b="1" dirty="0">
                <a:solidFill>
                  <a:schemeClr val="tx1"/>
                </a:solidFill>
                <a:latin typeface="メイリオ" panose="020B0604030504040204" pitchFamily="50" charset="-128"/>
                <a:ea typeface="メイリオ" panose="020B0604030504040204" pitchFamily="50" charset="-128"/>
              </a:rPr>
              <a:t>【</a:t>
            </a:r>
            <a:r>
              <a:rPr lang="ja-JP" altLang="en-US" sz="1600" b="1" dirty="0">
                <a:solidFill>
                  <a:schemeClr val="tx1"/>
                </a:solidFill>
                <a:latin typeface="メイリオ" panose="020B0604030504040204" pitchFamily="50" charset="-128"/>
                <a:ea typeface="メイリオ" panose="020B0604030504040204" pitchFamily="50" charset="-128"/>
              </a:rPr>
              <a:t>電子カルテソースコード・サンドボックス環境</a:t>
            </a:r>
            <a:r>
              <a:rPr lang="en-US" altLang="ja-JP" sz="1600" b="1" dirty="0">
                <a:solidFill>
                  <a:schemeClr val="tx1"/>
                </a:solidFill>
                <a:latin typeface="メイリオ" panose="020B0604030504040204" pitchFamily="50" charset="-128"/>
                <a:ea typeface="メイリオ" panose="020B0604030504040204" pitchFamily="50" charset="-128"/>
              </a:rPr>
              <a:t>】</a:t>
            </a:r>
            <a:br>
              <a:rPr lang="en-US" altLang="ja-JP" sz="1600" dirty="0">
                <a:solidFill>
                  <a:schemeClr val="tx1"/>
                </a:solidFill>
                <a:latin typeface="メイリオ" panose="020B0604030504040204" pitchFamily="50" charset="-128"/>
                <a:ea typeface="メイリオ" panose="020B0604030504040204" pitchFamily="50" charset="-128"/>
              </a:rPr>
            </a:br>
            <a:r>
              <a:rPr lang="ja-JP" altLang="en-US" sz="1600" dirty="0">
                <a:solidFill>
                  <a:schemeClr val="tx1"/>
                </a:solidFill>
                <a:latin typeface="メイリオ" panose="020B0604030504040204" pitchFamily="50" charset="-128"/>
                <a:ea typeface="メイリオ" panose="020B0604030504040204" pitchFamily="50" charset="-128"/>
              </a:rPr>
              <a:t>本プロジェクトでは、生成</a:t>
            </a:r>
            <a:r>
              <a:rPr lang="en-US" altLang="ja-JP" sz="1600" dirty="0">
                <a:solidFill>
                  <a:schemeClr val="tx1"/>
                </a:solidFill>
                <a:latin typeface="メイリオ" panose="020B0604030504040204" pitchFamily="50" charset="-128"/>
                <a:ea typeface="メイリオ" panose="020B0604030504040204" pitchFamily="50" charset="-128"/>
              </a:rPr>
              <a:t>AI</a:t>
            </a:r>
            <a:r>
              <a:rPr lang="ja-JP" altLang="en-US" sz="1600" dirty="0">
                <a:solidFill>
                  <a:schemeClr val="tx1"/>
                </a:solidFill>
                <a:latin typeface="メイリオ" panose="020B0604030504040204" pitchFamily="50" charset="-128"/>
                <a:ea typeface="メイリオ" panose="020B0604030504040204" pitchFamily="50" charset="-128"/>
              </a:rPr>
              <a:t>を統合した次世代電子カルテの</a:t>
            </a:r>
            <a:r>
              <a:rPr lang="en-US" altLang="ja-JP" sz="1600" dirty="0">
                <a:solidFill>
                  <a:schemeClr val="tx1"/>
                </a:solidFill>
                <a:latin typeface="メイリオ" panose="020B0604030504040204" pitchFamily="50" charset="-128"/>
                <a:ea typeface="メイリオ" panose="020B0604030504040204" pitchFamily="50" charset="-128"/>
              </a:rPr>
              <a:t>UI/UX</a:t>
            </a:r>
            <a:r>
              <a:rPr lang="ja-JP" altLang="en-US" sz="1600" dirty="0">
                <a:solidFill>
                  <a:schemeClr val="tx1"/>
                </a:solidFill>
                <a:latin typeface="メイリオ" panose="020B0604030504040204" pitchFamily="50" charset="-128"/>
                <a:ea typeface="メイリオ" panose="020B0604030504040204" pitchFamily="50" charset="-128"/>
              </a:rPr>
              <a:t>および検証環境を開発し、その</a:t>
            </a:r>
            <a:r>
              <a:rPr lang="ja-JP" altLang="en-US" sz="1600" b="1" dirty="0">
                <a:solidFill>
                  <a:srgbClr val="C00000"/>
                </a:solidFill>
                <a:latin typeface="メイリオ" panose="020B0604030504040204" pitchFamily="50" charset="-128"/>
                <a:ea typeface="メイリオ" panose="020B0604030504040204" pitchFamily="50" charset="-128"/>
              </a:rPr>
              <a:t>開発用プロトタイプを</a:t>
            </a:r>
            <a:r>
              <a:rPr lang="en-US" altLang="ja-JP" sz="1600" b="1" dirty="0">
                <a:solidFill>
                  <a:srgbClr val="C00000"/>
                </a:solidFill>
                <a:latin typeface="メイリオ" panose="020B0604030504040204" pitchFamily="50" charset="-128"/>
                <a:ea typeface="メイリオ" panose="020B0604030504040204" pitchFamily="50" charset="-128"/>
              </a:rPr>
              <a:t>MIT</a:t>
            </a:r>
            <a:r>
              <a:rPr lang="ja-JP" altLang="en-US" sz="1600" b="1" dirty="0">
                <a:solidFill>
                  <a:srgbClr val="C00000"/>
                </a:solidFill>
                <a:latin typeface="メイリオ" panose="020B0604030504040204" pitchFamily="50" charset="-128"/>
                <a:ea typeface="メイリオ" panose="020B0604030504040204" pitchFamily="50" charset="-128"/>
              </a:rPr>
              <a:t>ライセンスで公開予定</a:t>
            </a:r>
            <a:r>
              <a:rPr lang="ja-JP" altLang="en-US" sz="1600" dirty="0">
                <a:solidFill>
                  <a:schemeClr val="tx1"/>
                </a:solidFill>
                <a:latin typeface="メイリオ" panose="020B0604030504040204" pitchFamily="50" charset="-128"/>
                <a:ea typeface="メイリオ" panose="020B0604030504040204" pitchFamily="50" charset="-128"/>
              </a:rPr>
              <a:t>である。</a:t>
            </a:r>
            <a:r>
              <a:rPr lang="en-US" altLang="ja-JP" sz="1600" dirty="0">
                <a:solidFill>
                  <a:schemeClr val="tx1"/>
                </a:solidFill>
                <a:latin typeface="メイリオ" panose="020B0604030504040204" pitchFamily="50" charset="-128"/>
                <a:ea typeface="メイリオ" panose="020B0604030504040204" pitchFamily="50" charset="-128"/>
              </a:rPr>
              <a:t>RAG</a:t>
            </a:r>
            <a:r>
              <a:rPr lang="ja-JP" altLang="en-US" sz="1600" dirty="0">
                <a:solidFill>
                  <a:schemeClr val="tx1"/>
                </a:solidFill>
                <a:latin typeface="メイリオ" panose="020B0604030504040204" pitchFamily="50" charset="-128"/>
                <a:ea typeface="メイリオ" panose="020B0604030504040204" pitchFamily="50" charset="-128"/>
              </a:rPr>
              <a:t>による事実補強、</a:t>
            </a:r>
            <a:r>
              <a:rPr lang="en-US" altLang="ja-JP" sz="1600" dirty="0">
                <a:solidFill>
                  <a:schemeClr val="tx1"/>
                </a:solidFill>
                <a:latin typeface="メイリオ" panose="020B0604030504040204" pitchFamily="50" charset="-128"/>
                <a:ea typeface="メイリオ" panose="020B0604030504040204" pitchFamily="50" charset="-128"/>
              </a:rPr>
              <a:t>A/P</a:t>
            </a:r>
            <a:r>
              <a:rPr lang="ja-JP" altLang="en-US" sz="1600" dirty="0">
                <a:solidFill>
                  <a:schemeClr val="tx1"/>
                </a:solidFill>
                <a:latin typeface="メイリオ" panose="020B0604030504040204" pitchFamily="50" charset="-128"/>
                <a:ea typeface="メイリオ" panose="020B0604030504040204" pitchFamily="50" charset="-128"/>
              </a:rPr>
              <a:t>整合性チェック、説明文の出典表示など、誤診・ハルシネーション対策を意識した機能を含めて設計・実装し、研究機関・医療機関・政策立案者による評価や応用研究を促進する。あわせて、フィードバックループやサンドボックス評価環境も整備し、継続的な改善と再学習に活用できる構成とする。</a:t>
            </a:r>
          </a:p>
          <a:p>
            <a:endParaRPr lang="en-US" altLang="ja-JP" sz="1600" dirty="0">
              <a:solidFill>
                <a:schemeClr val="tx1"/>
              </a:solidFill>
              <a:latin typeface="メイリオ" panose="020B0604030504040204" pitchFamily="50" charset="-128"/>
              <a:ea typeface="メイリオ" panose="020B0604030504040204" pitchFamily="50" charset="-128"/>
            </a:endParaRPr>
          </a:p>
          <a:p>
            <a:r>
              <a:rPr lang="en-US" altLang="ja-JP" sz="1600" b="1" dirty="0">
                <a:solidFill>
                  <a:schemeClr val="tx1"/>
                </a:solidFill>
                <a:latin typeface="メイリオ" panose="020B0604030504040204" pitchFamily="50" charset="-128"/>
                <a:ea typeface="メイリオ" panose="020B0604030504040204" pitchFamily="50" charset="-128"/>
              </a:rPr>
              <a:t>【</a:t>
            </a:r>
            <a:r>
              <a:rPr lang="ja-JP" altLang="en-US" sz="1600" b="1" dirty="0">
                <a:solidFill>
                  <a:schemeClr val="tx1"/>
                </a:solidFill>
                <a:latin typeface="メイリオ" panose="020B0604030504040204" pitchFamily="50" charset="-128"/>
                <a:ea typeface="メイリオ" panose="020B0604030504040204" pitchFamily="50" charset="-128"/>
              </a:rPr>
              <a:t>データセット・評価手法</a:t>
            </a:r>
            <a:r>
              <a:rPr lang="en-US" altLang="ja-JP" sz="1600" b="1" dirty="0">
                <a:solidFill>
                  <a:schemeClr val="tx1"/>
                </a:solidFill>
                <a:latin typeface="メイリオ" panose="020B0604030504040204" pitchFamily="50" charset="-128"/>
                <a:ea typeface="メイリオ" panose="020B0604030504040204" pitchFamily="50" charset="-128"/>
              </a:rPr>
              <a:t>】</a:t>
            </a:r>
            <a:br>
              <a:rPr lang="en-US" altLang="ja-JP" sz="1600" dirty="0">
                <a:solidFill>
                  <a:schemeClr val="tx1"/>
                </a:solidFill>
                <a:latin typeface="メイリオ" panose="020B0604030504040204" pitchFamily="50" charset="-128"/>
                <a:ea typeface="メイリオ" panose="020B0604030504040204" pitchFamily="50" charset="-128"/>
              </a:rPr>
            </a:br>
            <a:r>
              <a:rPr lang="ja-JP" altLang="en-US" sz="1600" dirty="0">
                <a:solidFill>
                  <a:schemeClr val="tx1"/>
                </a:solidFill>
                <a:latin typeface="メイリオ" panose="020B0604030504040204" pitchFamily="50" charset="-128"/>
                <a:ea typeface="メイリオ" panose="020B0604030504040204" pitchFamily="50" charset="-128"/>
              </a:rPr>
              <a:t>プロンプトと出力を匿名化・合成した</a:t>
            </a:r>
            <a:r>
              <a:rPr lang="ja-JP" altLang="en-US" sz="1600" b="1" dirty="0">
                <a:solidFill>
                  <a:srgbClr val="C00000"/>
                </a:solidFill>
                <a:latin typeface="メイリオ" panose="020B0604030504040204" pitchFamily="50" charset="-128"/>
                <a:ea typeface="メイリオ" panose="020B0604030504040204" pitchFamily="50" charset="-128"/>
              </a:rPr>
              <a:t>評価用データセットの一部を</a:t>
            </a:r>
            <a:r>
              <a:rPr lang="en-US" altLang="ja-JP" sz="1600" b="1" dirty="0">
                <a:solidFill>
                  <a:srgbClr val="C00000"/>
                </a:solidFill>
                <a:latin typeface="メイリオ" panose="020B0604030504040204" pitchFamily="50" charset="-128"/>
                <a:ea typeface="メイリオ" panose="020B0604030504040204" pitchFamily="50" charset="-128"/>
              </a:rPr>
              <a:t>CC</a:t>
            </a:r>
            <a:r>
              <a:rPr lang="ja-JP" altLang="en-US" sz="1600" b="1" dirty="0">
                <a:solidFill>
                  <a:srgbClr val="C00000"/>
                </a:solidFill>
                <a:latin typeface="メイリオ" panose="020B0604030504040204" pitchFamily="50" charset="-128"/>
                <a:ea typeface="メイリオ" panose="020B0604030504040204" pitchFamily="50" charset="-128"/>
              </a:rPr>
              <a:t>ライセンスで公開</a:t>
            </a:r>
            <a:r>
              <a:rPr lang="ja-JP" altLang="en-US" sz="1600" dirty="0">
                <a:solidFill>
                  <a:schemeClr val="tx1"/>
                </a:solidFill>
                <a:latin typeface="メイリオ" panose="020B0604030504040204" pitchFamily="50" charset="-128"/>
                <a:ea typeface="メイリオ" panose="020B0604030504040204" pitchFamily="50" charset="-128"/>
              </a:rPr>
              <a:t>する。評価手法としては、複数の医師による</a:t>
            </a:r>
            <a:r>
              <a:rPr lang="en-US" altLang="ja-JP" sz="1600" dirty="0">
                <a:solidFill>
                  <a:schemeClr val="tx1"/>
                </a:solidFill>
                <a:latin typeface="メイリオ" panose="020B0604030504040204" pitchFamily="50" charset="-128"/>
                <a:ea typeface="メイリオ" panose="020B0604030504040204" pitchFamily="50" charset="-128"/>
              </a:rPr>
              <a:t>3</a:t>
            </a:r>
            <a:r>
              <a:rPr lang="ja-JP" altLang="en-US" sz="1600" dirty="0">
                <a:solidFill>
                  <a:schemeClr val="tx1"/>
                </a:solidFill>
                <a:latin typeface="メイリオ" panose="020B0604030504040204" pitchFamily="50" charset="-128"/>
                <a:ea typeface="メイリオ" panose="020B0604030504040204" pitchFamily="50" charset="-128"/>
              </a:rPr>
              <a:t>軸スコア評価（正確性・根拠明示・臨床妥当性）、外部有識者による第三者評価、再現性を担保するスクリプト群などを含め、評価パッケージとして整備・公開する予定である。</a:t>
            </a:r>
          </a:p>
          <a:p>
            <a:endParaRPr lang="en-US" altLang="ja-JP" sz="1600" dirty="0">
              <a:solidFill>
                <a:schemeClr val="tx1"/>
              </a:solidFill>
              <a:latin typeface="メイリオ" panose="020B0604030504040204" pitchFamily="50" charset="-128"/>
              <a:ea typeface="メイリオ" panose="020B0604030504040204" pitchFamily="50" charset="-128"/>
            </a:endParaRPr>
          </a:p>
          <a:p>
            <a:r>
              <a:rPr lang="en-US" altLang="ja-JP" sz="1600" b="1" dirty="0">
                <a:solidFill>
                  <a:schemeClr val="tx1"/>
                </a:solidFill>
                <a:latin typeface="メイリオ" panose="020B0604030504040204" pitchFamily="50" charset="-128"/>
                <a:ea typeface="メイリオ" panose="020B0604030504040204" pitchFamily="50" charset="-128"/>
              </a:rPr>
              <a:t>【</a:t>
            </a:r>
            <a:r>
              <a:rPr lang="ja-JP" altLang="en-US" sz="1600" b="1" dirty="0">
                <a:solidFill>
                  <a:schemeClr val="tx1"/>
                </a:solidFill>
                <a:latin typeface="メイリオ" panose="020B0604030504040204" pitchFamily="50" charset="-128"/>
                <a:ea typeface="メイリオ" panose="020B0604030504040204" pitchFamily="50" charset="-128"/>
              </a:rPr>
              <a:t>論文・学会発表</a:t>
            </a:r>
            <a:r>
              <a:rPr lang="en-US" altLang="ja-JP" sz="1600" b="1" dirty="0">
                <a:solidFill>
                  <a:schemeClr val="tx1"/>
                </a:solidFill>
                <a:latin typeface="メイリオ" panose="020B0604030504040204" pitchFamily="50" charset="-128"/>
                <a:ea typeface="メイリオ" panose="020B0604030504040204" pitchFamily="50" charset="-128"/>
              </a:rPr>
              <a:t>】</a:t>
            </a:r>
            <a:br>
              <a:rPr lang="en-US" altLang="ja-JP" sz="1600" dirty="0">
                <a:solidFill>
                  <a:schemeClr val="tx1"/>
                </a:solidFill>
                <a:latin typeface="メイリオ" panose="020B0604030504040204" pitchFamily="50" charset="-128"/>
                <a:ea typeface="メイリオ" panose="020B0604030504040204" pitchFamily="50" charset="-128"/>
              </a:rPr>
            </a:br>
            <a:r>
              <a:rPr lang="en-US" altLang="ja-JP" sz="1600" dirty="0" err="1">
                <a:solidFill>
                  <a:schemeClr val="tx1"/>
                </a:solidFill>
                <a:latin typeface="メイリオ" panose="020B0604030504040204" pitchFamily="50" charset="-128"/>
                <a:ea typeface="メイリオ" panose="020B0604030504040204" pitchFamily="50" charset="-128"/>
              </a:rPr>
              <a:t>NeurIPS</a:t>
            </a:r>
            <a:r>
              <a:rPr lang="ja-JP" altLang="en-US" sz="1600" dirty="0">
                <a:solidFill>
                  <a:schemeClr val="tx1"/>
                </a:solidFill>
                <a:latin typeface="メイリオ" panose="020B0604030504040204" pitchFamily="50" charset="-128"/>
                <a:ea typeface="メイリオ" panose="020B0604030504040204" pitchFamily="50" charset="-128"/>
              </a:rPr>
              <a:t>、人工知能学会、医療情報学連合大会など国内外学会で成果を発信し、査読付き論文として公表する。</a:t>
            </a:r>
          </a:p>
          <a:p>
            <a:endParaRPr lang="en-US" altLang="ja-JP" sz="1600" dirty="0">
              <a:solidFill>
                <a:schemeClr val="tx1"/>
              </a:solidFill>
              <a:latin typeface="メイリオ" panose="020B0604030504040204" pitchFamily="50" charset="-128"/>
              <a:ea typeface="メイリオ" panose="020B0604030504040204" pitchFamily="50" charset="-128"/>
            </a:endParaRPr>
          </a:p>
          <a:p>
            <a:r>
              <a:rPr lang="en-US" altLang="ja-JP" sz="1600" b="1" dirty="0">
                <a:solidFill>
                  <a:schemeClr val="tx1"/>
                </a:solidFill>
                <a:latin typeface="メイリオ" panose="020B0604030504040204" pitchFamily="50" charset="-128"/>
                <a:ea typeface="メイリオ" panose="020B0604030504040204" pitchFamily="50" charset="-128"/>
              </a:rPr>
              <a:t>【</a:t>
            </a:r>
            <a:r>
              <a:rPr lang="ja-JP" altLang="en-US" sz="1600" b="1" dirty="0">
                <a:solidFill>
                  <a:schemeClr val="tx1"/>
                </a:solidFill>
                <a:latin typeface="メイリオ" panose="020B0604030504040204" pitchFamily="50" charset="-128"/>
                <a:ea typeface="メイリオ" panose="020B0604030504040204" pitchFamily="50" charset="-128"/>
              </a:rPr>
              <a:t>ライセンスと社会実装</a:t>
            </a:r>
            <a:r>
              <a:rPr lang="en-US" altLang="ja-JP" sz="1600" b="1" dirty="0">
                <a:solidFill>
                  <a:schemeClr val="tx1"/>
                </a:solidFill>
                <a:latin typeface="メイリオ" panose="020B0604030504040204" pitchFamily="50" charset="-128"/>
                <a:ea typeface="メイリオ" panose="020B0604030504040204" pitchFamily="50" charset="-128"/>
              </a:rPr>
              <a:t>】</a:t>
            </a:r>
            <a:br>
              <a:rPr lang="en-US" altLang="ja-JP" sz="1600" dirty="0">
                <a:solidFill>
                  <a:schemeClr val="tx1"/>
                </a:solidFill>
                <a:latin typeface="メイリオ" panose="020B0604030504040204" pitchFamily="50" charset="-128"/>
                <a:ea typeface="メイリオ" panose="020B0604030504040204" pitchFamily="50" charset="-128"/>
              </a:rPr>
            </a:br>
            <a:r>
              <a:rPr lang="ja-JP" altLang="en-US" sz="1600" dirty="0">
                <a:solidFill>
                  <a:schemeClr val="tx1"/>
                </a:solidFill>
                <a:latin typeface="メイリオ" panose="020B0604030504040204" pitchFamily="50" charset="-128"/>
                <a:ea typeface="メイリオ" panose="020B0604030504040204" pitchFamily="50" charset="-128"/>
              </a:rPr>
              <a:t>開発段階の成果物は</a:t>
            </a:r>
            <a:r>
              <a:rPr lang="en-US" altLang="ja-JP" sz="1600" dirty="0">
                <a:solidFill>
                  <a:schemeClr val="tx1"/>
                </a:solidFill>
                <a:latin typeface="メイリオ" panose="020B0604030504040204" pitchFamily="50" charset="-128"/>
                <a:ea typeface="メイリオ" panose="020B0604030504040204" pitchFamily="50" charset="-128"/>
              </a:rPr>
              <a:t>MIT</a:t>
            </a:r>
            <a:r>
              <a:rPr lang="ja-JP" altLang="en-US" sz="1600" dirty="0">
                <a:solidFill>
                  <a:schemeClr val="tx1"/>
                </a:solidFill>
                <a:latin typeface="メイリオ" panose="020B0604030504040204" pitchFamily="50" charset="-128"/>
                <a:ea typeface="メイリオ" panose="020B0604030504040204" pitchFamily="50" charset="-128"/>
              </a:rPr>
              <a:t>ライセンスにて広く公開するが、</a:t>
            </a:r>
            <a:r>
              <a:rPr lang="ja-JP" altLang="en-US" sz="1600" b="1" dirty="0">
                <a:solidFill>
                  <a:schemeClr val="tx1"/>
                </a:solidFill>
                <a:latin typeface="メイリオ" panose="020B0604030504040204" pitchFamily="50" charset="-128"/>
                <a:ea typeface="メイリオ" panose="020B0604030504040204" pitchFamily="50" charset="-128"/>
              </a:rPr>
              <a:t>将来的に医療機関での本格導入や運用を行う際には、医療現場に特化した限定ライセンス形式（医療機関向け配布、商用利用制限等）を併用する予定</a:t>
            </a:r>
            <a:r>
              <a:rPr lang="ja-JP" altLang="en-US" sz="1600" dirty="0">
                <a:solidFill>
                  <a:schemeClr val="tx1"/>
                </a:solidFill>
                <a:latin typeface="メイリオ" panose="020B0604030504040204" pitchFamily="50" charset="-128"/>
                <a:ea typeface="メイリオ" panose="020B0604030504040204" pitchFamily="50" charset="-128"/>
              </a:rPr>
              <a:t>である。非営利機関や学術機関に対しては、無償提供も視野に入れ、公共性と持続可能性の両立を図る。</a:t>
            </a:r>
          </a:p>
        </p:txBody>
      </p:sp>
    </p:spTree>
    <p:extLst>
      <p:ext uri="{BB962C8B-B14F-4D97-AF65-F5344CB8AC3E}">
        <p14:creationId xmlns:p14="http://schemas.microsoft.com/office/powerpoint/2010/main" val="164891195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4B4C66CD496DE489FA338072D48B319" ma:contentTypeVersion="14" ma:contentTypeDescription="Create a new document." ma:contentTypeScope="" ma:versionID="2a8eba412a158494de183fb3d29de50b">
  <xsd:schema xmlns:xsd="http://www.w3.org/2001/XMLSchema" xmlns:xs="http://www.w3.org/2001/XMLSchema" xmlns:p="http://schemas.microsoft.com/office/2006/metadata/properties" xmlns:ns2="a92869a6-8d6c-4765-9a7f-264c123b2c08" xmlns:ns3="9fa0f23c-a53a-4068-a32f-b1ad299d6a8b" targetNamespace="http://schemas.microsoft.com/office/2006/metadata/properties" ma:root="true" ma:fieldsID="cd5635515d035bfb25e1db8c29039e33" ns2:_="" ns3:_="">
    <xsd:import namespace="a92869a6-8d6c-4765-9a7f-264c123b2c08"/>
    <xsd:import namespace="9fa0f23c-a53a-4068-a32f-b1ad299d6a8b"/>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GenerationTime" minOccurs="0"/>
                <xsd:element ref="ns2:MediaServiceEventHashCode" minOccurs="0"/>
                <xsd:element ref="ns2:MediaLengthInSeconds" minOccurs="0"/>
                <xsd:element ref="ns2:MediaServiceDateTaken" minOccurs="0"/>
                <xsd:element ref="ns2:lcf76f155ced4ddcb4097134ff3c332f" minOccurs="0"/>
                <xsd:element ref="ns3:TaxCatchAll" minOccurs="0"/>
                <xsd:element ref="ns2:MediaServiceOCR"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92869a6-8d6c-4765-9a7f-264c123b2c0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c1edaf98-933d-48b7-9af8-6bdbb703d060"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dexed="true" ma:internalName="MediaServiceLocation"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fa0f23c-a53a-4068-a32f-b1ad299d6a8b"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c616e65-b0e7-4666-aaf9-9c966f25ac49}" ma:internalName="TaxCatchAll" ma:showField="CatchAllData" ma:web="9fa0f23c-a53a-4068-a32f-b1ad299d6a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92869a6-8d6c-4765-9a7f-264c123b2c08">
      <Terms xmlns="http://schemas.microsoft.com/office/infopath/2007/PartnerControls"/>
    </lcf76f155ced4ddcb4097134ff3c332f>
    <TaxCatchAll xmlns="9fa0f23c-a53a-4068-a32f-b1ad299d6a8b"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BADAB07-32FB-408C-AF6C-61DD9126E31D}">
  <ds:schemaRefs>
    <ds:schemaRef ds:uri="9fa0f23c-a53a-4068-a32f-b1ad299d6a8b"/>
    <ds:schemaRef ds:uri="a92869a6-8d6c-4765-9a7f-264c123b2c0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CAED0E85-AF30-4567-A4B4-6E0E518ABB55}">
  <ds:schemaRefs>
    <ds:schemaRef ds:uri="a92869a6-8d6c-4765-9a7f-264c123b2c08"/>
    <ds:schemaRef ds:uri="http://purl.org/dc/elements/1.1/"/>
    <ds:schemaRef ds:uri="http://schemas.microsoft.com/office/infopath/2007/PartnerControls"/>
    <ds:schemaRef ds:uri="http://purl.org/dc/dcmitype/"/>
    <ds:schemaRef ds:uri="http://schemas.openxmlformats.org/package/2006/metadata/core-properties"/>
    <ds:schemaRef ds:uri="http://schemas.microsoft.com/office/2006/documentManagement/types"/>
    <ds:schemaRef ds:uri="http://www.w3.org/XML/1998/namespace"/>
    <ds:schemaRef ds:uri="9fa0f23c-a53a-4068-a32f-b1ad299d6a8b"/>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058F31E0-0F8E-48F9-B479-D7EE75BAA69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1810</TotalTime>
  <Words>4101</Words>
  <Application>Microsoft Office PowerPoint</Application>
  <PresentationFormat>ワイド画面</PresentationFormat>
  <Paragraphs>240</Paragraphs>
  <Slides>15</Slides>
  <Notes>4</Notes>
  <HiddenSlides>0</HiddenSlides>
  <MMClips>0</MMClips>
  <ScaleCrop>false</ScaleCrop>
  <HeadingPairs>
    <vt:vector size="8" baseType="variant">
      <vt:variant>
        <vt:lpstr>使用されているフォント</vt:lpstr>
      </vt:variant>
      <vt:variant>
        <vt:i4>5</vt:i4>
      </vt:variant>
      <vt:variant>
        <vt:lpstr>テーマ</vt:lpstr>
      </vt:variant>
      <vt:variant>
        <vt:i4>1</vt:i4>
      </vt:variant>
      <vt:variant>
        <vt:lpstr>埋め込まれた OLE サーバー</vt:lpstr>
      </vt:variant>
      <vt:variant>
        <vt:i4>1</vt:i4>
      </vt:variant>
      <vt:variant>
        <vt:lpstr>スライド タイトル</vt:lpstr>
      </vt:variant>
      <vt:variant>
        <vt:i4>15</vt:i4>
      </vt:variant>
    </vt:vector>
  </HeadingPairs>
  <TitlesOfParts>
    <vt:vector size="22" baseType="lpstr">
      <vt:lpstr>メイリオ</vt:lpstr>
      <vt:lpstr>Aptos</vt:lpstr>
      <vt:lpstr>Aptos Display</vt:lpstr>
      <vt:lpstr>Arial</vt:lpstr>
      <vt:lpstr>Trebuchet MS</vt:lpstr>
      <vt:lpstr>Office Theme</vt:lpstr>
      <vt:lpstr>think-cellスライド</vt:lpstr>
      <vt:lpstr>NEDO懸賞金活用型 プログラム/GENIAC-PRIZE</vt:lpstr>
      <vt:lpstr>生成AIを電子カルテと連携させる際のリスクとその対策 </vt:lpstr>
      <vt:lpstr>特定したリスクについて(1/2) </vt:lpstr>
      <vt:lpstr>特定したリスクについて (2/2)</vt:lpstr>
      <vt:lpstr>対策：誤診誘導を減らす仕組み</vt:lpstr>
      <vt:lpstr>対策：ローカルLLMによるオンプレ電子カルテシステム </vt:lpstr>
      <vt:lpstr>生成AI導入による医師‐患者関係の変容リスクと対策</vt:lpstr>
      <vt:lpstr>電子カルテプロトタイプ画面</vt:lpstr>
      <vt:lpstr>対策技術について (1/5)</vt:lpstr>
      <vt:lpstr>対策技術について (2/5)</vt:lpstr>
      <vt:lpstr>対策技術について (3/5)</vt:lpstr>
      <vt:lpstr>対策技術について (4/5)</vt:lpstr>
      <vt:lpstr>対策技術について (5/5)</vt:lpstr>
      <vt:lpstr>提案内容の新規性</vt:lpstr>
      <vt:lpstr>成果の公開度</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小寺聡</dc:creator>
  <cp:lastModifiedBy>聡 小寺</cp:lastModifiedBy>
  <cp:revision>90</cp:revision>
  <dcterms:created xsi:type="dcterms:W3CDTF">2025-05-22T07:52:05Z</dcterms:created>
  <dcterms:modified xsi:type="dcterms:W3CDTF">2025-07-24T08:17:16Z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0d5c4f4-7a29-4385-b7a5-afbe2154ae6f_Enabled">
    <vt:lpwstr>true</vt:lpwstr>
  </property>
  <property fmtid="{D5CDD505-2E9C-101B-9397-08002B2CF9AE}" pid="3" name="MSIP_Label_b0d5c4f4-7a29-4385-b7a5-afbe2154ae6f_SetDate">
    <vt:lpwstr>2025-05-22T07:52:06Z</vt:lpwstr>
  </property>
  <property fmtid="{D5CDD505-2E9C-101B-9397-08002B2CF9AE}" pid="4" name="MSIP_Label_b0d5c4f4-7a29-4385-b7a5-afbe2154ae6f_Method">
    <vt:lpwstr>Standard</vt:lpwstr>
  </property>
  <property fmtid="{D5CDD505-2E9C-101B-9397-08002B2CF9AE}" pid="5" name="MSIP_Label_b0d5c4f4-7a29-4385-b7a5-afbe2154ae6f_Name">
    <vt:lpwstr>Confidential</vt:lpwstr>
  </property>
  <property fmtid="{D5CDD505-2E9C-101B-9397-08002B2CF9AE}" pid="6" name="MSIP_Label_b0d5c4f4-7a29-4385-b7a5-afbe2154ae6f_SiteId">
    <vt:lpwstr>2dfb2f0b-4d21-4268-9559-72926144c918</vt:lpwstr>
  </property>
  <property fmtid="{D5CDD505-2E9C-101B-9397-08002B2CF9AE}" pid="7" name="MSIP_Label_b0d5c4f4-7a29-4385-b7a5-afbe2154ae6f_ActionId">
    <vt:lpwstr>9899a466-b263-4dc2-b1c7-e2181daa9aed</vt:lpwstr>
  </property>
  <property fmtid="{D5CDD505-2E9C-101B-9397-08002B2CF9AE}" pid="8" name="MSIP_Label_b0d5c4f4-7a29-4385-b7a5-afbe2154ae6f_ContentBits">
    <vt:lpwstr>0</vt:lpwstr>
  </property>
  <property fmtid="{D5CDD505-2E9C-101B-9397-08002B2CF9AE}" pid="9" name="MSIP_Label_b0d5c4f4-7a29-4385-b7a5-afbe2154ae6f_Tag">
    <vt:lpwstr>10, 3, 0, 1</vt:lpwstr>
  </property>
  <property fmtid="{D5CDD505-2E9C-101B-9397-08002B2CF9AE}" pid="10" name="MediaServiceImageTags">
    <vt:lpwstr/>
  </property>
  <property fmtid="{D5CDD505-2E9C-101B-9397-08002B2CF9AE}" pid="11" name="ContentTypeId">
    <vt:lpwstr>0x010100F4B4C66CD496DE489FA338072D48B319</vt:lpwstr>
  </property>
</Properties>
</file>